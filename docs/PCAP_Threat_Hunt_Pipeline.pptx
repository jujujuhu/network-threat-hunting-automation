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6" d="100"/>
          <a:sy n="126" d="100"/>
        </p:scale>
        <p:origin x="202"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256098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PCAP Threat Hunt Pipeline — automated network forensics with Ansible, Suricata, Zeek, GeoIP enrichment and correlated Markdown reporting.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we will cover: how the analysis works, what to install, how to verify, and what to integrate next.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 How the analysis pipeline works.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9-step pipeline: each role validates inputs, runs its tool, and verifies outputs before passing to the next stage.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Suricata is an open-source IDS/IPS/NSM engine maintained by the Open Information Security Foundation (OISF). It reads PCAP files or monitors live traffic, matches packets against signature rulesets (like ET Open), and emits all events as structured JSON in eve.json.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Zeek (formerly Bro) is a passive network security monitor. Unlike Suricata which fires on signatures, Zeek observes every protocol and records structured logs for all observed traffic: connections, DNS queries, HTTP transactions, TLS handshakes, extracted file metadata, and anomalies.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GeoLite2 databases from MaxMind map IP addresses to geographic location (country, city, latitude/longitude) and ASN (Autonomous System Number + organization name). The geo-asn.py script enriches every src/dest IP in eve.json, turning raw IPs into analyst-readable context.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Python scripts form the analysis and reporting layer of the pipeline. They transform raw tool outputs (eve.json and Zeek logs) into enriched, correlated, analyst-readable Markdown reports.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Roles 1-5: setup, Suricata IDS, Zeek NSM, GeoIP enrichment, and Suricata-Zeek correlation via Community ID.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Roles 6-9: alert reporting, statistics reporting, final report merge, and cleanup.</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2: Installation — what to install and in what order.</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Install Suricata and Zeek. Both need to be v8.0+ and v9.0+ respectively for the pipeline scripts to work correctly.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Install Ansible, Python with geoip2 package, and download the MaxMind GeoLite2 databases.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3: How to verify the installation and run the pipeline.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these verification commands to confirm every dependency is correctly installed before running the pipeline.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steps to run the pipeline: drop the PCAP, run ansible-playbook, find the report.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4: What to integrate next to extend the pipeline capabilities.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Recommended integrations: MISP for threat intel, TheHive for case management, Elasticsearch/Kibana for SIEM, VirusTotal for hash enrichment, Slack/email for alerting.</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integration priority: start with VirusTotal for easy wins, then MISP for threat intel context, then TheHive for workflow, then Elasticsearch for scale.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Summary and key takeaways. The pipeline provides automated, repeatable PCAP analysis with enriched, correlated, analyst-ready output.</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Shape 0"/>
          <p:cNvSpPr/>
          <p:nvPr/>
        </p:nvSpPr>
        <p:spPr>
          <a:xfrm>
            <a:off x="0" y="0"/>
            <a:ext cx="9144000" cy="5143500"/>
          </a:xfrm>
          <a:prstGeom prst="rect">
            <a:avLst/>
          </a:prstGeom>
          <a:solidFill>
            <a:srgbClr val="0D1117"/>
          </a:solidFill>
          <a:ln/>
        </p:spPr>
        <p:txBody>
          <a:bodyPr/>
          <a:lstStyle/>
          <a:p>
            <a:endParaRPr lang="en-US"/>
          </a:p>
        </p:txBody>
      </p:sp>
      <p:sp>
        <p:nvSpPr>
          <p:cNvPr id="4" name="Shape 1"/>
          <p:cNvSpPr/>
          <p:nvPr/>
        </p:nvSpPr>
        <p:spPr>
          <a:xfrm>
            <a:off x="0" y="0"/>
            <a:ext cx="9144000" cy="36576"/>
          </a:xfrm>
          <a:prstGeom prst="rect">
            <a:avLst/>
          </a:prstGeom>
          <a:solidFill>
            <a:srgbClr val="58A6FF"/>
          </a:solidFill>
          <a:ln/>
        </p:spPr>
        <p:txBody>
          <a:bodyPr/>
          <a:lstStyle/>
          <a:p>
            <a:endParaRPr lang="en-US"/>
          </a:p>
        </p:txBody>
      </p:sp>
      <p:sp>
        <p:nvSpPr>
          <p:cNvPr id="5" name="Text 2"/>
          <p:cNvSpPr txBox="1"/>
          <p:nvPr/>
        </p:nvSpPr>
        <p:spPr>
          <a:xfrm>
            <a:off x="548640" y="1005840"/>
            <a:ext cx="8046720" cy="274320"/>
          </a:xfrm>
          <a:prstGeom prst="rect">
            <a:avLst/>
          </a:prstGeom>
          <a:noFill/>
          <a:ln/>
        </p:spPr>
        <p:txBody>
          <a:bodyPr wrap="square" lIns="0" tIns="0" rIns="0" bIns="0" rtlCol="0" anchor="ctr"/>
          <a:lstStyle/>
          <a:p>
            <a:pPr marL="0" indent="0">
              <a:buNone/>
            </a:pPr>
            <a:r>
              <a:rPr lang="en-US" sz="1100" b="1" kern="0" spc="300" dirty="0">
                <a:solidFill>
                  <a:srgbClr val="58A6FF"/>
                </a:solidFill>
                <a:latin typeface="Calibri" pitchFamily="34" charset="0"/>
                <a:ea typeface="Calibri" pitchFamily="34" charset="-122"/>
                <a:cs typeface="Calibri" pitchFamily="34" charset="-120"/>
              </a:rPr>
              <a:t>DFIR · NETWORK THREAT HUNTING</a:t>
            </a:r>
            <a:endParaRPr lang="en-US" sz="1100" dirty="0"/>
          </a:p>
        </p:txBody>
      </p:sp>
      <p:sp>
        <p:nvSpPr>
          <p:cNvPr id="6" name="Text 3"/>
          <p:cNvSpPr txBox="1"/>
          <p:nvPr/>
        </p:nvSpPr>
        <p:spPr>
          <a:xfrm>
            <a:off x="548640" y="1417320"/>
            <a:ext cx="8046720" cy="1097280"/>
          </a:xfrm>
          <a:prstGeom prst="rect">
            <a:avLst/>
          </a:prstGeom>
          <a:noFill/>
          <a:ln/>
        </p:spPr>
        <p:txBody>
          <a:bodyPr wrap="square" lIns="0" tIns="0" rIns="0" bIns="0" rtlCol="0" anchor="ctr"/>
          <a:lstStyle/>
          <a:p>
            <a:pPr marL="0" indent="0">
              <a:buNone/>
            </a:pPr>
            <a:r>
              <a:rPr lang="en-US" sz="4400" b="1" dirty="0">
                <a:solidFill>
                  <a:srgbClr val="E6EDF3"/>
                </a:solidFill>
                <a:latin typeface="Calibri" pitchFamily="34" charset="0"/>
                <a:ea typeface="Calibri" pitchFamily="34" charset="-122"/>
                <a:cs typeface="Calibri" pitchFamily="34" charset="-120"/>
              </a:rPr>
              <a:t>PCAP Threat Hunt Pipeline</a:t>
            </a:r>
            <a:endParaRPr lang="en-US" sz="4400" dirty="0"/>
          </a:p>
        </p:txBody>
      </p:sp>
      <p:sp>
        <p:nvSpPr>
          <p:cNvPr id="7" name="Text 4"/>
          <p:cNvSpPr txBox="1"/>
          <p:nvPr/>
        </p:nvSpPr>
        <p:spPr>
          <a:xfrm>
            <a:off x="548640" y="2606040"/>
            <a:ext cx="8046720" cy="731520"/>
          </a:xfrm>
          <a:prstGeom prst="rect">
            <a:avLst/>
          </a:prstGeom>
          <a:noFill/>
          <a:ln/>
        </p:spPr>
        <p:txBody>
          <a:bodyPr wrap="square" lIns="0" tIns="0" rIns="0" bIns="0" rtlCol="0" anchor="ctr"/>
          <a:lstStyle/>
          <a:p>
            <a:pPr marL="0" indent="0">
              <a:buNone/>
            </a:pPr>
            <a:r>
              <a:rPr lang="en-US" sz="1600" dirty="0">
                <a:solidFill>
                  <a:srgbClr val="8B949E"/>
                </a:solidFill>
                <a:latin typeface="Calibri" pitchFamily="34" charset="0"/>
                <a:ea typeface="Calibri" pitchFamily="34" charset="-122"/>
                <a:cs typeface="Calibri" pitchFamily="34" charset="-120"/>
              </a:rPr>
              <a:t>Automated analysis: Suricata IDS + Zeek NSM + GeoIP/ASN enrichment</a:t>
            </a:r>
            <a:endParaRPr lang="en-US" sz="1600" dirty="0"/>
          </a:p>
          <a:p>
            <a:pPr marL="0" indent="0">
              <a:buNone/>
            </a:pPr>
            <a:r>
              <a:rPr lang="en-US" sz="1600" dirty="0">
                <a:solidFill>
                  <a:srgbClr val="8B949E"/>
                </a:solidFill>
                <a:latin typeface="Calibri" pitchFamily="34" charset="0"/>
                <a:ea typeface="Calibri" pitchFamily="34" charset="-122"/>
                <a:cs typeface="Calibri" pitchFamily="34" charset="-120"/>
              </a:rPr>
              <a:t>+ Correlated Markdown reporting, orchestrated with Ansible</a:t>
            </a:r>
            <a:endParaRPr lang="en-US" sz="1600" dirty="0"/>
          </a:p>
        </p:txBody>
      </p:sp>
      <p:sp>
        <p:nvSpPr>
          <p:cNvPr id="8" name="Shape 5"/>
          <p:cNvSpPr/>
          <p:nvPr/>
        </p:nvSpPr>
        <p:spPr>
          <a:xfrm>
            <a:off x="548640" y="3566160"/>
            <a:ext cx="1463040" cy="310896"/>
          </a:xfrm>
          <a:prstGeom prst="roundRect">
            <a:avLst>
              <a:gd name="adj" fmla="val 23529"/>
            </a:avLst>
          </a:prstGeom>
          <a:solidFill>
            <a:srgbClr val="161B22"/>
          </a:solidFill>
          <a:ln w="12700">
            <a:solidFill>
              <a:srgbClr val="58A6FF"/>
            </a:solidFill>
            <a:prstDash val="solid"/>
          </a:ln>
        </p:spPr>
        <p:txBody>
          <a:bodyPr/>
          <a:lstStyle/>
          <a:p>
            <a:endParaRPr lang="en-US"/>
          </a:p>
        </p:txBody>
      </p:sp>
      <p:sp>
        <p:nvSpPr>
          <p:cNvPr id="9" name="Text 6"/>
          <p:cNvSpPr txBox="1"/>
          <p:nvPr/>
        </p:nvSpPr>
        <p:spPr>
          <a:xfrm>
            <a:off x="548640" y="3566160"/>
            <a:ext cx="1463040" cy="310896"/>
          </a:xfrm>
          <a:prstGeom prst="rect">
            <a:avLst/>
          </a:prstGeom>
          <a:noFill/>
          <a:ln/>
        </p:spPr>
        <p:txBody>
          <a:bodyPr wrap="square" lIns="0" tIns="0" rIns="0" bIns="0" rtlCol="0" anchor="ctr"/>
          <a:lstStyle/>
          <a:p>
            <a:pPr marL="0" indent="0" algn="ctr">
              <a:buNone/>
            </a:pPr>
            <a:r>
              <a:rPr lang="en-US" sz="1000" b="1" dirty="0">
                <a:solidFill>
                  <a:srgbClr val="58A6FF"/>
                </a:solidFill>
                <a:latin typeface="Calibri" pitchFamily="34" charset="0"/>
                <a:ea typeface="Calibri" pitchFamily="34" charset="-122"/>
                <a:cs typeface="Calibri" pitchFamily="34" charset="-120"/>
              </a:rPr>
              <a:t>Python 3.10+</a:t>
            </a:r>
            <a:endParaRPr lang="en-US" sz="1000" dirty="0"/>
          </a:p>
        </p:txBody>
      </p:sp>
      <p:sp>
        <p:nvSpPr>
          <p:cNvPr id="10" name="Shape 7"/>
          <p:cNvSpPr/>
          <p:nvPr/>
        </p:nvSpPr>
        <p:spPr>
          <a:xfrm>
            <a:off x="2176272" y="3566160"/>
            <a:ext cx="1463040" cy="310896"/>
          </a:xfrm>
          <a:prstGeom prst="roundRect">
            <a:avLst>
              <a:gd name="adj" fmla="val 23529"/>
            </a:avLst>
          </a:prstGeom>
          <a:solidFill>
            <a:srgbClr val="161B22"/>
          </a:solidFill>
          <a:ln w="12700">
            <a:solidFill>
              <a:srgbClr val="58A6FF"/>
            </a:solidFill>
            <a:prstDash val="solid"/>
          </a:ln>
        </p:spPr>
        <p:txBody>
          <a:bodyPr/>
          <a:lstStyle/>
          <a:p>
            <a:endParaRPr lang="en-US"/>
          </a:p>
        </p:txBody>
      </p:sp>
      <p:sp>
        <p:nvSpPr>
          <p:cNvPr id="11" name="Text 8"/>
          <p:cNvSpPr txBox="1"/>
          <p:nvPr/>
        </p:nvSpPr>
        <p:spPr>
          <a:xfrm>
            <a:off x="2176272" y="3566160"/>
            <a:ext cx="1463040" cy="310896"/>
          </a:xfrm>
          <a:prstGeom prst="rect">
            <a:avLst/>
          </a:prstGeom>
          <a:noFill/>
          <a:ln/>
        </p:spPr>
        <p:txBody>
          <a:bodyPr wrap="square" lIns="0" tIns="0" rIns="0" bIns="0" rtlCol="0" anchor="ctr"/>
          <a:lstStyle/>
          <a:p>
            <a:pPr marL="0" indent="0" algn="ctr">
              <a:buNone/>
            </a:pPr>
            <a:r>
              <a:rPr lang="en-US" sz="1000" b="1" dirty="0">
                <a:solidFill>
                  <a:srgbClr val="58A6FF"/>
                </a:solidFill>
                <a:latin typeface="Calibri" pitchFamily="34" charset="0"/>
                <a:ea typeface="Calibri" pitchFamily="34" charset="-122"/>
                <a:cs typeface="Calibri" pitchFamily="34" charset="-120"/>
              </a:rPr>
              <a:t>Ansible 2.17+</a:t>
            </a:r>
            <a:endParaRPr lang="en-US" sz="1000" dirty="0"/>
          </a:p>
        </p:txBody>
      </p:sp>
      <p:sp>
        <p:nvSpPr>
          <p:cNvPr id="12" name="Shape 9"/>
          <p:cNvSpPr/>
          <p:nvPr/>
        </p:nvSpPr>
        <p:spPr>
          <a:xfrm>
            <a:off x="3803904" y="3566160"/>
            <a:ext cx="1463040" cy="310896"/>
          </a:xfrm>
          <a:prstGeom prst="roundRect">
            <a:avLst>
              <a:gd name="adj" fmla="val 23529"/>
            </a:avLst>
          </a:prstGeom>
          <a:solidFill>
            <a:srgbClr val="161B22"/>
          </a:solidFill>
          <a:ln w="12700">
            <a:solidFill>
              <a:srgbClr val="3FB950"/>
            </a:solidFill>
            <a:prstDash val="solid"/>
          </a:ln>
        </p:spPr>
        <p:txBody>
          <a:bodyPr/>
          <a:lstStyle/>
          <a:p>
            <a:endParaRPr lang="en-US"/>
          </a:p>
        </p:txBody>
      </p:sp>
      <p:sp>
        <p:nvSpPr>
          <p:cNvPr id="13" name="Text 10"/>
          <p:cNvSpPr txBox="1"/>
          <p:nvPr/>
        </p:nvSpPr>
        <p:spPr>
          <a:xfrm>
            <a:off x="3803904" y="3566160"/>
            <a:ext cx="1463040" cy="310896"/>
          </a:xfrm>
          <a:prstGeom prst="rect">
            <a:avLst/>
          </a:prstGeom>
          <a:noFill/>
          <a:ln/>
        </p:spPr>
        <p:txBody>
          <a:bodyPr wrap="square" lIns="0" tIns="0" rIns="0" bIns="0" rtlCol="0" anchor="ctr"/>
          <a:lstStyle/>
          <a:p>
            <a:pPr marL="0" indent="0" algn="ctr">
              <a:buNone/>
            </a:pPr>
            <a:r>
              <a:rPr lang="en-US" sz="1000" b="1" dirty="0">
                <a:solidFill>
                  <a:srgbClr val="3FB950"/>
                </a:solidFill>
                <a:latin typeface="Calibri" pitchFamily="34" charset="0"/>
                <a:ea typeface="Calibri" pitchFamily="34" charset="-122"/>
                <a:cs typeface="Calibri" pitchFamily="34" charset="-120"/>
              </a:rPr>
              <a:t>Suricata 8.0</a:t>
            </a:r>
            <a:endParaRPr lang="en-US" sz="1000" dirty="0"/>
          </a:p>
        </p:txBody>
      </p:sp>
      <p:sp>
        <p:nvSpPr>
          <p:cNvPr id="14" name="Shape 11"/>
          <p:cNvSpPr/>
          <p:nvPr/>
        </p:nvSpPr>
        <p:spPr>
          <a:xfrm>
            <a:off x="5431536" y="3566160"/>
            <a:ext cx="1463040" cy="310896"/>
          </a:xfrm>
          <a:prstGeom prst="roundRect">
            <a:avLst>
              <a:gd name="adj" fmla="val 23529"/>
            </a:avLst>
          </a:prstGeom>
          <a:solidFill>
            <a:srgbClr val="161B22"/>
          </a:solidFill>
          <a:ln w="12700">
            <a:solidFill>
              <a:srgbClr val="3FB950"/>
            </a:solidFill>
            <a:prstDash val="solid"/>
          </a:ln>
        </p:spPr>
        <p:txBody>
          <a:bodyPr/>
          <a:lstStyle/>
          <a:p>
            <a:endParaRPr lang="en-US"/>
          </a:p>
        </p:txBody>
      </p:sp>
      <p:sp>
        <p:nvSpPr>
          <p:cNvPr id="15" name="Text 12"/>
          <p:cNvSpPr txBox="1"/>
          <p:nvPr/>
        </p:nvSpPr>
        <p:spPr>
          <a:xfrm>
            <a:off x="5431536" y="3566160"/>
            <a:ext cx="1463040" cy="310896"/>
          </a:xfrm>
          <a:prstGeom prst="rect">
            <a:avLst/>
          </a:prstGeom>
          <a:noFill/>
          <a:ln/>
        </p:spPr>
        <p:txBody>
          <a:bodyPr wrap="square" lIns="0" tIns="0" rIns="0" bIns="0" rtlCol="0" anchor="ctr"/>
          <a:lstStyle/>
          <a:p>
            <a:pPr marL="0" indent="0" algn="ctr">
              <a:buNone/>
            </a:pPr>
            <a:r>
              <a:rPr lang="en-US" sz="1000" b="1" dirty="0">
                <a:solidFill>
                  <a:srgbClr val="3FB950"/>
                </a:solidFill>
                <a:latin typeface="Calibri" pitchFamily="34" charset="0"/>
                <a:ea typeface="Calibri" pitchFamily="34" charset="-122"/>
                <a:cs typeface="Calibri" pitchFamily="34" charset="-120"/>
              </a:rPr>
              <a:t>Zeek 9.0</a:t>
            </a:r>
            <a:endParaRPr lang="en-US" sz="1000" dirty="0"/>
          </a:p>
        </p:txBody>
      </p:sp>
      <p:sp>
        <p:nvSpPr>
          <p:cNvPr id="16" name="Shape 13"/>
          <p:cNvSpPr/>
          <p:nvPr/>
        </p:nvSpPr>
        <p:spPr>
          <a:xfrm>
            <a:off x="7059168" y="3566160"/>
            <a:ext cx="1463040" cy="310896"/>
          </a:xfrm>
          <a:prstGeom prst="roundRect">
            <a:avLst>
              <a:gd name="adj" fmla="val 23529"/>
            </a:avLst>
          </a:prstGeom>
          <a:solidFill>
            <a:srgbClr val="161B22"/>
          </a:solidFill>
          <a:ln w="12700">
            <a:solidFill>
              <a:srgbClr val="D29922"/>
            </a:solidFill>
            <a:prstDash val="solid"/>
          </a:ln>
        </p:spPr>
        <p:txBody>
          <a:bodyPr/>
          <a:lstStyle/>
          <a:p>
            <a:endParaRPr lang="en-US"/>
          </a:p>
        </p:txBody>
      </p:sp>
      <p:sp>
        <p:nvSpPr>
          <p:cNvPr id="17" name="Text 14"/>
          <p:cNvSpPr txBox="1"/>
          <p:nvPr/>
        </p:nvSpPr>
        <p:spPr>
          <a:xfrm>
            <a:off x="7059168" y="3566160"/>
            <a:ext cx="1463040" cy="310896"/>
          </a:xfrm>
          <a:prstGeom prst="rect">
            <a:avLst/>
          </a:prstGeom>
          <a:noFill/>
          <a:ln/>
        </p:spPr>
        <p:txBody>
          <a:bodyPr wrap="square" lIns="0" tIns="0" rIns="0" bIns="0" rtlCol="0" anchor="ctr"/>
          <a:lstStyle/>
          <a:p>
            <a:pPr marL="0" indent="0" algn="ctr">
              <a:buNone/>
            </a:pPr>
            <a:r>
              <a:rPr lang="en-US" sz="1000" b="1" dirty="0">
                <a:solidFill>
                  <a:srgbClr val="D29922"/>
                </a:solidFill>
                <a:latin typeface="Calibri" pitchFamily="34" charset="0"/>
                <a:ea typeface="Calibri" pitchFamily="34" charset="-122"/>
                <a:cs typeface="Calibri" pitchFamily="34" charset="-120"/>
              </a:rPr>
              <a:t>GeoLite2</a:t>
            </a:r>
            <a:endParaRPr lang="en-US" sz="1000" dirty="0"/>
          </a:p>
        </p:txBody>
      </p:sp>
      <p:sp>
        <p:nvSpPr>
          <p:cNvPr id="18" name="Text 15"/>
          <p:cNvSpPr txBox="1"/>
          <p:nvPr/>
        </p:nvSpPr>
        <p:spPr>
          <a:xfrm>
            <a:off x="548640" y="4709160"/>
            <a:ext cx="8046720" cy="274320"/>
          </a:xfrm>
          <a:prstGeom prst="rect">
            <a:avLst/>
          </a:prstGeom>
          <a:noFill/>
          <a:ln/>
        </p:spPr>
        <p:txBody>
          <a:bodyPr wrap="square" lIns="0" tIns="0" rIns="0" bIns="0" rtlCol="0" anchor="ctr"/>
          <a:lstStyle/>
          <a:p>
            <a:pPr marL="0" indent="0">
              <a:buNone/>
            </a:pPr>
            <a:r>
              <a:rPr lang="en-US" sz="1100" dirty="0">
                <a:solidFill>
                  <a:srgbClr val="8B949E"/>
                </a:solidFill>
                <a:latin typeface="Calibri" pitchFamily="34" charset="0"/>
                <a:ea typeface="Calibri" pitchFamily="34" charset="-122"/>
                <a:cs typeface="Calibri" pitchFamily="34" charset="-120"/>
              </a:rPr>
              <a:t>Jovita Kusuma · jovitakhu.net</a:t>
            </a:r>
            <a:endParaRPr lang="en-US" sz="1100" dirty="0"/>
          </a:p>
        </p:txBody>
      </p:sp>
      <p:sp>
        <p:nvSpPr>
          <p:cNvPr id="19" name="Shape 16"/>
          <p:cNvSpPr/>
          <p:nvPr/>
        </p:nvSpPr>
        <p:spPr>
          <a:xfrm>
            <a:off x="0" y="5106924"/>
            <a:ext cx="9144000" cy="36576"/>
          </a:xfrm>
          <a:prstGeom prst="rect">
            <a:avLst/>
          </a:prstGeom>
          <a:solidFill>
            <a:srgbClr val="58A6FF"/>
          </a:solidFill>
          <a:ln/>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Shape 0"/>
          <p:cNvSpPr/>
          <p:nvPr/>
        </p:nvSpPr>
        <p:spPr>
          <a:xfrm>
            <a:off x="0" y="0"/>
            <a:ext cx="9144000" cy="5143500"/>
          </a:xfrm>
          <a:prstGeom prst="rect">
            <a:avLst/>
          </a:prstGeom>
          <a:solidFill>
            <a:srgbClr val="0D1117"/>
          </a:solidFill>
          <a:ln/>
        </p:spPr>
        <p:txBody>
          <a:bodyPr/>
          <a:lstStyle/>
          <a:p>
            <a:endParaRPr lang="en-US"/>
          </a:p>
        </p:txBody>
      </p:sp>
      <p:sp>
        <p:nvSpPr>
          <p:cNvPr id="4" name="Shape 1"/>
          <p:cNvSpPr/>
          <p:nvPr/>
        </p:nvSpPr>
        <p:spPr>
          <a:xfrm>
            <a:off x="0" y="0"/>
            <a:ext cx="9144000" cy="36576"/>
          </a:xfrm>
          <a:prstGeom prst="rect">
            <a:avLst/>
          </a:prstGeom>
          <a:solidFill>
            <a:srgbClr val="58A6FF"/>
          </a:solidFill>
          <a:ln/>
        </p:spPr>
        <p:txBody>
          <a:bodyPr/>
          <a:lstStyle/>
          <a:p>
            <a:endParaRPr lang="en-US"/>
          </a:p>
        </p:txBody>
      </p:sp>
      <p:sp>
        <p:nvSpPr>
          <p:cNvPr id="5" name="Text 2"/>
          <p:cNvSpPr txBox="1"/>
          <p:nvPr/>
        </p:nvSpPr>
        <p:spPr>
          <a:xfrm>
            <a:off x="548640" y="320040"/>
            <a:ext cx="8046720" cy="256032"/>
          </a:xfrm>
          <a:prstGeom prst="rect">
            <a:avLst/>
          </a:prstGeom>
          <a:noFill/>
          <a:ln/>
        </p:spPr>
        <p:txBody>
          <a:bodyPr wrap="square" lIns="0" tIns="0" rIns="0" bIns="0" rtlCol="0" anchor="ctr"/>
          <a:lstStyle/>
          <a:p>
            <a:pPr marL="0" indent="0">
              <a:buNone/>
            </a:pPr>
            <a:r>
              <a:rPr lang="en-US" sz="1000" b="1" kern="0" spc="300" dirty="0">
                <a:solidFill>
                  <a:srgbClr val="58A6FF"/>
                </a:solidFill>
                <a:latin typeface="Calibri" pitchFamily="34" charset="0"/>
                <a:ea typeface="Calibri" pitchFamily="34" charset="-122"/>
                <a:cs typeface="Calibri" pitchFamily="34" charset="-120"/>
              </a:rPr>
              <a:t>AGENDA</a:t>
            </a:r>
            <a:endParaRPr lang="en-US" sz="1000" dirty="0"/>
          </a:p>
        </p:txBody>
      </p:sp>
      <p:sp>
        <p:nvSpPr>
          <p:cNvPr id="6" name="Text 3"/>
          <p:cNvSpPr txBox="1"/>
          <p:nvPr/>
        </p:nvSpPr>
        <p:spPr>
          <a:xfrm>
            <a:off x="548640" y="640080"/>
            <a:ext cx="8046720" cy="502920"/>
          </a:xfrm>
          <a:prstGeom prst="rect">
            <a:avLst/>
          </a:prstGeom>
          <a:noFill/>
          <a:ln/>
        </p:spPr>
        <p:txBody>
          <a:bodyPr wrap="square" lIns="0" tIns="0" rIns="0" bIns="0" rtlCol="0" anchor="ctr"/>
          <a:lstStyle/>
          <a:p>
            <a:pPr marL="0" indent="0">
              <a:buNone/>
            </a:pPr>
            <a:r>
              <a:rPr lang="en-US" sz="3200" b="1" dirty="0">
                <a:solidFill>
                  <a:srgbClr val="E6EDF3"/>
                </a:solidFill>
                <a:latin typeface="Calibri" pitchFamily="34" charset="0"/>
                <a:ea typeface="Calibri" pitchFamily="34" charset="-122"/>
                <a:cs typeface="Calibri" pitchFamily="34" charset="-120"/>
              </a:rPr>
              <a:t>What's inside</a:t>
            </a:r>
            <a:endParaRPr lang="en-US" sz="3200" dirty="0"/>
          </a:p>
        </p:txBody>
      </p:sp>
      <p:sp>
        <p:nvSpPr>
          <p:cNvPr id="7" name="Shape 4"/>
          <p:cNvSpPr/>
          <p:nvPr/>
        </p:nvSpPr>
        <p:spPr>
          <a:xfrm>
            <a:off x="457200" y="1417320"/>
            <a:ext cx="4023360" cy="1371600"/>
          </a:xfrm>
          <a:prstGeom prst="roundRect">
            <a:avLst>
              <a:gd name="adj" fmla="val 5333"/>
            </a:avLst>
          </a:prstGeom>
          <a:solidFill>
            <a:srgbClr val="1F2937"/>
          </a:solidFill>
          <a:ln w="12700">
            <a:solidFill>
              <a:srgbClr val="30363D"/>
            </a:solidFill>
            <a:prstDash val="solid"/>
          </a:ln>
        </p:spPr>
        <p:txBody>
          <a:bodyPr/>
          <a:lstStyle/>
          <a:p>
            <a:endParaRPr lang="en-US"/>
          </a:p>
        </p:txBody>
      </p:sp>
      <p:sp>
        <p:nvSpPr>
          <p:cNvPr id="8" name="Text 5"/>
          <p:cNvSpPr txBox="1"/>
          <p:nvPr/>
        </p:nvSpPr>
        <p:spPr>
          <a:xfrm>
            <a:off x="658368" y="1581912"/>
            <a:ext cx="502920" cy="347472"/>
          </a:xfrm>
          <a:prstGeom prst="rect">
            <a:avLst/>
          </a:prstGeom>
          <a:noFill/>
          <a:ln/>
        </p:spPr>
        <p:txBody>
          <a:bodyPr wrap="square" lIns="0" tIns="0" rIns="0" bIns="0" rtlCol="0" anchor="ctr"/>
          <a:lstStyle/>
          <a:p>
            <a:pPr marL="0" indent="0">
              <a:buNone/>
            </a:pPr>
            <a:r>
              <a:rPr lang="en-US" sz="2400" b="1" dirty="0">
                <a:solidFill>
                  <a:srgbClr val="58A6FF"/>
                </a:solidFill>
                <a:latin typeface="Calibri" pitchFamily="34" charset="0"/>
                <a:ea typeface="Calibri" pitchFamily="34" charset="-122"/>
                <a:cs typeface="Calibri" pitchFamily="34" charset="-120"/>
              </a:rPr>
              <a:t>01</a:t>
            </a:r>
            <a:endParaRPr lang="en-US" sz="2400" dirty="0"/>
          </a:p>
        </p:txBody>
      </p:sp>
      <p:sp>
        <p:nvSpPr>
          <p:cNvPr id="9" name="Text 6"/>
          <p:cNvSpPr txBox="1"/>
          <p:nvPr/>
        </p:nvSpPr>
        <p:spPr>
          <a:xfrm>
            <a:off x="658368" y="1965960"/>
            <a:ext cx="3657600" cy="329184"/>
          </a:xfrm>
          <a:prstGeom prst="rect">
            <a:avLst/>
          </a:prstGeom>
          <a:noFill/>
          <a:ln/>
        </p:spPr>
        <p:txBody>
          <a:bodyPr wrap="square" lIns="0" tIns="0" rIns="0" bIns="0" rtlCol="0" anchor="ctr"/>
          <a:lstStyle/>
          <a:p>
            <a:pPr marL="0" indent="0">
              <a:buNone/>
            </a:pPr>
            <a:r>
              <a:rPr lang="en-US" sz="1800" b="1" dirty="0">
                <a:solidFill>
                  <a:srgbClr val="E6EDF3"/>
                </a:solidFill>
                <a:latin typeface="Calibri" pitchFamily="34" charset="0"/>
                <a:ea typeface="Calibri" pitchFamily="34" charset="-122"/>
                <a:cs typeface="Calibri" pitchFamily="34" charset="-120"/>
              </a:rPr>
              <a:t>How It Works</a:t>
            </a:r>
            <a:endParaRPr lang="en-US" sz="1800" dirty="0"/>
          </a:p>
        </p:txBody>
      </p:sp>
      <p:sp>
        <p:nvSpPr>
          <p:cNvPr id="10" name="Text 7"/>
          <p:cNvSpPr txBox="1"/>
          <p:nvPr/>
        </p:nvSpPr>
        <p:spPr>
          <a:xfrm>
            <a:off x="658368" y="2331720"/>
            <a:ext cx="3657600" cy="329184"/>
          </a:xfrm>
          <a:prstGeom prst="rect">
            <a:avLst/>
          </a:prstGeom>
          <a:noFill/>
          <a:ln/>
        </p:spPr>
        <p:txBody>
          <a:bodyPr wrap="square" lIns="0" tIns="0" rIns="0" bIns="0" rtlCol="0" anchor="ctr"/>
          <a:lstStyle/>
          <a:p>
            <a:pPr marL="0" indent="0">
              <a:buNone/>
            </a:pPr>
            <a:r>
              <a:rPr lang="en-US" sz="1300" dirty="0">
                <a:solidFill>
                  <a:srgbClr val="8B949E"/>
                </a:solidFill>
                <a:latin typeface="Calibri" pitchFamily="34" charset="0"/>
                <a:ea typeface="Calibri" pitchFamily="34" charset="-122"/>
                <a:cs typeface="Calibri" pitchFamily="34" charset="-120"/>
              </a:rPr>
              <a:t>Pipeline architecture and the 9 Ansible roles</a:t>
            </a:r>
            <a:endParaRPr lang="en-US" sz="1300" dirty="0"/>
          </a:p>
        </p:txBody>
      </p:sp>
      <p:sp>
        <p:nvSpPr>
          <p:cNvPr id="11" name="Shape 8"/>
          <p:cNvSpPr/>
          <p:nvPr/>
        </p:nvSpPr>
        <p:spPr>
          <a:xfrm>
            <a:off x="457200" y="3017520"/>
            <a:ext cx="4023360" cy="1371600"/>
          </a:xfrm>
          <a:prstGeom prst="roundRect">
            <a:avLst>
              <a:gd name="adj" fmla="val 5333"/>
            </a:avLst>
          </a:prstGeom>
          <a:solidFill>
            <a:srgbClr val="1F2937"/>
          </a:solidFill>
          <a:ln w="12700">
            <a:solidFill>
              <a:srgbClr val="30363D"/>
            </a:solidFill>
            <a:prstDash val="solid"/>
          </a:ln>
        </p:spPr>
        <p:txBody>
          <a:bodyPr/>
          <a:lstStyle/>
          <a:p>
            <a:endParaRPr lang="en-US"/>
          </a:p>
        </p:txBody>
      </p:sp>
      <p:sp>
        <p:nvSpPr>
          <p:cNvPr id="12" name="Text 9"/>
          <p:cNvSpPr txBox="1"/>
          <p:nvPr/>
        </p:nvSpPr>
        <p:spPr>
          <a:xfrm>
            <a:off x="658368" y="3182112"/>
            <a:ext cx="502920" cy="347472"/>
          </a:xfrm>
          <a:prstGeom prst="rect">
            <a:avLst/>
          </a:prstGeom>
          <a:noFill/>
          <a:ln/>
        </p:spPr>
        <p:txBody>
          <a:bodyPr wrap="square" lIns="0" tIns="0" rIns="0" bIns="0" rtlCol="0" anchor="ctr"/>
          <a:lstStyle/>
          <a:p>
            <a:pPr marL="0" indent="0">
              <a:buNone/>
            </a:pPr>
            <a:r>
              <a:rPr lang="en-US" sz="2400" b="1" dirty="0">
                <a:solidFill>
                  <a:srgbClr val="3FB950"/>
                </a:solidFill>
                <a:latin typeface="Calibri" pitchFamily="34" charset="0"/>
                <a:ea typeface="Calibri" pitchFamily="34" charset="-122"/>
                <a:cs typeface="Calibri" pitchFamily="34" charset="-120"/>
              </a:rPr>
              <a:t>02</a:t>
            </a:r>
            <a:endParaRPr lang="en-US" sz="2400" dirty="0"/>
          </a:p>
        </p:txBody>
      </p:sp>
      <p:sp>
        <p:nvSpPr>
          <p:cNvPr id="13" name="Text 10"/>
          <p:cNvSpPr txBox="1"/>
          <p:nvPr/>
        </p:nvSpPr>
        <p:spPr>
          <a:xfrm>
            <a:off x="658368" y="3566160"/>
            <a:ext cx="3657600" cy="329184"/>
          </a:xfrm>
          <a:prstGeom prst="rect">
            <a:avLst/>
          </a:prstGeom>
          <a:noFill/>
          <a:ln/>
        </p:spPr>
        <p:txBody>
          <a:bodyPr wrap="square" lIns="0" tIns="0" rIns="0" bIns="0" rtlCol="0" anchor="ctr"/>
          <a:lstStyle/>
          <a:p>
            <a:pPr marL="0" indent="0">
              <a:buNone/>
            </a:pPr>
            <a:r>
              <a:rPr lang="en-US" sz="1800" b="1" dirty="0">
                <a:solidFill>
                  <a:srgbClr val="E6EDF3"/>
                </a:solidFill>
                <a:latin typeface="Calibri" pitchFamily="34" charset="0"/>
                <a:ea typeface="Calibri" pitchFamily="34" charset="-122"/>
                <a:cs typeface="Calibri" pitchFamily="34" charset="-120"/>
              </a:rPr>
              <a:t>Installation</a:t>
            </a:r>
            <a:endParaRPr lang="en-US" sz="1800" dirty="0"/>
          </a:p>
        </p:txBody>
      </p:sp>
      <p:sp>
        <p:nvSpPr>
          <p:cNvPr id="14" name="Text 11"/>
          <p:cNvSpPr txBox="1"/>
          <p:nvPr/>
        </p:nvSpPr>
        <p:spPr>
          <a:xfrm>
            <a:off x="658368" y="3931920"/>
            <a:ext cx="3657600" cy="329184"/>
          </a:xfrm>
          <a:prstGeom prst="rect">
            <a:avLst/>
          </a:prstGeom>
          <a:noFill/>
          <a:ln/>
        </p:spPr>
        <p:txBody>
          <a:bodyPr wrap="square" lIns="0" tIns="0" rIns="0" bIns="0" rtlCol="0" anchor="ctr"/>
          <a:lstStyle/>
          <a:p>
            <a:pPr marL="0" indent="0">
              <a:buNone/>
            </a:pPr>
            <a:r>
              <a:rPr lang="en-US" sz="1300" dirty="0">
                <a:solidFill>
                  <a:srgbClr val="8B949E"/>
                </a:solidFill>
                <a:latin typeface="Calibri" pitchFamily="34" charset="0"/>
                <a:ea typeface="Calibri" pitchFamily="34" charset="-122"/>
                <a:cs typeface="Calibri" pitchFamily="34" charset="-120"/>
              </a:rPr>
              <a:t>Suricata, Zeek, Ansible, Python, GeoIP databases</a:t>
            </a:r>
            <a:endParaRPr lang="en-US" sz="1300" dirty="0"/>
          </a:p>
        </p:txBody>
      </p:sp>
      <p:sp>
        <p:nvSpPr>
          <p:cNvPr id="15" name="Shape 12"/>
          <p:cNvSpPr/>
          <p:nvPr/>
        </p:nvSpPr>
        <p:spPr>
          <a:xfrm>
            <a:off x="4846320" y="1417320"/>
            <a:ext cx="4023360" cy="1371600"/>
          </a:xfrm>
          <a:prstGeom prst="roundRect">
            <a:avLst>
              <a:gd name="adj" fmla="val 5333"/>
            </a:avLst>
          </a:prstGeom>
          <a:solidFill>
            <a:srgbClr val="1F2937"/>
          </a:solidFill>
          <a:ln w="12700">
            <a:solidFill>
              <a:srgbClr val="30363D"/>
            </a:solidFill>
            <a:prstDash val="solid"/>
          </a:ln>
        </p:spPr>
        <p:txBody>
          <a:bodyPr/>
          <a:lstStyle/>
          <a:p>
            <a:endParaRPr lang="en-US"/>
          </a:p>
        </p:txBody>
      </p:sp>
      <p:sp>
        <p:nvSpPr>
          <p:cNvPr id="16" name="Text 13"/>
          <p:cNvSpPr txBox="1"/>
          <p:nvPr/>
        </p:nvSpPr>
        <p:spPr>
          <a:xfrm>
            <a:off x="5047488" y="1581912"/>
            <a:ext cx="502920" cy="347472"/>
          </a:xfrm>
          <a:prstGeom prst="rect">
            <a:avLst/>
          </a:prstGeom>
          <a:noFill/>
          <a:ln/>
        </p:spPr>
        <p:txBody>
          <a:bodyPr wrap="square" lIns="0" tIns="0" rIns="0" bIns="0" rtlCol="0" anchor="ctr"/>
          <a:lstStyle/>
          <a:p>
            <a:pPr marL="0" indent="0">
              <a:buNone/>
            </a:pPr>
            <a:r>
              <a:rPr lang="en-US" sz="2400" b="1" dirty="0">
                <a:solidFill>
                  <a:srgbClr val="D29922"/>
                </a:solidFill>
                <a:latin typeface="Calibri" pitchFamily="34" charset="0"/>
                <a:ea typeface="Calibri" pitchFamily="34" charset="-122"/>
                <a:cs typeface="Calibri" pitchFamily="34" charset="-120"/>
              </a:rPr>
              <a:t>03</a:t>
            </a:r>
            <a:endParaRPr lang="en-US" sz="2400" dirty="0"/>
          </a:p>
        </p:txBody>
      </p:sp>
      <p:sp>
        <p:nvSpPr>
          <p:cNvPr id="17" name="Text 14"/>
          <p:cNvSpPr txBox="1"/>
          <p:nvPr/>
        </p:nvSpPr>
        <p:spPr>
          <a:xfrm>
            <a:off x="5047488" y="1965960"/>
            <a:ext cx="3657600" cy="329184"/>
          </a:xfrm>
          <a:prstGeom prst="rect">
            <a:avLst/>
          </a:prstGeom>
          <a:noFill/>
          <a:ln/>
        </p:spPr>
        <p:txBody>
          <a:bodyPr wrap="square" lIns="0" tIns="0" rIns="0" bIns="0" rtlCol="0" anchor="ctr"/>
          <a:lstStyle/>
          <a:p>
            <a:pPr marL="0" indent="0">
              <a:buNone/>
            </a:pPr>
            <a:r>
              <a:rPr lang="en-US" sz="1800" b="1" dirty="0">
                <a:solidFill>
                  <a:srgbClr val="E6EDF3"/>
                </a:solidFill>
                <a:latin typeface="Calibri" pitchFamily="34" charset="0"/>
                <a:ea typeface="Calibri" pitchFamily="34" charset="-122"/>
                <a:cs typeface="Calibri" pitchFamily="34" charset="-120"/>
              </a:rPr>
              <a:t>Verify &amp; Run</a:t>
            </a:r>
            <a:endParaRPr lang="en-US" sz="1800" dirty="0"/>
          </a:p>
        </p:txBody>
      </p:sp>
      <p:sp>
        <p:nvSpPr>
          <p:cNvPr id="18" name="Text 15"/>
          <p:cNvSpPr txBox="1"/>
          <p:nvPr/>
        </p:nvSpPr>
        <p:spPr>
          <a:xfrm>
            <a:off x="5047488" y="2331720"/>
            <a:ext cx="3657600" cy="329184"/>
          </a:xfrm>
          <a:prstGeom prst="rect">
            <a:avLst/>
          </a:prstGeom>
          <a:noFill/>
          <a:ln/>
        </p:spPr>
        <p:txBody>
          <a:bodyPr wrap="square" lIns="0" tIns="0" rIns="0" bIns="0" rtlCol="0" anchor="ctr"/>
          <a:lstStyle/>
          <a:p>
            <a:pPr marL="0" indent="0">
              <a:buNone/>
            </a:pPr>
            <a:r>
              <a:rPr lang="en-US" sz="1300" dirty="0">
                <a:solidFill>
                  <a:srgbClr val="8B949E"/>
                </a:solidFill>
                <a:latin typeface="Calibri" pitchFamily="34" charset="0"/>
                <a:ea typeface="Calibri" pitchFamily="34" charset="-122"/>
                <a:cs typeface="Calibri" pitchFamily="34" charset="-120"/>
              </a:rPr>
              <a:t>How to confirm each tool works and trigger the pipeline</a:t>
            </a:r>
            <a:endParaRPr lang="en-US" sz="1300" dirty="0"/>
          </a:p>
        </p:txBody>
      </p:sp>
      <p:sp>
        <p:nvSpPr>
          <p:cNvPr id="19" name="Shape 16"/>
          <p:cNvSpPr/>
          <p:nvPr/>
        </p:nvSpPr>
        <p:spPr>
          <a:xfrm>
            <a:off x="4846320" y="3017520"/>
            <a:ext cx="4023360" cy="1371600"/>
          </a:xfrm>
          <a:prstGeom prst="roundRect">
            <a:avLst>
              <a:gd name="adj" fmla="val 5333"/>
            </a:avLst>
          </a:prstGeom>
          <a:solidFill>
            <a:srgbClr val="1F2937"/>
          </a:solidFill>
          <a:ln w="12700">
            <a:solidFill>
              <a:srgbClr val="30363D"/>
            </a:solidFill>
            <a:prstDash val="solid"/>
          </a:ln>
        </p:spPr>
        <p:txBody>
          <a:bodyPr/>
          <a:lstStyle/>
          <a:p>
            <a:endParaRPr lang="en-US"/>
          </a:p>
        </p:txBody>
      </p:sp>
      <p:sp>
        <p:nvSpPr>
          <p:cNvPr id="20" name="Text 17"/>
          <p:cNvSpPr txBox="1"/>
          <p:nvPr/>
        </p:nvSpPr>
        <p:spPr>
          <a:xfrm>
            <a:off x="5047488" y="3182112"/>
            <a:ext cx="502920" cy="347472"/>
          </a:xfrm>
          <a:prstGeom prst="rect">
            <a:avLst/>
          </a:prstGeom>
          <a:noFill/>
          <a:ln/>
        </p:spPr>
        <p:txBody>
          <a:bodyPr wrap="square" lIns="0" tIns="0" rIns="0" bIns="0" rtlCol="0" anchor="ctr"/>
          <a:lstStyle/>
          <a:p>
            <a:pPr marL="0" indent="0">
              <a:buNone/>
            </a:pPr>
            <a:r>
              <a:rPr lang="en-US" sz="2400" b="1" dirty="0">
                <a:solidFill>
                  <a:srgbClr val="BC8CFF"/>
                </a:solidFill>
                <a:latin typeface="Calibri" pitchFamily="34" charset="0"/>
                <a:ea typeface="Calibri" pitchFamily="34" charset="-122"/>
                <a:cs typeface="Calibri" pitchFamily="34" charset="-120"/>
              </a:rPr>
              <a:t>04</a:t>
            </a:r>
            <a:endParaRPr lang="en-US" sz="2400" dirty="0"/>
          </a:p>
        </p:txBody>
      </p:sp>
      <p:sp>
        <p:nvSpPr>
          <p:cNvPr id="21" name="Text 18"/>
          <p:cNvSpPr txBox="1"/>
          <p:nvPr/>
        </p:nvSpPr>
        <p:spPr>
          <a:xfrm>
            <a:off x="5047488" y="3566160"/>
            <a:ext cx="3657600" cy="329184"/>
          </a:xfrm>
          <a:prstGeom prst="rect">
            <a:avLst/>
          </a:prstGeom>
          <a:noFill/>
          <a:ln/>
        </p:spPr>
        <p:txBody>
          <a:bodyPr wrap="square" lIns="0" tIns="0" rIns="0" bIns="0" rtlCol="0" anchor="ctr"/>
          <a:lstStyle/>
          <a:p>
            <a:pPr marL="0" indent="0">
              <a:buNone/>
            </a:pPr>
            <a:r>
              <a:rPr lang="en-US" sz="1800" b="1" dirty="0">
                <a:solidFill>
                  <a:srgbClr val="E6EDF3"/>
                </a:solidFill>
                <a:latin typeface="Calibri" pitchFamily="34" charset="0"/>
                <a:ea typeface="Calibri" pitchFamily="34" charset="-122"/>
                <a:cs typeface="Calibri" pitchFamily="34" charset="-120"/>
              </a:rPr>
              <a:t>Next Integrations</a:t>
            </a:r>
            <a:endParaRPr lang="en-US" sz="1800" dirty="0"/>
          </a:p>
        </p:txBody>
      </p:sp>
      <p:sp>
        <p:nvSpPr>
          <p:cNvPr id="22" name="Text 19"/>
          <p:cNvSpPr txBox="1"/>
          <p:nvPr/>
        </p:nvSpPr>
        <p:spPr>
          <a:xfrm>
            <a:off x="5047488" y="3931920"/>
            <a:ext cx="3657600" cy="329184"/>
          </a:xfrm>
          <a:prstGeom prst="rect">
            <a:avLst/>
          </a:prstGeom>
          <a:noFill/>
          <a:ln/>
        </p:spPr>
        <p:txBody>
          <a:bodyPr wrap="square" lIns="0" tIns="0" rIns="0" bIns="0" rtlCol="0" anchor="ctr"/>
          <a:lstStyle/>
          <a:p>
            <a:pPr marL="0" indent="0">
              <a:buNone/>
            </a:pPr>
            <a:r>
              <a:rPr lang="en-US" sz="1300" dirty="0">
                <a:solidFill>
                  <a:srgbClr val="8B949E"/>
                </a:solidFill>
                <a:latin typeface="Calibri" pitchFamily="34" charset="0"/>
                <a:ea typeface="Calibri" pitchFamily="34" charset="-122"/>
                <a:cs typeface="Calibri" pitchFamily="34" charset="-120"/>
              </a:rPr>
              <a:t>MISP, TheHive, Elasticsearch, and more</a:t>
            </a:r>
            <a:endParaRPr lang="en-US" sz="1300" dirty="0"/>
          </a:p>
        </p:txBody>
      </p:sp>
      <p:sp>
        <p:nvSpPr>
          <p:cNvPr id="23" name="Shape 20"/>
          <p:cNvSpPr/>
          <p:nvPr/>
        </p:nvSpPr>
        <p:spPr>
          <a:xfrm>
            <a:off x="0" y="5106924"/>
            <a:ext cx="9144000" cy="36576"/>
          </a:xfrm>
          <a:prstGeom prst="rect">
            <a:avLst/>
          </a:prstGeom>
          <a:solidFill>
            <a:srgbClr val="58A6FF"/>
          </a:solidFill>
          <a:ln/>
        </p:spPr>
        <p:txBody>
          <a:bodyPr/>
          <a:lstStyle/>
          <a:p>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Shape 0"/>
          <p:cNvSpPr/>
          <p:nvPr/>
        </p:nvSpPr>
        <p:spPr>
          <a:xfrm>
            <a:off x="0" y="0"/>
            <a:ext cx="9144000" cy="5143500"/>
          </a:xfrm>
          <a:prstGeom prst="rect">
            <a:avLst/>
          </a:prstGeom>
          <a:solidFill>
            <a:srgbClr val="161B22"/>
          </a:solidFill>
          <a:ln/>
        </p:spPr>
        <p:txBody>
          <a:bodyPr/>
          <a:lstStyle/>
          <a:p>
            <a:endParaRPr lang="en-US"/>
          </a:p>
        </p:txBody>
      </p:sp>
      <p:sp>
        <p:nvSpPr>
          <p:cNvPr id="4" name="Shape 1"/>
          <p:cNvSpPr/>
          <p:nvPr/>
        </p:nvSpPr>
        <p:spPr>
          <a:xfrm>
            <a:off x="0" y="0"/>
            <a:ext cx="9144000" cy="36576"/>
          </a:xfrm>
          <a:prstGeom prst="rect">
            <a:avLst/>
          </a:prstGeom>
          <a:solidFill>
            <a:srgbClr val="3FB950"/>
          </a:solidFill>
          <a:ln/>
        </p:spPr>
        <p:txBody>
          <a:bodyPr/>
          <a:lstStyle/>
          <a:p>
            <a:endParaRPr lang="en-US"/>
          </a:p>
        </p:txBody>
      </p:sp>
      <p:sp>
        <p:nvSpPr>
          <p:cNvPr id="5" name="Text 2"/>
          <p:cNvSpPr txBox="1"/>
          <p:nvPr/>
        </p:nvSpPr>
        <p:spPr>
          <a:xfrm>
            <a:off x="548640" y="1645920"/>
            <a:ext cx="8046720" cy="274320"/>
          </a:xfrm>
          <a:prstGeom prst="rect">
            <a:avLst/>
          </a:prstGeom>
          <a:noFill/>
          <a:ln/>
        </p:spPr>
        <p:txBody>
          <a:bodyPr wrap="square" lIns="0" tIns="0" rIns="0" bIns="0" rtlCol="0" anchor="ctr"/>
          <a:lstStyle/>
          <a:p>
            <a:pPr marL="0" indent="0">
              <a:buNone/>
            </a:pPr>
            <a:r>
              <a:rPr lang="en-US" sz="1300" b="1" kern="0" spc="400" dirty="0">
                <a:solidFill>
                  <a:srgbClr val="3FB950"/>
                </a:solidFill>
                <a:latin typeface="Calibri" pitchFamily="34" charset="0"/>
                <a:ea typeface="Calibri" pitchFamily="34" charset="-122"/>
                <a:cs typeface="Calibri" pitchFamily="34" charset="-120"/>
              </a:rPr>
              <a:t>PART 01</a:t>
            </a:r>
            <a:endParaRPr lang="en-US" sz="1300" dirty="0"/>
          </a:p>
        </p:txBody>
      </p:sp>
      <p:sp>
        <p:nvSpPr>
          <p:cNvPr id="6" name="Text 3"/>
          <p:cNvSpPr txBox="1"/>
          <p:nvPr/>
        </p:nvSpPr>
        <p:spPr>
          <a:xfrm>
            <a:off x="548640" y="2011680"/>
            <a:ext cx="8046720" cy="731520"/>
          </a:xfrm>
          <a:prstGeom prst="rect">
            <a:avLst/>
          </a:prstGeom>
          <a:noFill/>
          <a:ln/>
        </p:spPr>
        <p:txBody>
          <a:bodyPr wrap="square" lIns="0" tIns="0" rIns="0" bIns="0" rtlCol="0" anchor="ctr"/>
          <a:lstStyle/>
          <a:p>
            <a:pPr marL="0" indent="0">
              <a:buNone/>
            </a:pPr>
            <a:r>
              <a:rPr lang="en-US" sz="4000" b="1" dirty="0">
                <a:solidFill>
                  <a:srgbClr val="E6EDF3"/>
                </a:solidFill>
                <a:latin typeface="Calibri" pitchFamily="34" charset="0"/>
                <a:ea typeface="Calibri" pitchFamily="34" charset="-122"/>
                <a:cs typeface="Calibri" pitchFamily="34" charset="-120"/>
              </a:rPr>
              <a:t>How the Pipeline Works</a:t>
            </a:r>
            <a:endParaRPr lang="en-US" sz="4000" dirty="0"/>
          </a:p>
        </p:txBody>
      </p:sp>
      <p:sp>
        <p:nvSpPr>
          <p:cNvPr id="7" name="Text 4"/>
          <p:cNvSpPr txBox="1"/>
          <p:nvPr/>
        </p:nvSpPr>
        <p:spPr>
          <a:xfrm>
            <a:off x="548640" y="2834640"/>
            <a:ext cx="8046720" cy="365760"/>
          </a:xfrm>
          <a:prstGeom prst="rect">
            <a:avLst/>
          </a:prstGeom>
          <a:noFill/>
          <a:ln/>
        </p:spPr>
        <p:txBody>
          <a:bodyPr wrap="square" lIns="0" tIns="0" rIns="0" bIns="0" rtlCol="0" anchor="ctr"/>
          <a:lstStyle/>
          <a:p>
            <a:pPr marL="0" indent="0">
              <a:buNone/>
            </a:pPr>
            <a:r>
              <a:rPr lang="en-US" sz="1600" dirty="0">
                <a:solidFill>
                  <a:srgbClr val="8B949E"/>
                </a:solidFill>
                <a:latin typeface="Calibri" pitchFamily="34" charset="0"/>
                <a:ea typeface="Calibri" pitchFamily="34" charset="-122"/>
                <a:cs typeface="Calibri" pitchFamily="34" charset="-120"/>
              </a:rPr>
              <a:t>9 Ansible roles · Suricata + Zeek · GeoIP enrichment · Correlated reporting</a:t>
            </a:r>
            <a:endParaRPr lang="en-US" sz="1600" dirty="0"/>
          </a:p>
        </p:txBody>
      </p:sp>
      <p:sp>
        <p:nvSpPr>
          <p:cNvPr id="8" name="Shape 5"/>
          <p:cNvSpPr/>
          <p:nvPr/>
        </p:nvSpPr>
        <p:spPr>
          <a:xfrm>
            <a:off x="0" y="5106924"/>
            <a:ext cx="9144000" cy="36576"/>
          </a:xfrm>
          <a:prstGeom prst="rect">
            <a:avLst/>
          </a:prstGeom>
          <a:solidFill>
            <a:srgbClr val="3FB950"/>
          </a:solidFill>
          <a:ln/>
        </p:spPr>
        <p:txBody>
          <a:bodyPr/>
          <a:lstStyle/>
          <a:p>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Shape 0"/>
          <p:cNvSpPr/>
          <p:nvPr/>
        </p:nvSpPr>
        <p:spPr>
          <a:xfrm>
            <a:off x="-1" y="0"/>
            <a:ext cx="9144000" cy="5143500"/>
          </a:xfrm>
          <a:prstGeom prst="rect">
            <a:avLst/>
          </a:prstGeom>
          <a:solidFill>
            <a:srgbClr val="0D1117"/>
          </a:solidFill>
          <a:ln/>
        </p:spPr>
        <p:txBody>
          <a:bodyPr/>
          <a:lstStyle/>
          <a:p>
            <a:endParaRPr lang="en-US"/>
          </a:p>
        </p:txBody>
      </p:sp>
      <p:sp>
        <p:nvSpPr>
          <p:cNvPr id="4" name="Shape 1"/>
          <p:cNvSpPr/>
          <p:nvPr/>
        </p:nvSpPr>
        <p:spPr>
          <a:xfrm>
            <a:off x="0" y="0"/>
            <a:ext cx="9144000" cy="36576"/>
          </a:xfrm>
          <a:prstGeom prst="rect">
            <a:avLst/>
          </a:prstGeom>
          <a:solidFill>
            <a:srgbClr val="3FB950"/>
          </a:solidFill>
          <a:ln/>
        </p:spPr>
        <p:txBody>
          <a:bodyPr/>
          <a:lstStyle/>
          <a:p>
            <a:endParaRPr lang="en-US"/>
          </a:p>
        </p:txBody>
      </p:sp>
      <p:sp>
        <p:nvSpPr>
          <p:cNvPr id="5" name="Text 2"/>
          <p:cNvSpPr txBox="1"/>
          <p:nvPr/>
        </p:nvSpPr>
        <p:spPr>
          <a:xfrm>
            <a:off x="457200" y="201168"/>
            <a:ext cx="8229600" cy="237744"/>
          </a:xfrm>
          <a:prstGeom prst="rect">
            <a:avLst/>
          </a:prstGeom>
          <a:noFill/>
          <a:ln/>
        </p:spPr>
        <p:txBody>
          <a:bodyPr wrap="square" lIns="0" tIns="0" rIns="0" bIns="0" rtlCol="0" anchor="ctr"/>
          <a:lstStyle/>
          <a:p>
            <a:pPr marL="0" indent="0">
              <a:buNone/>
            </a:pPr>
            <a:r>
              <a:rPr lang="en-US" sz="1000" b="1" kern="0" spc="300" dirty="0">
                <a:solidFill>
                  <a:srgbClr val="3FB950"/>
                </a:solidFill>
                <a:latin typeface="Calibri" pitchFamily="34" charset="0"/>
                <a:ea typeface="Calibri" pitchFamily="34" charset="-122"/>
                <a:cs typeface="Calibri" pitchFamily="34" charset="-120"/>
              </a:rPr>
              <a:t>HOW IT WORKS</a:t>
            </a:r>
            <a:endParaRPr lang="en-US" sz="1000" dirty="0"/>
          </a:p>
        </p:txBody>
      </p:sp>
      <p:sp>
        <p:nvSpPr>
          <p:cNvPr id="6" name="Text 3"/>
          <p:cNvSpPr txBox="1"/>
          <p:nvPr/>
        </p:nvSpPr>
        <p:spPr>
          <a:xfrm>
            <a:off x="457200" y="502920"/>
            <a:ext cx="8229600" cy="457200"/>
          </a:xfrm>
          <a:prstGeom prst="rect">
            <a:avLst/>
          </a:prstGeom>
          <a:noFill/>
          <a:ln/>
        </p:spPr>
        <p:txBody>
          <a:bodyPr wrap="square" lIns="0" tIns="0" rIns="0" bIns="0" rtlCol="0" anchor="ctr"/>
          <a:lstStyle/>
          <a:p>
            <a:pPr marL="0" indent="0">
              <a:buNone/>
            </a:pPr>
            <a:r>
              <a:rPr lang="en-US" sz="2600" b="1" dirty="0">
                <a:solidFill>
                  <a:srgbClr val="E6EDF3"/>
                </a:solidFill>
                <a:latin typeface="Calibri" pitchFamily="34" charset="0"/>
                <a:ea typeface="Calibri" pitchFamily="34" charset="-122"/>
                <a:cs typeface="Calibri" pitchFamily="34" charset="-120"/>
              </a:rPr>
              <a:t>The 9-Stage Ansible Pipeline</a:t>
            </a:r>
            <a:endParaRPr lang="en-US" sz="2600" dirty="0"/>
          </a:p>
        </p:txBody>
      </p:sp>
      <p:sp>
        <p:nvSpPr>
          <p:cNvPr id="7" name="Shape 4"/>
          <p:cNvSpPr/>
          <p:nvPr/>
        </p:nvSpPr>
        <p:spPr>
          <a:xfrm>
            <a:off x="352437" y="1176488"/>
            <a:ext cx="896112" cy="1005840"/>
          </a:xfrm>
          <a:prstGeom prst="roundRect">
            <a:avLst>
              <a:gd name="adj" fmla="val 6122"/>
            </a:avLst>
          </a:prstGeom>
          <a:solidFill>
            <a:srgbClr val="1F2937"/>
          </a:solidFill>
          <a:ln w="19050">
            <a:solidFill>
              <a:srgbClr val="58A6FF"/>
            </a:solidFill>
            <a:prstDash val="solid"/>
          </a:ln>
        </p:spPr>
        <p:txBody>
          <a:bodyPr/>
          <a:lstStyle/>
          <a:p>
            <a:endParaRPr lang="en-US"/>
          </a:p>
        </p:txBody>
      </p:sp>
      <p:sp>
        <p:nvSpPr>
          <p:cNvPr id="8" name="Text 5"/>
          <p:cNvSpPr txBox="1"/>
          <p:nvPr/>
        </p:nvSpPr>
        <p:spPr>
          <a:xfrm>
            <a:off x="389013" y="1231352"/>
            <a:ext cx="822960" cy="201168"/>
          </a:xfrm>
          <a:prstGeom prst="rect">
            <a:avLst/>
          </a:prstGeom>
          <a:noFill/>
          <a:ln/>
        </p:spPr>
        <p:txBody>
          <a:bodyPr wrap="square" lIns="0" tIns="0" rIns="0" bIns="0" rtlCol="0" anchor="ctr"/>
          <a:lstStyle/>
          <a:p>
            <a:pPr marL="0" indent="0">
              <a:buNone/>
            </a:pPr>
            <a:r>
              <a:rPr lang="en-US" sz="900" b="1" dirty="0">
                <a:solidFill>
                  <a:srgbClr val="58A6FF"/>
                </a:solidFill>
                <a:latin typeface="Calibri" pitchFamily="34" charset="0"/>
                <a:ea typeface="Calibri" pitchFamily="34" charset="-122"/>
                <a:cs typeface="Calibri" pitchFamily="34" charset="-120"/>
              </a:rPr>
              <a:t>01</a:t>
            </a:r>
            <a:endParaRPr lang="en-US" sz="900" dirty="0"/>
          </a:p>
        </p:txBody>
      </p:sp>
      <p:sp>
        <p:nvSpPr>
          <p:cNvPr id="9" name="Text 6"/>
          <p:cNvSpPr txBox="1"/>
          <p:nvPr/>
        </p:nvSpPr>
        <p:spPr>
          <a:xfrm>
            <a:off x="389013" y="1450808"/>
            <a:ext cx="822960" cy="292608"/>
          </a:xfrm>
          <a:prstGeom prst="rect">
            <a:avLst/>
          </a:prstGeom>
          <a:noFill/>
          <a:ln/>
        </p:spPr>
        <p:txBody>
          <a:bodyPr wrap="square" lIns="0" tIns="0" rIns="0" bIns="0" rtlCol="0" anchor="ctr"/>
          <a:lstStyle/>
          <a:p>
            <a:pPr marL="0" indent="0">
              <a:buNone/>
            </a:pPr>
            <a:r>
              <a:rPr lang="en-US" sz="950" b="1" dirty="0">
                <a:solidFill>
                  <a:srgbClr val="E6EDF3"/>
                </a:solidFill>
                <a:latin typeface="Calibri" pitchFamily="34" charset="0"/>
                <a:ea typeface="Calibri" pitchFamily="34" charset="-122"/>
                <a:cs typeface="Calibri" pitchFamily="34" charset="-120"/>
              </a:rPr>
              <a:t>initial</a:t>
            </a:r>
            <a:endParaRPr lang="en-US" sz="950" dirty="0"/>
          </a:p>
        </p:txBody>
      </p:sp>
      <p:sp>
        <p:nvSpPr>
          <p:cNvPr id="10" name="Text 7"/>
          <p:cNvSpPr txBox="1"/>
          <p:nvPr/>
        </p:nvSpPr>
        <p:spPr>
          <a:xfrm>
            <a:off x="389013" y="1752560"/>
            <a:ext cx="822960" cy="347472"/>
          </a:xfrm>
          <a:prstGeom prst="rect">
            <a:avLst/>
          </a:prstGeom>
          <a:noFill/>
          <a:ln/>
        </p:spPr>
        <p:txBody>
          <a:bodyPr wrap="square" lIns="0" tIns="0" rIns="0" bIns="0" rtlCol="0" anchor="ctr"/>
          <a:lstStyle/>
          <a:p>
            <a:pPr marL="0" indent="0">
              <a:buNone/>
            </a:pPr>
            <a:r>
              <a:rPr lang="en-US" sz="850" dirty="0">
                <a:solidFill>
                  <a:srgbClr val="8B949E"/>
                </a:solidFill>
                <a:latin typeface="Calibri" pitchFamily="34" charset="0"/>
                <a:ea typeface="Calibri" pitchFamily="34" charset="-122"/>
                <a:cs typeface="Calibri" pitchFamily="34" charset="-120"/>
              </a:rPr>
              <a:t>Setup &amp; Validation</a:t>
            </a:r>
            <a:endParaRPr lang="en-US" sz="850" dirty="0"/>
          </a:p>
        </p:txBody>
      </p:sp>
      <p:sp>
        <p:nvSpPr>
          <p:cNvPr id="11" name="Shape 8"/>
          <p:cNvSpPr/>
          <p:nvPr/>
        </p:nvSpPr>
        <p:spPr>
          <a:xfrm>
            <a:off x="1078992" y="1664208"/>
            <a:ext cx="18288" cy="18288"/>
          </a:xfrm>
          <a:prstGeom prst="rect">
            <a:avLst/>
          </a:prstGeom>
          <a:solidFill>
            <a:srgbClr val="30363D"/>
          </a:solidFill>
          <a:ln/>
        </p:spPr>
        <p:txBody>
          <a:bodyPr/>
          <a:lstStyle/>
          <a:p>
            <a:endParaRPr lang="en-US"/>
          </a:p>
        </p:txBody>
      </p:sp>
      <p:sp>
        <p:nvSpPr>
          <p:cNvPr id="12" name="Shape 9"/>
          <p:cNvSpPr/>
          <p:nvPr/>
        </p:nvSpPr>
        <p:spPr>
          <a:xfrm>
            <a:off x="1303413" y="1172734"/>
            <a:ext cx="896112" cy="1005840"/>
          </a:xfrm>
          <a:prstGeom prst="roundRect">
            <a:avLst>
              <a:gd name="adj" fmla="val 6122"/>
            </a:avLst>
          </a:prstGeom>
          <a:solidFill>
            <a:srgbClr val="1F2937"/>
          </a:solidFill>
          <a:ln w="19050">
            <a:solidFill>
              <a:srgbClr val="D29922"/>
            </a:solidFill>
            <a:prstDash val="solid"/>
          </a:ln>
        </p:spPr>
        <p:txBody>
          <a:bodyPr/>
          <a:lstStyle/>
          <a:p>
            <a:endParaRPr lang="en-US"/>
          </a:p>
        </p:txBody>
      </p:sp>
      <p:sp>
        <p:nvSpPr>
          <p:cNvPr id="13" name="Text 10"/>
          <p:cNvSpPr txBox="1"/>
          <p:nvPr/>
        </p:nvSpPr>
        <p:spPr>
          <a:xfrm>
            <a:off x="1339989" y="1227598"/>
            <a:ext cx="822960" cy="201168"/>
          </a:xfrm>
          <a:prstGeom prst="rect">
            <a:avLst/>
          </a:prstGeom>
          <a:noFill/>
          <a:ln/>
        </p:spPr>
        <p:txBody>
          <a:bodyPr wrap="square" lIns="0" tIns="0" rIns="0" bIns="0" rtlCol="0" anchor="ctr"/>
          <a:lstStyle/>
          <a:p>
            <a:pPr marL="0" indent="0">
              <a:buNone/>
            </a:pPr>
            <a:r>
              <a:rPr lang="en-US" sz="900" b="1" dirty="0">
                <a:solidFill>
                  <a:srgbClr val="D29922"/>
                </a:solidFill>
                <a:latin typeface="Calibri" pitchFamily="34" charset="0"/>
                <a:ea typeface="Calibri" pitchFamily="34" charset="-122"/>
                <a:cs typeface="Calibri" pitchFamily="34" charset="-120"/>
              </a:rPr>
              <a:t>02</a:t>
            </a:r>
            <a:endParaRPr lang="en-US" sz="900" dirty="0"/>
          </a:p>
        </p:txBody>
      </p:sp>
      <p:sp>
        <p:nvSpPr>
          <p:cNvPr id="14" name="Text 11"/>
          <p:cNvSpPr txBox="1"/>
          <p:nvPr/>
        </p:nvSpPr>
        <p:spPr>
          <a:xfrm>
            <a:off x="1339989" y="1447054"/>
            <a:ext cx="822960" cy="292608"/>
          </a:xfrm>
          <a:prstGeom prst="rect">
            <a:avLst/>
          </a:prstGeom>
          <a:noFill/>
          <a:ln/>
        </p:spPr>
        <p:txBody>
          <a:bodyPr wrap="square" lIns="0" tIns="0" rIns="0" bIns="0" rtlCol="0" anchor="ctr"/>
          <a:lstStyle/>
          <a:p>
            <a:pPr marL="0" indent="0">
              <a:buNone/>
            </a:pPr>
            <a:r>
              <a:rPr lang="en-US" sz="950" b="1" dirty="0">
                <a:solidFill>
                  <a:srgbClr val="E6EDF3"/>
                </a:solidFill>
                <a:latin typeface="Calibri" pitchFamily="34" charset="0"/>
                <a:ea typeface="Calibri" pitchFamily="34" charset="-122"/>
                <a:cs typeface="Calibri" pitchFamily="34" charset="-120"/>
              </a:rPr>
              <a:t>suricata_run</a:t>
            </a:r>
            <a:endParaRPr lang="en-US" sz="950" dirty="0"/>
          </a:p>
        </p:txBody>
      </p:sp>
      <p:sp>
        <p:nvSpPr>
          <p:cNvPr id="15" name="Text 12"/>
          <p:cNvSpPr txBox="1"/>
          <p:nvPr/>
        </p:nvSpPr>
        <p:spPr>
          <a:xfrm>
            <a:off x="1339989" y="1748806"/>
            <a:ext cx="822960" cy="347472"/>
          </a:xfrm>
          <a:prstGeom prst="rect">
            <a:avLst/>
          </a:prstGeom>
          <a:noFill/>
          <a:ln/>
        </p:spPr>
        <p:txBody>
          <a:bodyPr wrap="square" lIns="0" tIns="0" rIns="0" bIns="0" rtlCol="0" anchor="ctr"/>
          <a:lstStyle/>
          <a:p>
            <a:pPr marL="0" indent="0">
              <a:buNone/>
            </a:pPr>
            <a:r>
              <a:rPr lang="en-US" sz="850" dirty="0">
                <a:solidFill>
                  <a:srgbClr val="8B949E"/>
                </a:solidFill>
                <a:latin typeface="Calibri" pitchFamily="34" charset="0"/>
                <a:ea typeface="Calibri" pitchFamily="34" charset="-122"/>
                <a:cs typeface="Calibri" pitchFamily="34" charset="-120"/>
              </a:rPr>
              <a:t>IDS · eve.json</a:t>
            </a:r>
            <a:endParaRPr lang="en-US" sz="850" dirty="0"/>
          </a:p>
        </p:txBody>
      </p:sp>
      <p:sp>
        <p:nvSpPr>
          <p:cNvPr id="16" name="Shape 13"/>
          <p:cNvSpPr/>
          <p:nvPr/>
        </p:nvSpPr>
        <p:spPr>
          <a:xfrm>
            <a:off x="1993392" y="1664208"/>
            <a:ext cx="18288" cy="18288"/>
          </a:xfrm>
          <a:prstGeom prst="rect">
            <a:avLst/>
          </a:prstGeom>
          <a:solidFill>
            <a:srgbClr val="30363D"/>
          </a:solidFill>
          <a:ln/>
        </p:spPr>
        <p:txBody>
          <a:bodyPr/>
          <a:lstStyle/>
          <a:p>
            <a:endParaRPr lang="en-US"/>
          </a:p>
        </p:txBody>
      </p:sp>
      <p:sp>
        <p:nvSpPr>
          <p:cNvPr id="17" name="Shape 14"/>
          <p:cNvSpPr/>
          <p:nvPr/>
        </p:nvSpPr>
        <p:spPr>
          <a:xfrm>
            <a:off x="2254389" y="1172734"/>
            <a:ext cx="896112" cy="1005840"/>
          </a:xfrm>
          <a:prstGeom prst="roundRect">
            <a:avLst>
              <a:gd name="adj" fmla="val 6122"/>
            </a:avLst>
          </a:prstGeom>
          <a:solidFill>
            <a:srgbClr val="1F2937"/>
          </a:solidFill>
          <a:ln w="19050">
            <a:solidFill>
              <a:srgbClr val="D29922"/>
            </a:solidFill>
            <a:prstDash val="solid"/>
          </a:ln>
        </p:spPr>
        <p:txBody>
          <a:bodyPr/>
          <a:lstStyle/>
          <a:p>
            <a:endParaRPr lang="en-US"/>
          </a:p>
        </p:txBody>
      </p:sp>
      <p:sp>
        <p:nvSpPr>
          <p:cNvPr id="18" name="Text 15"/>
          <p:cNvSpPr txBox="1"/>
          <p:nvPr/>
        </p:nvSpPr>
        <p:spPr>
          <a:xfrm>
            <a:off x="2290965" y="1227598"/>
            <a:ext cx="822960" cy="201168"/>
          </a:xfrm>
          <a:prstGeom prst="rect">
            <a:avLst/>
          </a:prstGeom>
          <a:noFill/>
          <a:ln/>
        </p:spPr>
        <p:txBody>
          <a:bodyPr wrap="square" lIns="0" tIns="0" rIns="0" bIns="0" rtlCol="0" anchor="ctr"/>
          <a:lstStyle/>
          <a:p>
            <a:pPr marL="0" indent="0">
              <a:buNone/>
            </a:pPr>
            <a:r>
              <a:rPr lang="en-US" sz="900" b="1" dirty="0">
                <a:solidFill>
                  <a:srgbClr val="D29922"/>
                </a:solidFill>
                <a:latin typeface="Calibri" pitchFamily="34" charset="0"/>
                <a:ea typeface="Calibri" pitchFamily="34" charset="-122"/>
                <a:cs typeface="Calibri" pitchFamily="34" charset="-120"/>
              </a:rPr>
              <a:t>03</a:t>
            </a:r>
            <a:endParaRPr lang="en-US" sz="900" dirty="0"/>
          </a:p>
        </p:txBody>
      </p:sp>
      <p:sp>
        <p:nvSpPr>
          <p:cNvPr id="19" name="Text 16"/>
          <p:cNvSpPr txBox="1"/>
          <p:nvPr/>
        </p:nvSpPr>
        <p:spPr>
          <a:xfrm>
            <a:off x="2290965" y="1447054"/>
            <a:ext cx="822960" cy="292608"/>
          </a:xfrm>
          <a:prstGeom prst="rect">
            <a:avLst/>
          </a:prstGeom>
          <a:noFill/>
          <a:ln/>
        </p:spPr>
        <p:txBody>
          <a:bodyPr wrap="square" lIns="0" tIns="0" rIns="0" bIns="0" rtlCol="0" anchor="ctr"/>
          <a:lstStyle/>
          <a:p>
            <a:pPr marL="0" indent="0">
              <a:buNone/>
            </a:pPr>
            <a:r>
              <a:rPr lang="en-US" sz="950" b="1" dirty="0">
                <a:solidFill>
                  <a:srgbClr val="E6EDF3"/>
                </a:solidFill>
                <a:latin typeface="Calibri" pitchFamily="34" charset="0"/>
                <a:ea typeface="Calibri" pitchFamily="34" charset="-122"/>
                <a:cs typeface="Calibri" pitchFamily="34" charset="-120"/>
              </a:rPr>
              <a:t>zeek_run</a:t>
            </a:r>
            <a:endParaRPr lang="en-US" sz="950" dirty="0"/>
          </a:p>
        </p:txBody>
      </p:sp>
      <p:sp>
        <p:nvSpPr>
          <p:cNvPr id="20" name="Text 17"/>
          <p:cNvSpPr txBox="1"/>
          <p:nvPr/>
        </p:nvSpPr>
        <p:spPr>
          <a:xfrm>
            <a:off x="2290965" y="1748806"/>
            <a:ext cx="822960" cy="347472"/>
          </a:xfrm>
          <a:prstGeom prst="rect">
            <a:avLst/>
          </a:prstGeom>
          <a:noFill/>
          <a:ln/>
        </p:spPr>
        <p:txBody>
          <a:bodyPr wrap="square" lIns="0" tIns="0" rIns="0" bIns="0" rtlCol="0" anchor="ctr"/>
          <a:lstStyle/>
          <a:p>
            <a:pPr marL="0" indent="0">
              <a:buNone/>
            </a:pPr>
            <a:r>
              <a:rPr lang="en-US" sz="850" dirty="0">
                <a:solidFill>
                  <a:srgbClr val="8B949E"/>
                </a:solidFill>
                <a:latin typeface="Calibri" pitchFamily="34" charset="0"/>
                <a:ea typeface="Calibri" pitchFamily="34" charset="-122"/>
                <a:cs typeface="Calibri" pitchFamily="34" charset="-120"/>
              </a:rPr>
              <a:t>NSM · conn/dns/…</a:t>
            </a:r>
            <a:endParaRPr lang="en-US" sz="850" dirty="0"/>
          </a:p>
        </p:txBody>
      </p:sp>
      <p:sp>
        <p:nvSpPr>
          <p:cNvPr id="21" name="Shape 18"/>
          <p:cNvSpPr/>
          <p:nvPr/>
        </p:nvSpPr>
        <p:spPr>
          <a:xfrm>
            <a:off x="2907792" y="1664208"/>
            <a:ext cx="18288" cy="18288"/>
          </a:xfrm>
          <a:prstGeom prst="rect">
            <a:avLst/>
          </a:prstGeom>
          <a:solidFill>
            <a:srgbClr val="30363D"/>
          </a:solidFill>
          <a:ln/>
        </p:spPr>
        <p:txBody>
          <a:bodyPr/>
          <a:lstStyle/>
          <a:p>
            <a:endParaRPr lang="en-US"/>
          </a:p>
        </p:txBody>
      </p:sp>
      <p:sp>
        <p:nvSpPr>
          <p:cNvPr id="22" name="Shape 19"/>
          <p:cNvSpPr/>
          <p:nvPr/>
        </p:nvSpPr>
        <p:spPr>
          <a:xfrm>
            <a:off x="3196221" y="1172734"/>
            <a:ext cx="896112" cy="1005840"/>
          </a:xfrm>
          <a:prstGeom prst="roundRect">
            <a:avLst>
              <a:gd name="adj" fmla="val 6122"/>
            </a:avLst>
          </a:prstGeom>
          <a:solidFill>
            <a:srgbClr val="1F2937"/>
          </a:solidFill>
          <a:ln w="19050">
            <a:solidFill>
              <a:srgbClr val="58A6FF"/>
            </a:solidFill>
            <a:prstDash val="solid"/>
          </a:ln>
        </p:spPr>
        <p:txBody>
          <a:bodyPr/>
          <a:lstStyle/>
          <a:p>
            <a:endParaRPr lang="en-US"/>
          </a:p>
        </p:txBody>
      </p:sp>
      <p:sp>
        <p:nvSpPr>
          <p:cNvPr id="23" name="Text 20"/>
          <p:cNvSpPr txBox="1"/>
          <p:nvPr/>
        </p:nvSpPr>
        <p:spPr>
          <a:xfrm>
            <a:off x="3232797" y="1227598"/>
            <a:ext cx="822960" cy="201168"/>
          </a:xfrm>
          <a:prstGeom prst="rect">
            <a:avLst/>
          </a:prstGeom>
          <a:noFill/>
          <a:ln/>
        </p:spPr>
        <p:txBody>
          <a:bodyPr wrap="square" lIns="0" tIns="0" rIns="0" bIns="0" rtlCol="0" anchor="ctr"/>
          <a:lstStyle/>
          <a:p>
            <a:pPr marL="0" indent="0">
              <a:buNone/>
            </a:pPr>
            <a:r>
              <a:rPr lang="en-US" sz="900" b="1" dirty="0">
                <a:solidFill>
                  <a:srgbClr val="58A6FF"/>
                </a:solidFill>
                <a:latin typeface="Calibri" pitchFamily="34" charset="0"/>
                <a:ea typeface="Calibri" pitchFamily="34" charset="-122"/>
                <a:cs typeface="Calibri" pitchFamily="34" charset="-120"/>
              </a:rPr>
              <a:t>04</a:t>
            </a:r>
            <a:endParaRPr lang="en-US" sz="900" dirty="0"/>
          </a:p>
        </p:txBody>
      </p:sp>
      <p:sp>
        <p:nvSpPr>
          <p:cNvPr id="24" name="Text 21"/>
          <p:cNvSpPr txBox="1"/>
          <p:nvPr/>
        </p:nvSpPr>
        <p:spPr>
          <a:xfrm>
            <a:off x="3232797" y="1447054"/>
            <a:ext cx="822960" cy="292608"/>
          </a:xfrm>
          <a:prstGeom prst="rect">
            <a:avLst/>
          </a:prstGeom>
          <a:noFill/>
          <a:ln/>
        </p:spPr>
        <p:txBody>
          <a:bodyPr wrap="square" lIns="0" tIns="0" rIns="0" bIns="0" rtlCol="0" anchor="ctr"/>
          <a:lstStyle/>
          <a:p>
            <a:pPr marL="0" indent="0">
              <a:buNone/>
            </a:pPr>
            <a:r>
              <a:rPr lang="en-US" sz="950" b="1" dirty="0">
                <a:solidFill>
                  <a:srgbClr val="E6EDF3"/>
                </a:solidFill>
                <a:latin typeface="Calibri" pitchFamily="34" charset="0"/>
                <a:ea typeface="Calibri" pitchFamily="34" charset="-122"/>
                <a:cs typeface="Calibri" pitchFamily="34" charset="-120"/>
              </a:rPr>
              <a:t>python_asngeo</a:t>
            </a:r>
            <a:endParaRPr lang="en-US" sz="950" dirty="0"/>
          </a:p>
        </p:txBody>
      </p:sp>
      <p:sp>
        <p:nvSpPr>
          <p:cNvPr id="25" name="Text 22"/>
          <p:cNvSpPr txBox="1"/>
          <p:nvPr/>
        </p:nvSpPr>
        <p:spPr>
          <a:xfrm>
            <a:off x="3232797" y="1748806"/>
            <a:ext cx="822960" cy="347472"/>
          </a:xfrm>
          <a:prstGeom prst="rect">
            <a:avLst/>
          </a:prstGeom>
          <a:noFill/>
          <a:ln/>
        </p:spPr>
        <p:txBody>
          <a:bodyPr wrap="square" lIns="0" tIns="0" rIns="0" bIns="0" rtlCol="0" anchor="ctr"/>
          <a:lstStyle/>
          <a:p>
            <a:pPr marL="0" indent="0">
              <a:buNone/>
            </a:pPr>
            <a:r>
              <a:rPr lang="en-US" sz="850" dirty="0">
                <a:solidFill>
                  <a:srgbClr val="8B949E"/>
                </a:solidFill>
                <a:latin typeface="Calibri" pitchFamily="34" charset="0"/>
                <a:ea typeface="Calibri" pitchFamily="34" charset="-122"/>
                <a:cs typeface="Calibri" pitchFamily="34" charset="-120"/>
              </a:rPr>
              <a:t>GeoIP/ASN Enrich</a:t>
            </a:r>
            <a:endParaRPr lang="en-US" sz="850" dirty="0"/>
          </a:p>
        </p:txBody>
      </p:sp>
      <p:sp>
        <p:nvSpPr>
          <p:cNvPr id="26" name="Shape 23"/>
          <p:cNvSpPr/>
          <p:nvPr/>
        </p:nvSpPr>
        <p:spPr>
          <a:xfrm>
            <a:off x="3822192" y="1664208"/>
            <a:ext cx="18288" cy="18288"/>
          </a:xfrm>
          <a:prstGeom prst="rect">
            <a:avLst/>
          </a:prstGeom>
          <a:solidFill>
            <a:srgbClr val="30363D"/>
          </a:solidFill>
          <a:ln/>
        </p:spPr>
        <p:txBody>
          <a:bodyPr/>
          <a:lstStyle/>
          <a:p>
            <a:endParaRPr lang="en-US"/>
          </a:p>
        </p:txBody>
      </p:sp>
      <p:sp>
        <p:nvSpPr>
          <p:cNvPr id="27" name="Shape 24"/>
          <p:cNvSpPr/>
          <p:nvPr/>
        </p:nvSpPr>
        <p:spPr>
          <a:xfrm>
            <a:off x="4147197" y="1166935"/>
            <a:ext cx="896112" cy="1005840"/>
          </a:xfrm>
          <a:prstGeom prst="roundRect">
            <a:avLst>
              <a:gd name="adj" fmla="val 6122"/>
            </a:avLst>
          </a:prstGeom>
          <a:solidFill>
            <a:srgbClr val="1F2937"/>
          </a:solidFill>
          <a:ln w="19050">
            <a:solidFill>
              <a:srgbClr val="58A6FF"/>
            </a:solidFill>
            <a:prstDash val="solid"/>
          </a:ln>
        </p:spPr>
        <p:txBody>
          <a:bodyPr/>
          <a:lstStyle/>
          <a:p>
            <a:endParaRPr lang="en-US"/>
          </a:p>
        </p:txBody>
      </p:sp>
      <p:sp>
        <p:nvSpPr>
          <p:cNvPr id="28" name="Text 25"/>
          <p:cNvSpPr txBox="1"/>
          <p:nvPr/>
        </p:nvSpPr>
        <p:spPr>
          <a:xfrm>
            <a:off x="4183773" y="1221799"/>
            <a:ext cx="822960" cy="201168"/>
          </a:xfrm>
          <a:prstGeom prst="rect">
            <a:avLst/>
          </a:prstGeom>
          <a:noFill/>
          <a:ln/>
        </p:spPr>
        <p:txBody>
          <a:bodyPr wrap="square" lIns="0" tIns="0" rIns="0" bIns="0" rtlCol="0" anchor="ctr"/>
          <a:lstStyle/>
          <a:p>
            <a:pPr marL="0" indent="0">
              <a:buNone/>
            </a:pPr>
            <a:r>
              <a:rPr lang="en-US" sz="900" b="1" dirty="0">
                <a:solidFill>
                  <a:srgbClr val="58A6FF"/>
                </a:solidFill>
                <a:latin typeface="Calibri" pitchFamily="34" charset="0"/>
                <a:ea typeface="Calibri" pitchFamily="34" charset="-122"/>
                <a:cs typeface="Calibri" pitchFamily="34" charset="-120"/>
              </a:rPr>
              <a:t>05</a:t>
            </a:r>
            <a:endParaRPr lang="en-US" sz="900" dirty="0"/>
          </a:p>
        </p:txBody>
      </p:sp>
      <p:sp>
        <p:nvSpPr>
          <p:cNvPr id="29" name="Text 26"/>
          <p:cNvSpPr txBox="1"/>
          <p:nvPr/>
        </p:nvSpPr>
        <p:spPr>
          <a:xfrm>
            <a:off x="4183773" y="1441255"/>
            <a:ext cx="822960" cy="292608"/>
          </a:xfrm>
          <a:prstGeom prst="rect">
            <a:avLst/>
          </a:prstGeom>
          <a:noFill/>
          <a:ln/>
        </p:spPr>
        <p:txBody>
          <a:bodyPr wrap="square" lIns="0" tIns="0" rIns="0" bIns="0" rtlCol="0" anchor="ctr"/>
          <a:lstStyle/>
          <a:p>
            <a:pPr marL="0" indent="0">
              <a:buNone/>
            </a:pPr>
            <a:r>
              <a:rPr lang="en-US" sz="950" b="1" dirty="0">
                <a:solidFill>
                  <a:srgbClr val="E6EDF3"/>
                </a:solidFill>
                <a:latin typeface="Calibri" pitchFamily="34" charset="0"/>
                <a:ea typeface="Calibri" pitchFamily="34" charset="-122"/>
                <a:cs typeface="Calibri" pitchFamily="34" charset="-120"/>
              </a:rPr>
              <a:t>python_correlate</a:t>
            </a:r>
            <a:endParaRPr lang="en-US" sz="950" dirty="0"/>
          </a:p>
        </p:txBody>
      </p:sp>
      <p:sp>
        <p:nvSpPr>
          <p:cNvPr id="30" name="Text 27"/>
          <p:cNvSpPr txBox="1"/>
          <p:nvPr/>
        </p:nvSpPr>
        <p:spPr>
          <a:xfrm>
            <a:off x="4183773" y="1743007"/>
            <a:ext cx="822960" cy="347472"/>
          </a:xfrm>
          <a:prstGeom prst="rect">
            <a:avLst/>
          </a:prstGeom>
          <a:noFill/>
          <a:ln/>
        </p:spPr>
        <p:txBody>
          <a:bodyPr wrap="square" lIns="0" tIns="0" rIns="0" bIns="0" rtlCol="0" anchor="ctr"/>
          <a:lstStyle/>
          <a:p>
            <a:pPr marL="0" indent="0">
              <a:buNone/>
            </a:pPr>
            <a:r>
              <a:rPr lang="en-US" sz="850" dirty="0">
                <a:solidFill>
                  <a:srgbClr val="8B949E"/>
                </a:solidFill>
                <a:latin typeface="Calibri" pitchFamily="34" charset="0"/>
                <a:ea typeface="Calibri" pitchFamily="34" charset="-122"/>
                <a:cs typeface="Calibri" pitchFamily="34" charset="-120"/>
              </a:rPr>
              <a:t>Suricata↔Zeek</a:t>
            </a:r>
            <a:endParaRPr lang="en-US" sz="850" dirty="0"/>
          </a:p>
        </p:txBody>
      </p:sp>
      <p:sp>
        <p:nvSpPr>
          <p:cNvPr id="31" name="Shape 28"/>
          <p:cNvSpPr/>
          <p:nvPr/>
        </p:nvSpPr>
        <p:spPr>
          <a:xfrm>
            <a:off x="4736592" y="1664208"/>
            <a:ext cx="18288" cy="18288"/>
          </a:xfrm>
          <a:prstGeom prst="rect">
            <a:avLst/>
          </a:prstGeom>
          <a:solidFill>
            <a:srgbClr val="30363D"/>
          </a:solidFill>
          <a:ln/>
        </p:spPr>
        <p:txBody>
          <a:bodyPr/>
          <a:lstStyle/>
          <a:p>
            <a:endParaRPr lang="en-US"/>
          </a:p>
        </p:txBody>
      </p:sp>
      <p:sp>
        <p:nvSpPr>
          <p:cNvPr id="32" name="Shape 29"/>
          <p:cNvSpPr/>
          <p:nvPr/>
        </p:nvSpPr>
        <p:spPr>
          <a:xfrm>
            <a:off x="5089029" y="1166935"/>
            <a:ext cx="896112" cy="1005840"/>
          </a:xfrm>
          <a:prstGeom prst="roundRect">
            <a:avLst>
              <a:gd name="adj" fmla="val 6122"/>
            </a:avLst>
          </a:prstGeom>
          <a:solidFill>
            <a:srgbClr val="1F2937"/>
          </a:solidFill>
          <a:ln w="19050">
            <a:solidFill>
              <a:srgbClr val="3FB950"/>
            </a:solidFill>
            <a:prstDash val="solid"/>
          </a:ln>
        </p:spPr>
        <p:txBody>
          <a:bodyPr/>
          <a:lstStyle/>
          <a:p>
            <a:endParaRPr lang="en-US"/>
          </a:p>
        </p:txBody>
      </p:sp>
      <p:sp>
        <p:nvSpPr>
          <p:cNvPr id="33" name="Text 30"/>
          <p:cNvSpPr txBox="1"/>
          <p:nvPr/>
        </p:nvSpPr>
        <p:spPr>
          <a:xfrm>
            <a:off x="5125605" y="1221799"/>
            <a:ext cx="822960" cy="201168"/>
          </a:xfrm>
          <a:prstGeom prst="rect">
            <a:avLst/>
          </a:prstGeom>
          <a:noFill/>
          <a:ln/>
        </p:spPr>
        <p:txBody>
          <a:bodyPr wrap="square" lIns="0" tIns="0" rIns="0" bIns="0" rtlCol="0" anchor="ctr"/>
          <a:lstStyle/>
          <a:p>
            <a:pPr marL="0" indent="0">
              <a:buNone/>
            </a:pPr>
            <a:r>
              <a:rPr lang="en-US" sz="900" b="1" dirty="0">
                <a:solidFill>
                  <a:srgbClr val="3FB950"/>
                </a:solidFill>
                <a:latin typeface="Calibri" pitchFamily="34" charset="0"/>
                <a:ea typeface="Calibri" pitchFamily="34" charset="-122"/>
                <a:cs typeface="Calibri" pitchFamily="34" charset="-120"/>
              </a:rPr>
              <a:t>06</a:t>
            </a:r>
            <a:endParaRPr lang="en-US" sz="900" dirty="0"/>
          </a:p>
        </p:txBody>
      </p:sp>
      <p:sp>
        <p:nvSpPr>
          <p:cNvPr id="34" name="Text 31"/>
          <p:cNvSpPr txBox="1"/>
          <p:nvPr/>
        </p:nvSpPr>
        <p:spPr>
          <a:xfrm>
            <a:off x="5125605" y="1441255"/>
            <a:ext cx="822960" cy="292608"/>
          </a:xfrm>
          <a:prstGeom prst="rect">
            <a:avLst/>
          </a:prstGeom>
          <a:noFill/>
          <a:ln/>
        </p:spPr>
        <p:txBody>
          <a:bodyPr wrap="square" lIns="0" tIns="0" rIns="0" bIns="0" rtlCol="0" anchor="ctr"/>
          <a:lstStyle/>
          <a:p>
            <a:pPr marL="0" indent="0">
              <a:buNone/>
            </a:pPr>
            <a:r>
              <a:rPr lang="en-US" sz="950" b="1" dirty="0">
                <a:solidFill>
                  <a:srgbClr val="E6EDF3"/>
                </a:solidFill>
                <a:latin typeface="Calibri" pitchFamily="34" charset="0"/>
                <a:ea typeface="Calibri" pitchFamily="34" charset="-122"/>
                <a:cs typeface="Calibri" pitchFamily="34" charset="-120"/>
              </a:rPr>
              <a:t>report_alerts</a:t>
            </a:r>
            <a:endParaRPr lang="en-US" sz="950" dirty="0"/>
          </a:p>
        </p:txBody>
      </p:sp>
      <p:sp>
        <p:nvSpPr>
          <p:cNvPr id="35" name="Text 32"/>
          <p:cNvSpPr txBox="1"/>
          <p:nvPr/>
        </p:nvSpPr>
        <p:spPr>
          <a:xfrm>
            <a:off x="5125605" y="1743007"/>
            <a:ext cx="822960" cy="347472"/>
          </a:xfrm>
          <a:prstGeom prst="rect">
            <a:avLst/>
          </a:prstGeom>
          <a:noFill/>
          <a:ln/>
        </p:spPr>
        <p:txBody>
          <a:bodyPr wrap="square" lIns="0" tIns="0" rIns="0" bIns="0" rtlCol="0" anchor="ctr"/>
          <a:lstStyle/>
          <a:p>
            <a:pPr marL="0" indent="0">
              <a:buNone/>
            </a:pPr>
            <a:r>
              <a:rPr lang="en-US" sz="850" dirty="0">
                <a:solidFill>
                  <a:srgbClr val="8B949E"/>
                </a:solidFill>
                <a:latin typeface="Calibri" pitchFamily="34" charset="0"/>
                <a:ea typeface="Calibri" pitchFamily="34" charset="-122"/>
                <a:cs typeface="Calibri" pitchFamily="34" charset="-120"/>
              </a:rPr>
              <a:t>Per-Alert MD</a:t>
            </a:r>
            <a:endParaRPr lang="en-US" sz="850" dirty="0"/>
          </a:p>
        </p:txBody>
      </p:sp>
      <p:sp>
        <p:nvSpPr>
          <p:cNvPr id="36" name="Shape 33"/>
          <p:cNvSpPr/>
          <p:nvPr/>
        </p:nvSpPr>
        <p:spPr>
          <a:xfrm>
            <a:off x="5650992" y="1664208"/>
            <a:ext cx="18288" cy="18288"/>
          </a:xfrm>
          <a:prstGeom prst="rect">
            <a:avLst/>
          </a:prstGeom>
          <a:solidFill>
            <a:srgbClr val="30363D"/>
          </a:solidFill>
          <a:ln/>
        </p:spPr>
        <p:txBody>
          <a:bodyPr/>
          <a:lstStyle/>
          <a:p>
            <a:endParaRPr lang="en-US"/>
          </a:p>
        </p:txBody>
      </p:sp>
      <p:sp>
        <p:nvSpPr>
          <p:cNvPr id="37" name="Shape 34"/>
          <p:cNvSpPr/>
          <p:nvPr/>
        </p:nvSpPr>
        <p:spPr>
          <a:xfrm>
            <a:off x="6030861" y="1166935"/>
            <a:ext cx="896112" cy="1005840"/>
          </a:xfrm>
          <a:prstGeom prst="roundRect">
            <a:avLst>
              <a:gd name="adj" fmla="val 6122"/>
            </a:avLst>
          </a:prstGeom>
          <a:solidFill>
            <a:srgbClr val="1F2937"/>
          </a:solidFill>
          <a:ln w="19050">
            <a:solidFill>
              <a:srgbClr val="3FB950"/>
            </a:solidFill>
            <a:prstDash val="solid"/>
          </a:ln>
        </p:spPr>
        <p:txBody>
          <a:bodyPr/>
          <a:lstStyle/>
          <a:p>
            <a:endParaRPr lang="en-US"/>
          </a:p>
        </p:txBody>
      </p:sp>
      <p:sp>
        <p:nvSpPr>
          <p:cNvPr id="38" name="Text 35"/>
          <p:cNvSpPr txBox="1"/>
          <p:nvPr/>
        </p:nvSpPr>
        <p:spPr>
          <a:xfrm>
            <a:off x="6067437" y="1221799"/>
            <a:ext cx="822960" cy="201168"/>
          </a:xfrm>
          <a:prstGeom prst="rect">
            <a:avLst/>
          </a:prstGeom>
          <a:noFill/>
          <a:ln/>
        </p:spPr>
        <p:txBody>
          <a:bodyPr wrap="square" lIns="0" tIns="0" rIns="0" bIns="0" rtlCol="0" anchor="ctr"/>
          <a:lstStyle/>
          <a:p>
            <a:pPr marL="0" indent="0">
              <a:buNone/>
            </a:pPr>
            <a:r>
              <a:rPr lang="en-US" sz="900" b="1" dirty="0">
                <a:solidFill>
                  <a:srgbClr val="3FB950"/>
                </a:solidFill>
                <a:latin typeface="Calibri" pitchFamily="34" charset="0"/>
                <a:ea typeface="Calibri" pitchFamily="34" charset="-122"/>
                <a:cs typeface="Calibri" pitchFamily="34" charset="-120"/>
              </a:rPr>
              <a:t>07</a:t>
            </a:r>
            <a:endParaRPr lang="en-US" sz="900" dirty="0"/>
          </a:p>
        </p:txBody>
      </p:sp>
      <p:sp>
        <p:nvSpPr>
          <p:cNvPr id="39" name="Text 36"/>
          <p:cNvSpPr txBox="1"/>
          <p:nvPr/>
        </p:nvSpPr>
        <p:spPr>
          <a:xfrm>
            <a:off x="6067437" y="1441255"/>
            <a:ext cx="822960" cy="292608"/>
          </a:xfrm>
          <a:prstGeom prst="rect">
            <a:avLst/>
          </a:prstGeom>
          <a:noFill/>
          <a:ln/>
        </p:spPr>
        <p:txBody>
          <a:bodyPr wrap="square" lIns="0" tIns="0" rIns="0" bIns="0" rtlCol="0" anchor="ctr"/>
          <a:lstStyle/>
          <a:p>
            <a:pPr marL="0" indent="0">
              <a:buNone/>
            </a:pPr>
            <a:r>
              <a:rPr lang="en-US" sz="950" b="1" dirty="0">
                <a:solidFill>
                  <a:srgbClr val="E6EDF3"/>
                </a:solidFill>
                <a:latin typeface="Calibri" pitchFamily="34" charset="0"/>
                <a:ea typeface="Calibri" pitchFamily="34" charset="-122"/>
                <a:cs typeface="Calibri" pitchFamily="34" charset="-120"/>
              </a:rPr>
              <a:t>report_stats</a:t>
            </a:r>
            <a:endParaRPr lang="en-US" sz="950" dirty="0"/>
          </a:p>
        </p:txBody>
      </p:sp>
      <p:sp>
        <p:nvSpPr>
          <p:cNvPr id="40" name="Text 37"/>
          <p:cNvSpPr txBox="1"/>
          <p:nvPr/>
        </p:nvSpPr>
        <p:spPr>
          <a:xfrm>
            <a:off x="6067437" y="1743007"/>
            <a:ext cx="822960" cy="347472"/>
          </a:xfrm>
          <a:prstGeom prst="rect">
            <a:avLst/>
          </a:prstGeom>
          <a:noFill/>
          <a:ln/>
        </p:spPr>
        <p:txBody>
          <a:bodyPr wrap="square" lIns="0" tIns="0" rIns="0" bIns="0" rtlCol="0" anchor="ctr"/>
          <a:lstStyle/>
          <a:p>
            <a:pPr marL="0" indent="0">
              <a:buNone/>
            </a:pPr>
            <a:r>
              <a:rPr lang="en-US" sz="850" dirty="0">
                <a:solidFill>
                  <a:srgbClr val="8B949E"/>
                </a:solidFill>
                <a:latin typeface="Calibri" pitchFamily="34" charset="0"/>
                <a:ea typeface="Calibri" pitchFamily="34" charset="-122"/>
                <a:cs typeface="Calibri" pitchFamily="34" charset="-120"/>
              </a:rPr>
              <a:t>Statistics MD</a:t>
            </a:r>
            <a:endParaRPr lang="en-US" sz="850" dirty="0"/>
          </a:p>
        </p:txBody>
      </p:sp>
      <p:sp>
        <p:nvSpPr>
          <p:cNvPr id="41" name="Shape 38"/>
          <p:cNvSpPr/>
          <p:nvPr/>
        </p:nvSpPr>
        <p:spPr>
          <a:xfrm>
            <a:off x="6565392" y="1664208"/>
            <a:ext cx="18288" cy="18288"/>
          </a:xfrm>
          <a:prstGeom prst="rect">
            <a:avLst/>
          </a:prstGeom>
          <a:solidFill>
            <a:srgbClr val="30363D"/>
          </a:solidFill>
          <a:ln/>
        </p:spPr>
        <p:txBody>
          <a:bodyPr/>
          <a:lstStyle/>
          <a:p>
            <a:endParaRPr lang="en-US"/>
          </a:p>
        </p:txBody>
      </p:sp>
      <p:sp>
        <p:nvSpPr>
          <p:cNvPr id="42" name="Shape 39"/>
          <p:cNvSpPr/>
          <p:nvPr/>
        </p:nvSpPr>
        <p:spPr>
          <a:xfrm>
            <a:off x="6972693" y="1172734"/>
            <a:ext cx="896112" cy="1005840"/>
          </a:xfrm>
          <a:prstGeom prst="roundRect">
            <a:avLst>
              <a:gd name="adj" fmla="val 6122"/>
            </a:avLst>
          </a:prstGeom>
          <a:solidFill>
            <a:srgbClr val="1F2937"/>
          </a:solidFill>
          <a:ln w="19050">
            <a:solidFill>
              <a:srgbClr val="3FB950"/>
            </a:solidFill>
            <a:prstDash val="solid"/>
          </a:ln>
        </p:spPr>
        <p:txBody>
          <a:bodyPr/>
          <a:lstStyle/>
          <a:p>
            <a:endParaRPr lang="en-US"/>
          </a:p>
        </p:txBody>
      </p:sp>
      <p:sp>
        <p:nvSpPr>
          <p:cNvPr id="43" name="Text 40"/>
          <p:cNvSpPr txBox="1"/>
          <p:nvPr/>
        </p:nvSpPr>
        <p:spPr>
          <a:xfrm>
            <a:off x="7009269" y="1227598"/>
            <a:ext cx="822960" cy="201168"/>
          </a:xfrm>
          <a:prstGeom prst="rect">
            <a:avLst/>
          </a:prstGeom>
          <a:noFill/>
          <a:ln/>
        </p:spPr>
        <p:txBody>
          <a:bodyPr wrap="square" lIns="0" tIns="0" rIns="0" bIns="0" rtlCol="0" anchor="ctr"/>
          <a:lstStyle/>
          <a:p>
            <a:pPr marL="0" indent="0">
              <a:buNone/>
            </a:pPr>
            <a:r>
              <a:rPr lang="en-US" sz="900" b="1" dirty="0">
                <a:solidFill>
                  <a:srgbClr val="3FB950"/>
                </a:solidFill>
                <a:latin typeface="Calibri" pitchFamily="34" charset="0"/>
                <a:ea typeface="Calibri" pitchFamily="34" charset="-122"/>
                <a:cs typeface="Calibri" pitchFamily="34" charset="-120"/>
              </a:rPr>
              <a:t>08</a:t>
            </a:r>
            <a:endParaRPr lang="en-US" sz="900" dirty="0"/>
          </a:p>
        </p:txBody>
      </p:sp>
      <p:sp>
        <p:nvSpPr>
          <p:cNvPr id="44" name="Text 41"/>
          <p:cNvSpPr txBox="1"/>
          <p:nvPr/>
        </p:nvSpPr>
        <p:spPr>
          <a:xfrm>
            <a:off x="7009269" y="1447054"/>
            <a:ext cx="822960" cy="292608"/>
          </a:xfrm>
          <a:prstGeom prst="rect">
            <a:avLst/>
          </a:prstGeom>
          <a:noFill/>
          <a:ln/>
        </p:spPr>
        <p:txBody>
          <a:bodyPr wrap="square" lIns="0" tIns="0" rIns="0" bIns="0" rtlCol="0" anchor="ctr"/>
          <a:lstStyle/>
          <a:p>
            <a:pPr marL="0" indent="0">
              <a:buNone/>
            </a:pPr>
            <a:r>
              <a:rPr lang="en-US" sz="950" b="1" dirty="0">
                <a:solidFill>
                  <a:srgbClr val="E6EDF3"/>
                </a:solidFill>
                <a:latin typeface="Calibri" pitchFamily="34" charset="0"/>
                <a:ea typeface="Calibri" pitchFamily="34" charset="-122"/>
                <a:cs typeface="Calibri" pitchFamily="34" charset="-120"/>
              </a:rPr>
              <a:t>report_final</a:t>
            </a:r>
            <a:endParaRPr lang="en-US" sz="950" dirty="0"/>
          </a:p>
        </p:txBody>
      </p:sp>
      <p:sp>
        <p:nvSpPr>
          <p:cNvPr id="45" name="Text 42"/>
          <p:cNvSpPr txBox="1"/>
          <p:nvPr/>
        </p:nvSpPr>
        <p:spPr>
          <a:xfrm>
            <a:off x="7009269" y="1748806"/>
            <a:ext cx="822960" cy="347472"/>
          </a:xfrm>
          <a:prstGeom prst="rect">
            <a:avLst/>
          </a:prstGeom>
          <a:noFill/>
          <a:ln/>
        </p:spPr>
        <p:txBody>
          <a:bodyPr wrap="square" lIns="0" tIns="0" rIns="0" bIns="0" rtlCol="0" anchor="ctr"/>
          <a:lstStyle/>
          <a:p>
            <a:pPr marL="0" indent="0">
              <a:buNone/>
            </a:pPr>
            <a:r>
              <a:rPr lang="en-US" sz="850" dirty="0">
                <a:solidFill>
                  <a:srgbClr val="8B949E"/>
                </a:solidFill>
                <a:latin typeface="Calibri" pitchFamily="34" charset="0"/>
                <a:ea typeface="Calibri" pitchFamily="34" charset="-122"/>
                <a:cs typeface="Calibri" pitchFamily="34" charset="-120"/>
              </a:rPr>
              <a:t>FINAL_REPORT.md</a:t>
            </a:r>
            <a:endParaRPr lang="en-US" sz="850" dirty="0"/>
          </a:p>
        </p:txBody>
      </p:sp>
      <p:sp>
        <p:nvSpPr>
          <p:cNvPr id="46" name="Shape 43"/>
          <p:cNvSpPr/>
          <p:nvPr/>
        </p:nvSpPr>
        <p:spPr>
          <a:xfrm>
            <a:off x="7479792" y="1664208"/>
            <a:ext cx="18288" cy="18288"/>
          </a:xfrm>
          <a:prstGeom prst="rect">
            <a:avLst/>
          </a:prstGeom>
          <a:solidFill>
            <a:srgbClr val="30363D"/>
          </a:solidFill>
          <a:ln/>
        </p:spPr>
        <p:txBody>
          <a:bodyPr/>
          <a:lstStyle/>
          <a:p>
            <a:endParaRPr lang="en-US"/>
          </a:p>
        </p:txBody>
      </p:sp>
      <p:sp>
        <p:nvSpPr>
          <p:cNvPr id="47" name="Shape 44"/>
          <p:cNvSpPr/>
          <p:nvPr/>
        </p:nvSpPr>
        <p:spPr>
          <a:xfrm>
            <a:off x="7914525" y="1172734"/>
            <a:ext cx="896112" cy="1005840"/>
          </a:xfrm>
          <a:prstGeom prst="roundRect">
            <a:avLst>
              <a:gd name="adj" fmla="val 6122"/>
            </a:avLst>
          </a:prstGeom>
          <a:solidFill>
            <a:srgbClr val="1F2937"/>
          </a:solidFill>
          <a:ln w="19050">
            <a:solidFill>
              <a:srgbClr val="8B949E"/>
            </a:solidFill>
            <a:prstDash val="solid"/>
          </a:ln>
        </p:spPr>
        <p:txBody>
          <a:bodyPr/>
          <a:lstStyle/>
          <a:p>
            <a:endParaRPr lang="en-US"/>
          </a:p>
        </p:txBody>
      </p:sp>
      <p:sp>
        <p:nvSpPr>
          <p:cNvPr id="48" name="Text 45"/>
          <p:cNvSpPr txBox="1"/>
          <p:nvPr/>
        </p:nvSpPr>
        <p:spPr>
          <a:xfrm>
            <a:off x="7951101" y="1227598"/>
            <a:ext cx="822960" cy="201168"/>
          </a:xfrm>
          <a:prstGeom prst="rect">
            <a:avLst/>
          </a:prstGeom>
          <a:noFill/>
          <a:ln/>
        </p:spPr>
        <p:txBody>
          <a:bodyPr wrap="square" lIns="0" tIns="0" rIns="0" bIns="0" rtlCol="0" anchor="ctr"/>
          <a:lstStyle/>
          <a:p>
            <a:pPr marL="0" indent="0">
              <a:buNone/>
            </a:pPr>
            <a:r>
              <a:rPr lang="en-US" sz="900" b="1" dirty="0">
                <a:solidFill>
                  <a:srgbClr val="8B949E"/>
                </a:solidFill>
                <a:latin typeface="Calibri" pitchFamily="34" charset="0"/>
                <a:ea typeface="Calibri" pitchFamily="34" charset="-122"/>
                <a:cs typeface="Calibri" pitchFamily="34" charset="-120"/>
              </a:rPr>
              <a:t>09</a:t>
            </a:r>
            <a:endParaRPr lang="en-US" sz="900" dirty="0"/>
          </a:p>
        </p:txBody>
      </p:sp>
      <p:sp>
        <p:nvSpPr>
          <p:cNvPr id="49" name="Text 46"/>
          <p:cNvSpPr txBox="1"/>
          <p:nvPr/>
        </p:nvSpPr>
        <p:spPr>
          <a:xfrm>
            <a:off x="7951101" y="1447054"/>
            <a:ext cx="822960" cy="292608"/>
          </a:xfrm>
          <a:prstGeom prst="rect">
            <a:avLst/>
          </a:prstGeom>
          <a:noFill/>
          <a:ln/>
        </p:spPr>
        <p:txBody>
          <a:bodyPr wrap="square" lIns="0" tIns="0" rIns="0" bIns="0" rtlCol="0" anchor="ctr"/>
          <a:lstStyle/>
          <a:p>
            <a:pPr marL="0" indent="0">
              <a:buNone/>
            </a:pPr>
            <a:r>
              <a:rPr lang="en-US" sz="950" b="1" dirty="0">
                <a:solidFill>
                  <a:srgbClr val="E6EDF3"/>
                </a:solidFill>
                <a:latin typeface="Calibri" pitchFamily="34" charset="0"/>
                <a:ea typeface="Calibri" pitchFamily="34" charset="-122"/>
                <a:cs typeface="Calibri" pitchFamily="34" charset="-120"/>
              </a:rPr>
              <a:t>cleanup</a:t>
            </a:r>
            <a:endParaRPr lang="en-US" sz="950" dirty="0"/>
          </a:p>
        </p:txBody>
      </p:sp>
      <p:sp>
        <p:nvSpPr>
          <p:cNvPr id="50" name="Text 47"/>
          <p:cNvSpPr txBox="1"/>
          <p:nvPr/>
        </p:nvSpPr>
        <p:spPr>
          <a:xfrm>
            <a:off x="7951101" y="1748806"/>
            <a:ext cx="822960" cy="347472"/>
          </a:xfrm>
          <a:prstGeom prst="rect">
            <a:avLst/>
          </a:prstGeom>
          <a:noFill/>
          <a:ln/>
        </p:spPr>
        <p:txBody>
          <a:bodyPr wrap="square" lIns="0" tIns="0" rIns="0" bIns="0" rtlCol="0" anchor="ctr"/>
          <a:lstStyle/>
          <a:p>
            <a:pPr marL="0" indent="0">
              <a:buNone/>
            </a:pPr>
            <a:r>
              <a:rPr lang="en-US" sz="850" dirty="0">
                <a:solidFill>
                  <a:srgbClr val="8B949E"/>
                </a:solidFill>
                <a:latin typeface="Calibri" pitchFamily="34" charset="0"/>
                <a:ea typeface="Calibri" pitchFamily="34" charset="-122"/>
                <a:cs typeface="Calibri" pitchFamily="34" charset="-120"/>
              </a:rPr>
              <a:t>Move to DONE/</a:t>
            </a:r>
            <a:endParaRPr lang="en-US" sz="850" dirty="0"/>
          </a:p>
        </p:txBody>
      </p:sp>
      <p:sp>
        <p:nvSpPr>
          <p:cNvPr id="51" name="Text 48"/>
          <p:cNvSpPr txBox="1"/>
          <p:nvPr/>
        </p:nvSpPr>
        <p:spPr>
          <a:xfrm>
            <a:off x="356616" y="3373318"/>
            <a:ext cx="1371600" cy="256032"/>
          </a:xfrm>
          <a:prstGeom prst="rect">
            <a:avLst/>
          </a:prstGeom>
          <a:noFill/>
          <a:ln/>
        </p:spPr>
        <p:txBody>
          <a:bodyPr wrap="square" lIns="0" tIns="0" rIns="0" bIns="0" rtlCol="0" anchor="ctr"/>
          <a:lstStyle/>
          <a:p>
            <a:pPr marL="0" indent="0">
              <a:buNone/>
            </a:pPr>
            <a:r>
              <a:rPr lang="en-US" sz="1100" b="1" dirty="0">
                <a:solidFill>
                  <a:srgbClr val="8B949E"/>
                </a:solidFill>
                <a:latin typeface="Calibri" pitchFamily="34" charset="0"/>
                <a:ea typeface="Calibri" pitchFamily="34" charset="-122"/>
                <a:cs typeface="Calibri" pitchFamily="34" charset="-120"/>
              </a:rPr>
              <a:t>Key outputs:</a:t>
            </a:r>
            <a:endParaRPr lang="en-US" sz="1100" dirty="0"/>
          </a:p>
        </p:txBody>
      </p:sp>
      <p:sp>
        <p:nvSpPr>
          <p:cNvPr id="52" name="Shape 49"/>
          <p:cNvSpPr/>
          <p:nvPr/>
        </p:nvSpPr>
        <p:spPr>
          <a:xfrm>
            <a:off x="356616" y="3720790"/>
            <a:ext cx="1572768" cy="822960"/>
          </a:xfrm>
          <a:prstGeom prst="roundRect">
            <a:avLst>
              <a:gd name="adj" fmla="val 6667"/>
            </a:avLst>
          </a:prstGeom>
          <a:solidFill>
            <a:srgbClr val="1F2937"/>
          </a:solidFill>
          <a:ln w="12700">
            <a:solidFill>
              <a:srgbClr val="58A6FF"/>
            </a:solidFill>
            <a:prstDash val="solid"/>
          </a:ln>
        </p:spPr>
        <p:txBody>
          <a:bodyPr/>
          <a:lstStyle/>
          <a:p>
            <a:endParaRPr lang="en-US"/>
          </a:p>
        </p:txBody>
      </p:sp>
      <p:sp>
        <p:nvSpPr>
          <p:cNvPr id="53" name="Text 50"/>
          <p:cNvSpPr txBox="1"/>
          <p:nvPr/>
        </p:nvSpPr>
        <p:spPr>
          <a:xfrm>
            <a:off x="448056" y="3775654"/>
            <a:ext cx="1417320" cy="292608"/>
          </a:xfrm>
          <a:prstGeom prst="rect">
            <a:avLst/>
          </a:prstGeom>
          <a:noFill/>
          <a:ln/>
        </p:spPr>
        <p:txBody>
          <a:bodyPr wrap="square" lIns="0" tIns="0" rIns="0" bIns="0" rtlCol="0" anchor="ctr"/>
          <a:lstStyle/>
          <a:p>
            <a:pPr marL="0" indent="0">
              <a:buNone/>
            </a:pPr>
            <a:r>
              <a:rPr lang="en-US" sz="1000" b="1" dirty="0">
                <a:solidFill>
                  <a:srgbClr val="58A6FF"/>
                </a:solidFill>
                <a:latin typeface="Calibri" pitchFamily="34" charset="0"/>
                <a:ea typeface="Calibri" pitchFamily="34" charset="-122"/>
                <a:cs typeface="Calibri" pitchFamily="34" charset="-120"/>
              </a:rPr>
              <a:t>eve_extra.json</a:t>
            </a:r>
            <a:endParaRPr lang="en-US" sz="1000" dirty="0"/>
          </a:p>
        </p:txBody>
      </p:sp>
      <p:sp>
        <p:nvSpPr>
          <p:cNvPr id="54" name="Text 51"/>
          <p:cNvSpPr txBox="1"/>
          <p:nvPr/>
        </p:nvSpPr>
        <p:spPr>
          <a:xfrm>
            <a:off x="448056" y="4104838"/>
            <a:ext cx="1417320" cy="347472"/>
          </a:xfrm>
          <a:prstGeom prst="rect">
            <a:avLst/>
          </a:prstGeom>
          <a:noFill/>
          <a:ln/>
        </p:spPr>
        <p:txBody>
          <a:bodyPr wrap="square" lIns="0" tIns="0" rIns="0" bIns="0" rtlCol="0" anchor="ctr"/>
          <a:lstStyle/>
          <a:p>
            <a:pPr marL="0" indent="0">
              <a:buNone/>
            </a:pPr>
            <a:r>
              <a:rPr lang="en-US" sz="950" dirty="0">
                <a:solidFill>
                  <a:srgbClr val="8B949E"/>
                </a:solidFill>
                <a:latin typeface="Calibri" pitchFamily="34" charset="0"/>
                <a:ea typeface="Calibri" pitchFamily="34" charset="-122"/>
                <a:cs typeface="Calibri" pitchFamily="34" charset="-120"/>
              </a:rPr>
              <a:t>Enriched alerts</a:t>
            </a:r>
            <a:endParaRPr lang="en-US" sz="950" dirty="0"/>
          </a:p>
        </p:txBody>
      </p:sp>
      <p:sp>
        <p:nvSpPr>
          <p:cNvPr id="55" name="Shape 52"/>
          <p:cNvSpPr/>
          <p:nvPr/>
        </p:nvSpPr>
        <p:spPr>
          <a:xfrm>
            <a:off x="2075688" y="3720790"/>
            <a:ext cx="1572768" cy="822960"/>
          </a:xfrm>
          <a:prstGeom prst="roundRect">
            <a:avLst>
              <a:gd name="adj" fmla="val 6667"/>
            </a:avLst>
          </a:prstGeom>
          <a:solidFill>
            <a:srgbClr val="1F2937"/>
          </a:solidFill>
          <a:ln w="12700">
            <a:solidFill>
              <a:srgbClr val="58A6FF"/>
            </a:solidFill>
            <a:prstDash val="solid"/>
          </a:ln>
        </p:spPr>
        <p:txBody>
          <a:bodyPr/>
          <a:lstStyle/>
          <a:p>
            <a:endParaRPr lang="en-US"/>
          </a:p>
        </p:txBody>
      </p:sp>
      <p:sp>
        <p:nvSpPr>
          <p:cNvPr id="56" name="Text 53"/>
          <p:cNvSpPr txBox="1"/>
          <p:nvPr/>
        </p:nvSpPr>
        <p:spPr>
          <a:xfrm>
            <a:off x="2167128" y="3775654"/>
            <a:ext cx="1417320" cy="292608"/>
          </a:xfrm>
          <a:prstGeom prst="rect">
            <a:avLst/>
          </a:prstGeom>
          <a:noFill/>
          <a:ln/>
        </p:spPr>
        <p:txBody>
          <a:bodyPr wrap="square" lIns="0" tIns="0" rIns="0" bIns="0" rtlCol="0" anchor="ctr"/>
          <a:lstStyle/>
          <a:p>
            <a:pPr marL="0" indent="0">
              <a:buNone/>
            </a:pPr>
            <a:r>
              <a:rPr lang="en-US" sz="1000" b="1" dirty="0">
                <a:solidFill>
                  <a:srgbClr val="58A6FF"/>
                </a:solidFill>
                <a:latin typeface="Calibri" pitchFamily="34" charset="0"/>
                <a:ea typeface="Calibri" pitchFamily="34" charset="-122"/>
                <a:cs typeface="Calibri" pitchFamily="34" charset="-120"/>
              </a:rPr>
              <a:t>correlated.json</a:t>
            </a:r>
            <a:endParaRPr lang="en-US" sz="1000" dirty="0"/>
          </a:p>
        </p:txBody>
      </p:sp>
      <p:sp>
        <p:nvSpPr>
          <p:cNvPr id="57" name="Text 54"/>
          <p:cNvSpPr txBox="1"/>
          <p:nvPr/>
        </p:nvSpPr>
        <p:spPr>
          <a:xfrm>
            <a:off x="2167128" y="4104838"/>
            <a:ext cx="1417320" cy="347472"/>
          </a:xfrm>
          <a:prstGeom prst="rect">
            <a:avLst/>
          </a:prstGeom>
          <a:noFill/>
          <a:ln/>
        </p:spPr>
        <p:txBody>
          <a:bodyPr wrap="square" lIns="0" tIns="0" rIns="0" bIns="0" rtlCol="0" anchor="ctr"/>
          <a:lstStyle/>
          <a:p>
            <a:pPr marL="0" indent="0">
              <a:buNone/>
            </a:pPr>
            <a:r>
              <a:rPr lang="en-US" sz="950" dirty="0">
                <a:solidFill>
                  <a:srgbClr val="8B949E"/>
                </a:solidFill>
                <a:latin typeface="Calibri" pitchFamily="34" charset="0"/>
                <a:ea typeface="Calibri" pitchFamily="34" charset="-122"/>
                <a:cs typeface="Calibri" pitchFamily="34" charset="-120"/>
              </a:rPr>
              <a:t>Alert+Zeek merged</a:t>
            </a:r>
            <a:endParaRPr lang="en-US" sz="950" dirty="0"/>
          </a:p>
        </p:txBody>
      </p:sp>
      <p:sp>
        <p:nvSpPr>
          <p:cNvPr id="58" name="Shape 55"/>
          <p:cNvSpPr/>
          <p:nvPr/>
        </p:nvSpPr>
        <p:spPr>
          <a:xfrm>
            <a:off x="3794760" y="3720790"/>
            <a:ext cx="1572768" cy="822960"/>
          </a:xfrm>
          <a:prstGeom prst="roundRect">
            <a:avLst>
              <a:gd name="adj" fmla="val 6667"/>
            </a:avLst>
          </a:prstGeom>
          <a:solidFill>
            <a:srgbClr val="1F2937"/>
          </a:solidFill>
          <a:ln w="12700">
            <a:solidFill>
              <a:srgbClr val="3FB950"/>
            </a:solidFill>
            <a:prstDash val="solid"/>
          </a:ln>
        </p:spPr>
        <p:txBody>
          <a:bodyPr/>
          <a:lstStyle/>
          <a:p>
            <a:endParaRPr lang="en-US"/>
          </a:p>
        </p:txBody>
      </p:sp>
      <p:sp>
        <p:nvSpPr>
          <p:cNvPr id="59" name="Text 56"/>
          <p:cNvSpPr txBox="1"/>
          <p:nvPr/>
        </p:nvSpPr>
        <p:spPr>
          <a:xfrm>
            <a:off x="3886200" y="3775654"/>
            <a:ext cx="1417320" cy="292608"/>
          </a:xfrm>
          <a:prstGeom prst="rect">
            <a:avLst/>
          </a:prstGeom>
          <a:noFill/>
          <a:ln/>
        </p:spPr>
        <p:txBody>
          <a:bodyPr wrap="square" lIns="0" tIns="0" rIns="0" bIns="0" rtlCol="0" anchor="ctr"/>
          <a:lstStyle/>
          <a:p>
            <a:pPr marL="0" indent="0">
              <a:buNone/>
            </a:pPr>
            <a:r>
              <a:rPr lang="en-US" sz="1000" b="1" dirty="0">
                <a:solidFill>
                  <a:srgbClr val="3FB950"/>
                </a:solidFill>
                <a:latin typeface="Calibri" pitchFamily="34" charset="0"/>
                <a:ea typeface="Calibri" pitchFamily="34" charset="-122"/>
                <a:cs typeface="Calibri" pitchFamily="34" charset="-120"/>
              </a:rPr>
              <a:t>alerts_report.md</a:t>
            </a:r>
            <a:endParaRPr lang="en-US" sz="1000" dirty="0"/>
          </a:p>
        </p:txBody>
      </p:sp>
      <p:sp>
        <p:nvSpPr>
          <p:cNvPr id="60" name="Text 57"/>
          <p:cNvSpPr txBox="1"/>
          <p:nvPr/>
        </p:nvSpPr>
        <p:spPr>
          <a:xfrm>
            <a:off x="3886200" y="4104838"/>
            <a:ext cx="1417320" cy="347472"/>
          </a:xfrm>
          <a:prstGeom prst="rect">
            <a:avLst/>
          </a:prstGeom>
          <a:noFill/>
          <a:ln/>
        </p:spPr>
        <p:txBody>
          <a:bodyPr wrap="square" lIns="0" tIns="0" rIns="0" bIns="0" rtlCol="0" anchor="ctr"/>
          <a:lstStyle/>
          <a:p>
            <a:pPr marL="0" indent="0">
              <a:buNone/>
            </a:pPr>
            <a:r>
              <a:rPr lang="en-US" sz="950" dirty="0">
                <a:solidFill>
                  <a:srgbClr val="8B949E"/>
                </a:solidFill>
                <a:latin typeface="Calibri" pitchFamily="34" charset="0"/>
                <a:ea typeface="Calibri" pitchFamily="34" charset="-122"/>
                <a:cs typeface="Calibri" pitchFamily="34" charset="-120"/>
              </a:rPr>
              <a:t>Per-alert detail</a:t>
            </a:r>
            <a:endParaRPr lang="en-US" sz="950" dirty="0"/>
          </a:p>
        </p:txBody>
      </p:sp>
      <p:sp>
        <p:nvSpPr>
          <p:cNvPr id="61" name="Shape 58"/>
          <p:cNvSpPr/>
          <p:nvPr/>
        </p:nvSpPr>
        <p:spPr>
          <a:xfrm>
            <a:off x="5513832" y="3720790"/>
            <a:ext cx="1572768" cy="822960"/>
          </a:xfrm>
          <a:prstGeom prst="roundRect">
            <a:avLst>
              <a:gd name="adj" fmla="val 6667"/>
            </a:avLst>
          </a:prstGeom>
          <a:solidFill>
            <a:srgbClr val="1F2937"/>
          </a:solidFill>
          <a:ln w="12700">
            <a:solidFill>
              <a:srgbClr val="3FB950"/>
            </a:solidFill>
            <a:prstDash val="solid"/>
          </a:ln>
        </p:spPr>
        <p:txBody>
          <a:bodyPr/>
          <a:lstStyle/>
          <a:p>
            <a:endParaRPr lang="en-US"/>
          </a:p>
        </p:txBody>
      </p:sp>
      <p:sp>
        <p:nvSpPr>
          <p:cNvPr id="62" name="Text 59"/>
          <p:cNvSpPr txBox="1"/>
          <p:nvPr/>
        </p:nvSpPr>
        <p:spPr>
          <a:xfrm>
            <a:off x="5605272" y="3775654"/>
            <a:ext cx="1417320" cy="292608"/>
          </a:xfrm>
          <a:prstGeom prst="rect">
            <a:avLst/>
          </a:prstGeom>
          <a:noFill/>
          <a:ln/>
        </p:spPr>
        <p:txBody>
          <a:bodyPr wrap="square" lIns="0" tIns="0" rIns="0" bIns="0" rtlCol="0" anchor="ctr"/>
          <a:lstStyle/>
          <a:p>
            <a:pPr marL="0" indent="0">
              <a:buNone/>
            </a:pPr>
            <a:r>
              <a:rPr lang="en-US" sz="1000" b="1" dirty="0">
                <a:solidFill>
                  <a:srgbClr val="3FB950"/>
                </a:solidFill>
                <a:latin typeface="Calibri" pitchFamily="34" charset="0"/>
                <a:ea typeface="Calibri" pitchFamily="34" charset="-122"/>
                <a:cs typeface="Calibri" pitchFamily="34" charset="-120"/>
              </a:rPr>
              <a:t>stats_report.md</a:t>
            </a:r>
            <a:endParaRPr lang="en-US" sz="1000" dirty="0"/>
          </a:p>
        </p:txBody>
      </p:sp>
      <p:sp>
        <p:nvSpPr>
          <p:cNvPr id="63" name="Text 60"/>
          <p:cNvSpPr txBox="1"/>
          <p:nvPr/>
        </p:nvSpPr>
        <p:spPr>
          <a:xfrm>
            <a:off x="5605272" y="4104838"/>
            <a:ext cx="1417320" cy="347472"/>
          </a:xfrm>
          <a:prstGeom prst="rect">
            <a:avLst/>
          </a:prstGeom>
          <a:noFill/>
          <a:ln/>
        </p:spPr>
        <p:txBody>
          <a:bodyPr wrap="square" lIns="0" tIns="0" rIns="0" bIns="0" rtlCol="0" anchor="ctr"/>
          <a:lstStyle/>
          <a:p>
            <a:pPr marL="0" indent="0">
              <a:buNone/>
            </a:pPr>
            <a:r>
              <a:rPr lang="en-US" sz="950" dirty="0">
                <a:solidFill>
                  <a:srgbClr val="8B949E"/>
                </a:solidFill>
                <a:latin typeface="Calibri" pitchFamily="34" charset="0"/>
                <a:ea typeface="Calibri" pitchFamily="34" charset="-122"/>
                <a:cs typeface="Calibri" pitchFamily="34" charset="-120"/>
              </a:rPr>
              <a:t>Top-10 tables</a:t>
            </a:r>
            <a:endParaRPr lang="en-US" sz="950" dirty="0"/>
          </a:p>
        </p:txBody>
      </p:sp>
      <p:sp>
        <p:nvSpPr>
          <p:cNvPr id="64" name="Shape 61"/>
          <p:cNvSpPr/>
          <p:nvPr/>
        </p:nvSpPr>
        <p:spPr>
          <a:xfrm>
            <a:off x="7232904" y="3720790"/>
            <a:ext cx="1572768" cy="822960"/>
          </a:xfrm>
          <a:prstGeom prst="roundRect">
            <a:avLst>
              <a:gd name="adj" fmla="val 6667"/>
            </a:avLst>
          </a:prstGeom>
          <a:solidFill>
            <a:srgbClr val="1F2937"/>
          </a:solidFill>
          <a:ln w="12700">
            <a:solidFill>
              <a:srgbClr val="D29922"/>
            </a:solidFill>
            <a:prstDash val="solid"/>
          </a:ln>
        </p:spPr>
        <p:txBody>
          <a:bodyPr/>
          <a:lstStyle/>
          <a:p>
            <a:endParaRPr lang="en-US"/>
          </a:p>
        </p:txBody>
      </p:sp>
      <p:sp>
        <p:nvSpPr>
          <p:cNvPr id="65" name="Text 62"/>
          <p:cNvSpPr txBox="1"/>
          <p:nvPr/>
        </p:nvSpPr>
        <p:spPr>
          <a:xfrm>
            <a:off x="7324344" y="3775654"/>
            <a:ext cx="1417320" cy="292608"/>
          </a:xfrm>
          <a:prstGeom prst="rect">
            <a:avLst/>
          </a:prstGeom>
          <a:noFill/>
          <a:ln/>
        </p:spPr>
        <p:txBody>
          <a:bodyPr wrap="square" lIns="0" tIns="0" rIns="0" bIns="0" rtlCol="0" anchor="ctr"/>
          <a:lstStyle/>
          <a:p>
            <a:pPr marL="0" indent="0">
              <a:buNone/>
            </a:pPr>
            <a:r>
              <a:rPr lang="en-US" sz="1000" b="1" dirty="0">
                <a:solidFill>
                  <a:srgbClr val="D29922"/>
                </a:solidFill>
                <a:latin typeface="Calibri" pitchFamily="34" charset="0"/>
                <a:ea typeface="Calibri" pitchFamily="34" charset="-122"/>
                <a:cs typeface="Calibri" pitchFamily="34" charset="-120"/>
              </a:rPr>
              <a:t>FINAL_REPORT.md</a:t>
            </a:r>
            <a:endParaRPr lang="en-US" sz="1000" dirty="0"/>
          </a:p>
        </p:txBody>
      </p:sp>
      <p:sp>
        <p:nvSpPr>
          <p:cNvPr id="66" name="Text 63"/>
          <p:cNvSpPr txBox="1"/>
          <p:nvPr/>
        </p:nvSpPr>
        <p:spPr>
          <a:xfrm>
            <a:off x="7324344" y="4104838"/>
            <a:ext cx="1417320" cy="347472"/>
          </a:xfrm>
          <a:prstGeom prst="rect">
            <a:avLst/>
          </a:prstGeom>
          <a:noFill/>
          <a:ln/>
        </p:spPr>
        <p:txBody>
          <a:bodyPr wrap="square" lIns="0" tIns="0" rIns="0" bIns="0" rtlCol="0" anchor="ctr"/>
          <a:lstStyle/>
          <a:p>
            <a:pPr marL="0" indent="0">
              <a:buNone/>
            </a:pPr>
            <a:r>
              <a:rPr lang="en-US" sz="950" dirty="0">
                <a:solidFill>
                  <a:srgbClr val="8B949E"/>
                </a:solidFill>
                <a:latin typeface="Calibri" pitchFamily="34" charset="0"/>
                <a:ea typeface="Calibri" pitchFamily="34" charset="-122"/>
                <a:cs typeface="Calibri" pitchFamily="34" charset="-120"/>
              </a:rPr>
              <a:t>Combined analyst doc</a:t>
            </a:r>
            <a:endParaRPr lang="en-US" sz="950" dirty="0"/>
          </a:p>
        </p:txBody>
      </p:sp>
      <p:sp>
        <p:nvSpPr>
          <p:cNvPr id="69" name="Shape 65"/>
          <p:cNvSpPr/>
          <p:nvPr/>
        </p:nvSpPr>
        <p:spPr>
          <a:xfrm>
            <a:off x="0" y="5106924"/>
            <a:ext cx="9144000" cy="36576"/>
          </a:xfrm>
          <a:prstGeom prst="rect">
            <a:avLst/>
          </a:prstGeom>
          <a:solidFill>
            <a:srgbClr val="3FB950"/>
          </a:solidFill>
          <a:ln/>
        </p:spPr>
        <p:txBody>
          <a:bodyPr/>
          <a:lstStyle/>
          <a:p>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Shape 0"/>
          <p:cNvSpPr/>
          <p:nvPr/>
        </p:nvSpPr>
        <p:spPr>
          <a:xfrm>
            <a:off x="0" y="0"/>
            <a:ext cx="9144000" cy="5143500"/>
          </a:xfrm>
          <a:prstGeom prst="rect">
            <a:avLst/>
          </a:prstGeom>
          <a:solidFill>
            <a:srgbClr val="0D1117"/>
          </a:solidFill>
          <a:ln/>
        </p:spPr>
        <p:txBody>
          <a:bodyPr/>
          <a:lstStyle/>
          <a:p>
            <a:endParaRPr lang="en-US"/>
          </a:p>
        </p:txBody>
      </p:sp>
      <p:sp>
        <p:nvSpPr>
          <p:cNvPr id="4" name="Shape 1"/>
          <p:cNvSpPr/>
          <p:nvPr/>
        </p:nvSpPr>
        <p:spPr>
          <a:xfrm>
            <a:off x="0" y="0"/>
            <a:ext cx="9144000" cy="36576"/>
          </a:xfrm>
          <a:prstGeom prst="rect">
            <a:avLst/>
          </a:prstGeom>
          <a:solidFill>
            <a:srgbClr val="D29922"/>
          </a:solidFill>
          <a:ln/>
        </p:spPr>
        <p:txBody>
          <a:bodyPr/>
          <a:lstStyle/>
          <a:p>
            <a:endParaRPr lang="en-US"/>
          </a:p>
        </p:txBody>
      </p:sp>
      <p:sp>
        <p:nvSpPr>
          <p:cNvPr id="5" name="Text 2"/>
          <p:cNvSpPr txBox="1"/>
          <p:nvPr/>
        </p:nvSpPr>
        <p:spPr>
          <a:xfrm>
            <a:off x="457200" y="201168"/>
            <a:ext cx="8229600" cy="237744"/>
          </a:xfrm>
          <a:prstGeom prst="rect">
            <a:avLst/>
          </a:prstGeom>
          <a:noFill/>
          <a:ln/>
        </p:spPr>
        <p:txBody>
          <a:bodyPr wrap="square" lIns="0" tIns="0" rIns="0" bIns="0" rtlCol="0" anchor="ctr"/>
          <a:lstStyle/>
          <a:p>
            <a:pPr marL="0" indent="0">
              <a:buNone/>
            </a:pPr>
            <a:r>
              <a:rPr lang="en-US" sz="1000" b="1" kern="0" spc="300" dirty="0">
                <a:solidFill>
                  <a:srgbClr val="D29922"/>
                </a:solidFill>
                <a:latin typeface="Calibri" pitchFamily="34" charset="0"/>
                <a:ea typeface="Calibri" pitchFamily="34" charset="-122"/>
                <a:cs typeface="Calibri" pitchFamily="34" charset="-120"/>
              </a:rPr>
              <a:t>TOOL EXPLAINER</a:t>
            </a:r>
            <a:endParaRPr lang="en-US" sz="1000" dirty="0"/>
          </a:p>
        </p:txBody>
      </p:sp>
      <p:sp>
        <p:nvSpPr>
          <p:cNvPr id="6" name="Text 3"/>
          <p:cNvSpPr txBox="1"/>
          <p:nvPr/>
        </p:nvSpPr>
        <p:spPr>
          <a:xfrm>
            <a:off x="457200" y="502920"/>
            <a:ext cx="5486400" cy="502920"/>
          </a:xfrm>
          <a:prstGeom prst="rect">
            <a:avLst/>
          </a:prstGeom>
          <a:noFill/>
          <a:ln/>
        </p:spPr>
        <p:txBody>
          <a:bodyPr wrap="square" lIns="0" tIns="0" rIns="0" bIns="0" rtlCol="0" anchor="ctr"/>
          <a:lstStyle/>
          <a:p>
            <a:pPr marL="0" indent="0">
              <a:buNone/>
            </a:pPr>
            <a:r>
              <a:rPr lang="en-US" sz="2800" b="1" dirty="0">
                <a:solidFill>
                  <a:srgbClr val="E6EDF3"/>
                </a:solidFill>
                <a:latin typeface="Calibri" pitchFamily="34" charset="0"/>
                <a:ea typeface="Calibri" pitchFamily="34" charset="-122"/>
                <a:cs typeface="Calibri" pitchFamily="34" charset="-120"/>
              </a:rPr>
              <a:t>What is Suricata?</a:t>
            </a:r>
            <a:endParaRPr lang="en-US" sz="2800" dirty="0"/>
          </a:p>
        </p:txBody>
      </p:sp>
      <p:sp>
        <p:nvSpPr>
          <p:cNvPr id="7" name="Shape 4"/>
          <p:cNvSpPr/>
          <p:nvPr/>
        </p:nvSpPr>
        <p:spPr>
          <a:xfrm>
            <a:off x="6583680" y="566928"/>
            <a:ext cx="2103120" cy="329184"/>
          </a:xfrm>
          <a:prstGeom prst="roundRect">
            <a:avLst>
              <a:gd name="adj" fmla="val 16667"/>
            </a:avLst>
          </a:prstGeom>
          <a:solidFill>
            <a:srgbClr val="1F2937"/>
          </a:solidFill>
          <a:ln w="12700">
            <a:solidFill>
              <a:srgbClr val="D29922"/>
            </a:solidFill>
            <a:prstDash val="solid"/>
          </a:ln>
        </p:spPr>
        <p:txBody>
          <a:bodyPr/>
          <a:lstStyle/>
          <a:p>
            <a:endParaRPr lang="en-US"/>
          </a:p>
        </p:txBody>
      </p:sp>
      <p:sp>
        <p:nvSpPr>
          <p:cNvPr id="8" name="Text 5"/>
          <p:cNvSpPr txBox="1"/>
          <p:nvPr/>
        </p:nvSpPr>
        <p:spPr>
          <a:xfrm>
            <a:off x="6583680" y="566928"/>
            <a:ext cx="2103120" cy="329184"/>
          </a:xfrm>
          <a:prstGeom prst="rect">
            <a:avLst/>
          </a:prstGeom>
          <a:noFill/>
          <a:ln/>
        </p:spPr>
        <p:txBody>
          <a:bodyPr wrap="square" lIns="0" tIns="0" rIns="0" bIns="0" rtlCol="0" anchor="ctr"/>
          <a:lstStyle/>
          <a:p>
            <a:pPr marL="0" indent="0" algn="ctr">
              <a:buNone/>
            </a:pPr>
            <a:r>
              <a:rPr lang="en-US" sz="1100" b="1" dirty="0">
                <a:solidFill>
                  <a:srgbClr val="D29922"/>
                </a:solidFill>
                <a:latin typeface="Calibri" pitchFamily="34" charset="0"/>
                <a:ea typeface="Calibri" pitchFamily="34" charset="-122"/>
                <a:cs typeface="Calibri" pitchFamily="34" charset="-120"/>
              </a:rPr>
              <a:t>IDS / IPS Engine</a:t>
            </a:r>
            <a:endParaRPr lang="en-US" sz="1100" dirty="0"/>
          </a:p>
        </p:txBody>
      </p:sp>
      <p:sp>
        <p:nvSpPr>
          <p:cNvPr id="9" name="Shape 6"/>
          <p:cNvSpPr/>
          <p:nvPr/>
        </p:nvSpPr>
        <p:spPr>
          <a:xfrm>
            <a:off x="365760" y="1143000"/>
            <a:ext cx="5029200" cy="3520440"/>
          </a:xfrm>
          <a:prstGeom prst="roundRect">
            <a:avLst>
              <a:gd name="adj" fmla="val 2078"/>
            </a:avLst>
          </a:prstGeom>
          <a:solidFill>
            <a:srgbClr val="1F2937"/>
          </a:solidFill>
          <a:ln w="12700">
            <a:solidFill>
              <a:srgbClr val="30363D"/>
            </a:solidFill>
            <a:prstDash val="solid"/>
          </a:ln>
        </p:spPr>
        <p:txBody>
          <a:bodyPr/>
          <a:lstStyle/>
          <a:p>
            <a:endParaRPr lang="en-US"/>
          </a:p>
        </p:txBody>
      </p:sp>
      <p:sp>
        <p:nvSpPr>
          <p:cNvPr id="10" name="Text 7"/>
          <p:cNvSpPr txBox="1"/>
          <p:nvPr/>
        </p:nvSpPr>
        <p:spPr>
          <a:xfrm>
            <a:off x="594360" y="1261872"/>
            <a:ext cx="4572000" cy="274320"/>
          </a:xfrm>
          <a:prstGeom prst="rect">
            <a:avLst/>
          </a:prstGeom>
          <a:noFill/>
          <a:ln/>
        </p:spPr>
        <p:txBody>
          <a:bodyPr wrap="square" lIns="0" tIns="0" rIns="0" bIns="0" rtlCol="0" anchor="ctr"/>
          <a:lstStyle/>
          <a:p>
            <a:pPr marL="0" indent="0">
              <a:buNone/>
            </a:pPr>
            <a:r>
              <a:rPr lang="en-US" sz="1300" b="1" dirty="0">
                <a:solidFill>
                  <a:srgbClr val="D29922"/>
                </a:solidFill>
                <a:latin typeface="Calibri" pitchFamily="34" charset="0"/>
                <a:ea typeface="Calibri" pitchFamily="34" charset="-122"/>
                <a:cs typeface="Calibri" pitchFamily="34" charset="-120"/>
              </a:rPr>
              <a:t>What it is</a:t>
            </a:r>
            <a:endParaRPr lang="en-US" sz="1300" dirty="0"/>
          </a:p>
        </p:txBody>
      </p:sp>
      <p:sp>
        <p:nvSpPr>
          <p:cNvPr id="11" name="Text 8"/>
          <p:cNvSpPr txBox="1"/>
          <p:nvPr/>
        </p:nvSpPr>
        <p:spPr>
          <a:xfrm>
            <a:off x="594360" y="1572768"/>
            <a:ext cx="4572000" cy="822960"/>
          </a:xfrm>
          <a:prstGeom prst="rect">
            <a:avLst/>
          </a:prstGeom>
          <a:noFill/>
          <a:ln/>
        </p:spPr>
        <p:txBody>
          <a:bodyPr wrap="square" lIns="0" tIns="0" rIns="0" bIns="0" rtlCol="0" anchor="ctr"/>
          <a:lstStyle/>
          <a:p>
            <a:pPr marL="0" indent="0">
              <a:buNone/>
            </a:pPr>
            <a:r>
              <a:rPr lang="en-US" sz="1100" dirty="0">
                <a:solidFill>
                  <a:srgbClr val="8B949E"/>
                </a:solidFill>
                <a:latin typeface="Calibri" pitchFamily="34" charset="0"/>
                <a:ea typeface="Calibri" pitchFamily="34" charset="-122"/>
                <a:cs typeface="Calibri" pitchFamily="34" charset="-120"/>
              </a:rPr>
              <a:t>Suricata is a free, open-source Intrusion Detection System (IDS) and Intrusion Prevention System (IPS) engine maintained by the Open Information Security Foundation (OISF). It inspects network traffic — from a live interface or a PCAP file — against a ruleset of known attack signatures.</a:t>
            </a:r>
            <a:endParaRPr lang="en-US" sz="1100" dirty="0"/>
          </a:p>
        </p:txBody>
      </p:sp>
      <p:sp>
        <p:nvSpPr>
          <p:cNvPr id="12" name="Text 9"/>
          <p:cNvSpPr txBox="1"/>
          <p:nvPr/>
        </p:nvSpPr>
        <p:spPr>
          <a:xfrm>
            <a:off x="594360" y="2468880"/>
            <a:ext cx="4572000" cy="274320"/>
          </a:xfrm>
          <a:prstGeom prst="rect">
            <a:avLst/>
          </a:prstGeom>
          <a:noFill/>
          <a:ln/>
        </p:spPr>
        <p:txBody>
          <a:bodyPr wrap="square" lIns="0" tIns="0" rIns="0" bIns="0" rtlCol="0" anchor="ctr"/>
          <a:lstStyle/>
          <a:p>
            <a:pPr marL="0" indent="0">
              <a:buNone/>
            </a:pPr>
            <a:r>
              <a:rPr lang="en-US" sz="1300" b="1" dirty="0">
                <a:solidFill>
                  <a:srgbClr val="D29922"/>
                </a:solidFill>
                <a:latin typeface="Calibri" pitchFamily="34" charset="0"/>
                <a:ea typeface="Calibri" pitchFamily="34" charset="-122"/>
                <a:cs typeface="Calibri" pitchFamily="34" charset="-120"/>
              </a:rPr>
              <a:t>How it works in this pipeline</a:t>
            </a:r>
            <a:endParaRPr lang="en-US" sz="1300" dirty="0"/>
          </a:p>
        </p:txBody>
      </p:sp>
      <p:sp>
        <p:nvSpPr>
          <p:cNvPr id="13" name="Text 10"/>
          <p:cNvSpPr txBox="1"/>
          <p:nvPr/>
        </p:nvSpPr>
        <p:spPr>
          <a:xfrm>
            <a:off x="658368" y="2816352"/>
            <a:ext cx="4389120" cy="292608"/>
          </a:xfrm>
          <a:prstGeom prst="rect">
            <a:avLst/>
          </a:prstGeom>
          <a:noFill/>
          <a:ln/>
        </p:spPr>
        <p:txBody>
          <a:bodyPr wrap="square" lIns="0" tIns="0" rIns="0" bIns="0" rtlCol="0" anchor="ctr"/>
          <a:lstStyle/>
          <a:p>
            <a:pPr marL="0" indent="0">
              <a:buNone/>
            </a:pPr>
            <a:r>
              <a:rPr lang="en-US" sz="1100" dirty="0">
                <a:solidFill>
                  <a:srgbClr val="E6EDF3"/>
                </a:solidFill>
                <a:latin typeface="Calibri" pitchFamily="34" charset="0"/>
                <a:ea typeface="Calibri" pitchFamily="34" charset="-122"/>
                <a:cs typeface="Calibri" pitchFamily="34" charset="-120"/>
              </a:rPr>
              <a:t>1. Reads the PCAP file from TODO/</a:t>
            </a:r>
            <a:endParaRPr lang="en-US" sz="1100" dirty="0"/>
          </a:p>
        </p:txBody>
      </p:sp>
      <p:sp>
        <p:nvSpPr>
          <p:cNvPr id="14" name="Text 11"/>
          <p:cNvSpPr txBox="1"/>
          <p:nvPr/>
        </p:nvSpPr>
        <p:spPr>
          <a:xfrm>
            <a:off x="658368" y="3163824"/>
            <a:ext cx="4389120" cy="292608"/>
          </a:xfrm>
          <a:prstGeom prst="rect">
            <a:avLst/>
          </a:prstGeom>
          <a:noFill/>
          <a:ln/>
        </p:spPr>
        <p:txBody>
          <a:bodyPr wrap="square" lIns="0" tIns="0" rIns="0" bIns="0" rtlCol="0" anchor="ctr"/>
          <a:lstStyle/>
          <a:p>
            <a:pPr marL="0" indent="0">
              <a:buNone/>
            </a:pPr>
            <a:r>
              <a:rPr lang="en-US" sz="1100" dirty="0">
                <a:solidFill>
                  <a:srgbClr val="E6EDF3"/>
                </a:solidFill>
                <a:latin typeface="Calibri" pitchFamily="34" charset="0"/>
                <a:ea typeface="Calibri" pitchFamily="34" charset="-122"/>
                <a:cs typeface="Calibri" pitchFamily="34" charset="-120"/>
              </a:rPr>
              <a:t>2. Matches every packet against ET Open ruleset</a:t>
            </a:r>
            <a:endParaRPr lang="en-US" sz="1100" dirty="0"/>
          </a:p>
        </p:txBody>
      </p:sp>
      <p:sp>
        <p:nvSpPr>
          <p:cNvPr id="15" name="Text 12"/>
          <p:cNvSpPr txBox="1"/>
          <p:nvPr/>
        </p:nvSpPr>
        <p:spPr>
          <a:xfrm>
            <a:off x="658368" y="3511296"/>
            <a:ext cx="4389120" cy="292608"/>
          </a:xfrm>
          <a:prstGeom prst="rect">
            <a:avLst/>
          </a:prstGeom>
          <a:noFill/>
          <a:ln/>
        </p:spPr>
        <p:txBody>
          <a:bodyPr wrap="square" lIns="0" tIns="0" rIns="0" bIns="0" rtlCol="0" anchor="ctr"/>
          <a:lstStyle/>
          <a:p>
            <a:pPr marL="0" indent="0">
              <a:buNone/>
            </a:pPr>
            <a:r>
              <a:rPr lang="en-US" sz="1100" dirty="0">
                <a:solidFill>
                  <a:srgbClr val="E6EDF3"/>
                </a:solidFill>
                <a:latin typeface="Calibri" pitchFamily="34" charset="0"/>
                <a:ea typeface="Calibri" pitchFamily="34" charset="-122"/>
                <a:cs typeface="Calibri" pitchFamily="34" charset="-120"/>
              </a:rPr>
              <a:t>3. Each match creates an alert event in JSON</a:t>
            </a:r>
            <a:endParaRPr lang="en-US" sz="1100" dirty="0"/>
          </a:p>
        </p:txBody>
      </p:sp>
      <p:sp>
        <p:nvSpPr>
          <p:cNvPr id="16" name="Text 13"/>
          <p:cNvSpPr txBox="1"/>
          <p:nvPr/>
        </p:nvSpPr>
        <p:spPr>
          <a:xfrm>
            <a:off x="658368" y="3858768"/>
            <a:ext cx="4389120" cy="292608"/>
          </a:xfrm>
          <a:prstGeom prst="rect">
            <a:avLst/>
          </a:prstGeom>
          <a:noFill/>
          <a:ln/>
        </p:spPr>
        <p:txBody>
          <a:bodyPr wrap="square" lIns="0" tIns="0" rIns="0" bIns="0" rtlCol="0" anchor="ctr"/>
          <a:lstStyle/>
          <a:p>
            <a:pPr marL="0" indent="0">
              <a:buNone/>
            </a:pPr>
            <a:r>
              <a:rPr lang="en-US" sz="1100" dirty="0">
                <a:solidFill>
                  <a:srgbClr val="E6EDF3"/>
                </a:solidFill>
                <a:latin typeface="Calibri" pitchFamily="34" charset="0"/>
                <a:ea typeface="Calibri" pitchFamily="34" charset="-122"/>
                <a:cs typeface="Calibri" pitchFamily="34" charset="-120"/>
              </a:rPr>
              <a:t>4. All events written to eve.json (unified output)</a:t>
            </a:r>
            <a:endParaRPr lang="en-US" sz="1100" dirty="0"/>
          </a:p>
        </p:txBody>
      </p:sp>
      <p:sp>
        <p:nvSpPr>
          <p:cNvPr id="17" name="Text 14"/>
          <p:cNvSpPr txBox="1"/>
          <p:nvPr/>
        </p:nvSpPr>
        <p:spPr>
          <a:xfrm>
            <a:off x="658368" y="4206240"/>
            <a:ext cx="4389120" cy="292608"/>
          </a:xfrm>
          <a:prstGeom prst="rect">
            <a:avLst/>
          </a:prstGeom>
          <a:noFill/>
          <a:ln/>
        </p:spPr>
        <p:txBody>
          <a:bodyPr wrap="square" lIns="0" tIns="0" rIns="0" bIns="0" rtlCol="0" anchor="ctr"/>
          <a:lstStyle/>
          <a:p>
            <a:pPr marL="0" indent="0">
              <a:buNone/>
            </a:pPr>
            <a:r>
              <a:rPr lang="en-US" sz="1100" dirty="0">
                <a:solidFill>
                  <a:srgbClr val="E6EDF3"/>
                </a:solidFill>
                <a:latin typeface="Calibri" pitchFamily="34" charset="0"/>
                <a:ea typeface="Calibri" pitchFamily="34" charset="-122"/>
                <a:cs typeface="Calibri" pitchFamily="34" charset="-120"/>
              </a:rPr>
              <a:t>5. Ansible role verifies eve.json exists before next step</a:t>
            </a:r>
            <a:endParaRPr lang="en-US" sz="1100" dirty="0"/>
          </a:p>
        </p:txBody>
      </p:sp>
      <p:sp>
        <p:nvSpPr>
          <p:cNvPr id="18" name="Shape 15"/>
          <p:cNvSpPr/>
          <p:nvPr/>
        </p:nvSpPr>
        <p:spPr>
          <a:xfrm>
            <a:off x="5577840" y="1143000"/>
            <a:ext cx="3200400" cy="3520440"/>
          </a:xfrm>
          <a:prstGeom prst="roundRect">
            <a:avLst>
              <a:gd name="adj" fmla="val 2286"/>
            </a:avLst>
          </a:prstGeom>
          <a:solidFill>
            <a:srgbClr val="161B22"/>
          </a:solidFill>
          <a:ln w="12700">
            <a:solidFill>
              <a:srgbClr val="30363D"/>
            </a:solidFill>
            <a:prstDash val="solid"/>
          </a:ln>
        </p:spPr>
        <p:txBody>
          <a:bodyPr/>
          <a:lstStyle/>
          <a:p>
            <a:endParaRPr lang="en-US"/>
          </a:p>
        </p:txBody>
      </p:sp>
      <p:sp>
        <p:nvSpPr>
          <p:cNvPr id="19" name="Text 16"/>
          <p:cNvSpPr txBox="1"/>
          <p:nvPr/>
        </p:nvSpPr>
        <p:spPr>
          <a:xfrm>
            <a:off x="5760720" y="1261872"/>
            <a:ext cx="2834640" cy="256032"/>
          </a:xfrm>
          <a:prstGeom prst="rect">
            <a:avLst/>
          </a:prstGeom>
          <a:noFill/>
          <a:ln/>
        </p:spPr>
        <p:txBody>
          <a:bodyPr wrap="square" lIns="0" tIns="0" rIns="0" bIns="0" rtlCol="0" anchor="ctr"/>
          <a:lstStyle/>
          <a:p>
            <a:pPr marL="0" indent="0">
              <a:buNone/>
            </a:pPr>
            <a:r>
              <a:rPr lang="en-US" sz="1200" b="1" dirty="0">
                <a:solidFill>
                  <a:srgbClr val="D29922"/>
                </a:solidFill>
                <a:latin typeface="Calibri" pitchFamily="34" charset="0"/>
                <a:ea typeface="Calibri" pitchFamily="34" charset="-122"/>
                <a:cs typeface="Calibri" pitchFamily="34" charset="-120"/>
              </a:rPr>
              <a:t>eve.json — key fields</a:t>
            </a:r>
            <a:endParaRPr lang="en-US" sz="1200" dirty="0"/>
          </a:p>
        </p:txBody>
      </p:sp>
      <p:sp>
        <p:nvSpPr>
          <p:cNvPr id="20" name="Text 17"/>
          <p:cNvSpPr txBox="1"/>
          <p:nvPr/>
        </p:nvSpPr>
        <p:spPr>
          <a:xfrm>
            <a:off x="5760720" y="1627632"/>
            <a:ext cx="1737360" cy="274320"/>
          </a:xfrm>
          <a:prstGeom prst="rect">
            <a:avLst/>
          </a:prstGeom>
          <a:noFill/>
          <a:ln/>
        </p:spPr>
        <p:txBody>
          <a:bodyPr wrap="square" lIns="0" tIns="0" rIns="0" bIns="0" rtlCol="0" anchor="ctr"/>
          <a:lstStyle/>
          <a:p>
            <a:pPr marL="0" indent="0">
              <a:buNone/>
            </a:pPr>
            <a:r>
              <a:rPr lang="en-US" sz="950" dirty="0">
                <a:solidFill>
                  <a:srgbClr val="58A6FF"/>
                </a:solidFill>
                <a:latin typeface="Courier New" pitchFamily="34" charset="0"/>
                <a:ea typeface="Courier New" pitchFamily="34" charset="-122"/>
                <a:cs typeface="Courier New" pitchFamily="34" charset="-120"/>
              </a:rPr>
              <a:t>timestamp</a:t>
            </a:r>
            <a:endParaRPr lang="en-US" sz="950" dirty="0"/>
          </a:p>
        </p:txBody>
      </p:sp>
      <p:sp>
        <p:nvSpPr>
          <p:cNvPr id="21" name="Text 18"/>
          <p:cNvSpPr txBox="1"/>
          <p:nvPr/>
        </p:nvSpPr>
        <p:spPr>
          <a:xfrm>
            <a:off x="7479792" y="1627632"/>
            <a:ext cx="1188720" cy="274320"/>
          </a:xfrm>
          <a:prstGeom prst="rect">
            <a:avLst/>
          </a:prstGeom>
          <a:noFill/>
          <a:ln/>
        </p:spPr>
        <p:txBody>
          <a:bodyPr wrap="square" lIns="0" tIns="0" rIns="0" bIns="0" rtlCol="0" anchor="ctr"/>
          <a:lstStyle/>
          <a:p>
            <a:pPr marL="0" indent="0">
              <a:buNone/>
            </a:pPr>
            <a:r>
              <a:rPr lang="en-US" sz="950" dirty="0">
                <a:solidFill>
                  <a:srgbClr val="8B949E"/>
                </a:solidFill>
                <a:latin typeface="Calibri" pitchFamily="34" charset="0"/>
                <a:ea typeface="Calibri" pitchFamily="34" charset="-122"/>
                <a:cs typeface="Calibri" pitchFamily="34" charset="-120"/>
              </a:rPr>
              <a:t>ISO-8601 alert time</a:t>
            </a:r>
            <a:endParaRPr lang="en-US" sz="950" dirty="0"/>
          </a:p>
        </p:txBody>
      </p:sp>
      <p:sp>
        <p:nvSpPr>
          <p:cNvPr id="22" name="Text 19"/>
          <p:cNvSpPr txBox="1"/>
          <p:nvPr/>
        </p:nvSpPr>
        <p:spPr>
          <a:xfrm>
            <a:off x="5760720" y="1975104"/>
            <a:ext cx="1737360" cy="274320"/>
          </a:xfrm>
          <a:prstGeom prst="rect">
            <a:avLst/>
          </a:prstGeom>
          <a:noFill/>
          <a:ln/>
        </p:spPr>
        <p:txBody>
          <a:bodyPr wrap="square" lIns="0" tIns="0" rIns="0" bIns="0" rtlCol="0" anchor="ctr"/>
          <a:lstStyle/>
          <a:p>
            <a:pPr marL="0" indent="0">
              <a:buNone/>
            </a:pPr>
            <a:r>
              <a:rPr lang="en-US" sz="950" dirty="0">
                <a:solidFill>
                  <a:srgbClr val="58A6FF"/>
                </a:solidFill>
                <a:latin typeface="Courier New" pitchFamily="34" charset="0"/>
                <a:ea typeface="Courier New" pitchFamily="34" charset="-122"/>
                <a:cs typeface="Courier New" pitchFamily="34" charset="-120"/>
              </a:rPr>
              <a:t>event_type</a:t>
            </a:r>
            <a:endParaRPr lang="en-US" sz="950" dirty="0"/>
          </a:p>
        </p:txBody>
      </p:sp>
      <p:sp>
        <p:nvSpPr>
          <p:cNvPr id="23" name="Text 20"/>
          <p:cNvSpPr txBox="1"/>
          <p:nvPr/>
        </p:nvSpPr>
        <p:spPr>
          <a:xfrm>
            <a:off x="7479792" y="1975104"/>
            <a:ext cx="1188720" cy="274320"/>
          </a:xfrm>
          <a:prstGeom prst="rect">
            <a:avLst/>
          </a:prstGeom>
          <a:noFill/>
          <a:ln/>
        </p:spPr>
        <p:txBody>
          <a:bodyPr wrap="square" lIns="0" tIns="0" rIns="0" bIns="0" rtlCol="0" anchor="ctr"/>
          <a:lstStyle/>
          <a:p>
            <a:pPr marL="0" indent="0">
              <a:buNone/>
            </a:pPr>
            <a:r>
              <a:rPr lang="en-US" sz="950" dirty="0">
                <a:solidFill>
                  <a:srgbClr val="8B949E"/>
                </a:solidFill>
                <a:latin typeface="Calibri" pitchFamily="34" charset="0"/>
                <a:ea typeface="Calibri" pitchFamily="34" charset="-122"/>
                <a:cs typeface="Calibri" pitchFamily="34" charset="-120"/>
              </a:rPr>
              <a:t>"alert"</a:t>
            </a:r>
            <a:endParaRPr lang="en-US" sz="950" dirty="0"/>
          </a:p>
        </p:txBody>
      </p:sp>
      <p:sp>
        <p:nvSpPr>
          <p:cNvPr id="24" name="Text 21"/>
          <p:cNvSpPr txBox="1"/>
          <p:nvPr/>
        </p:nvSpPr>
        <p:spPr>
          <a:xfrm>
            <a:off x="5760720" y="2322576"/>
            <a:ext cx="1737360" cy="274320"/>
          </a:xfrm>
          <a:prstGeom prst="rect">
            <a:avLst/>
          </a:prstGeom>
          <a:noFill/>
          <a:ln/>
        </p:spPr>
        <p:txBody>
          <a:bodyPr wrap="square" lIns="0" tIns="0" rIns="0" bIns="0" rtlCol="0" anchor="ctr"/>
          <a:lstStyle/>
          <a:p>
            <a:pPr marL="0" indent="0">
              <a:buNone/>
            </a:pPr>
            <a:r>
              <a:rPr lang="en-US" sz="950" dirty="0">
                <a:solidFill>
                  <a:srgbClr val="58A6FF"/>
                </a:solidFill>
                <a:latin typeface="Courier New" pitchFamily="34" charset="0"/>
                <a:ea typeface="Courier New" pitchFamily="34" charset="-122"/>
                <a:cs typeface="Courier New" pitchFamily="34" charset="-120"/>
              </a:rPr>
              <a:t>src_ip / dest_ip</a:t>
            </a:r>
            <a:endParaRPr lang="en-US" sz="950" dirty="0"/>
          </a:p>
        </p:txBody>
      </p:sp>
      <p:sp>
        <p:nvSpPr>
          <p:cNvPr id="25" name="Text 22"/>
          <p:cNvSpPr txBox="1"/>
          <p:nvPr/>
        </p:nvSpPr>
        <p:spPr>
          <a:xfrm>
            <a:off x="7479792" y="2322576"/>
            <a:ext cx="1188720" cy="274320"/>
          </a:xfrm>
          <a:prstGeom prst="rect">
            <a:avLst/>
          </a:prstGeom>
          <a:noFill/>
          <a:ln/>
        </p:spPr>
        <p:txBody>
          <a:bodyPr wrap="square" lIns="0" tIns="0" rIns="0" bIns="0" rtlCol="0" anchor="ctr"/>
          <a:lstStyle/>
          <a:p>
            <a:pPr marL="0" indent="0">
              <a:buNone/>
            </a:pPr>
            <a:r>
              <a:rPr lang="en-US" sz="950" dirty="0">
                <a:solidFill>
                  <a:srgbClr val="8B949E"/>
                </a:solidFill>
                <a:latin typeface="Calibri" pitchFamily="34" charset="0"/>
                <a:ea typeface="Calibri" pitchFamily="34" charset="-122"/>
                <a:cs typeface="Calibri" pitchFamily="34" charset="-120"/>
              </a:rPr>
              <a:t>Source &amp; destination</a:t>
            </a:r>
            <a:endParaRPr lang="en-US" sz="950" dirty="0"/>
          </a:p>
        </p:txBody>
      </p:sp>
      <p:sp>
        <p:nvSpPr>
          <p:cNvPr id="26" name="Text 23"/>
          <p:cNvSpPr txBox="1"/>
          <p:nvPr/>
        </p:nvSpPr>
        <p:spPr>
          <a:xfrm>
            <a:off x="5760720" y="2670048"/>
            <a:ext cx="1737360" cy="274320"/>
          </a:xfrm>
          <a:prstGeom prst="rect">
            <a:avLst/>
          </a:prstGeom>
          <a:noFill/>
          <a:ln/>
        </p:spPr>
        <p:txBody>
          <a:bodyPr wrap="square" lIns="0" tIns="0" rIns="0" bIns="0" rtlCol="0" anchor="ctr"/>
          <a:lstStyle/>
          <a:p>
            <a:pPr marL="0" indent="0">
              <a:buNone/>
            </a:pPr>
            <a:r>
              <a:rPr lang="en-US" sz="950" dirty="0">
                <a:solidFill>
                  <a:srgbClr val="58A6FF"/>
                </a:solidFill>
                <a:latin typeface="Courier New" pitchFamily="34" charset="0"/>
                <a:ea typeface="Courier New" pitchFamily="34" charset="-122"/>
                <a:cs typeface="Courier New" pitchFamily="34" charset="-120"/>
              </a:rPr>
              <a:t>src_port / dest_port</a:t>
            </a:r>
            <a:endParaRPr lang="en-US" sz="950" dirty="0"/>
          </a:p>
        </p:txBody>
      </p:sp>
      <p:sp>
        <p:nvSpPr>
          <p:cNvPr id="27" name="Text 24"/>
          <p:cNvSpPr txBox="1"/>
          <p:nvPr/>
        </p:nvSpPr>
        <p:spPr>
          <a:xfrm>
            <a:off x="7479792" y="2670048"/>
            <a:ext cx="1188720" cy="274320"/>
          </a:xfrm>
          <a:prstGeom prst="rect">
            <a:avLst/>
          </a:prstGeom>
          <a:noFill/>
          <a:ln/>
        </p:spPr>
        <p:txBody>
          <a:bodyPr wrap="square" lIns="0" tIns="0" rIns="0" bIns="0" rtlCol="0" anchor="ctr"/>
          <a:lstStyle/>
          <a:p>
            <a:pPr marL="0" indent="0">
              <a:buNone/>
            </a:pPr>
            <a:r>
              <a:rPr lang="en-US" sz="950" dirty="0">
                <a:solidFill>
                  <a:srgbClr val="8B949E"/>
                </a:solidFill>
                <a:latin typeface="Calibri" pitchFamily="34" charset="0"/>
                <a:ea typeface="Calibri" pitchFamily="34" charset="-122"/>
                <a:cs typeface="Calibri" pitchFamily="34" charset="-120"/>
              </a:rPr>
              <a:t>Port pair</a:t>
            </a:r>
            <a:endParaRPr lang="en-US" sz="950" dirty="0"/>
          </a:p>
        </p:txBody>
      </p:sp>
      <p:sp>
        <p:nvSpPr>
          <p:cNvPr id="28" name="Text 25"/>
          <p:cNvSpPr txBox="1"/>
          <p:nvPr/>
        </p:nvSpPr>
        <p:spPr>
          <a:xfrm>
            <a:off x="5760720" y="3017520"/>
            <a:ext cx="1737360" cy="274320"/>
          </a:xfrm>
          <a:prstGeom prst="rect">
            <a:avLst/>
          </a:prstGeom>
          <a:noFill/>
          <a:ln/>
        </p:spPr>
        <p:txBody>
          <a:bodyPr wrap="square" lIns="0" tIns="0" rIns="0" bIns="0" rtlCol="0" anchor="ctr"/>
          <a:lstStyle/>
          <a:p>
            <a:pPr marL="0" indent="0">
              <a:buNone/>
            </a:pPr>
            <a:r>
              <a:rPr lang="en-US" sz="950" dirty="0">
                <a:solidFill>
                  <a:srgbClr val="58A6FF"/>
                </a:solidFill>
                <a:latin typeface="Courier New" pitchFamily="34" charset="0"/>
                <a:ea typeface="Courier New" pitchFamily="34" charset="-122"/>
                <a:cs typeface="Courier New" pitchFamily="34" charset="-120"/>
              </a:rPr>
              <a:t>proto</a:t>
            </a:r>
            <a:endParaRPr lang="en-US" sz="950" dirty="0"/>
          </a:p>
        </p:txBody>
      </p:sp>
      <p:sp>
        <p:nvSpPr>
          <p:cNvPr id="29" name="Text 26"/>
          <p:cNvSpPr txBox="1"/>
          <p:nvPr/>
        </p:nvSpPr>
        <p:spPr>
          <a:xfrm>
            <a:off x="7479792" y="3017520"/>
            <a:ext cx="1188720" cy="274320"/>
          </a:xfrm>
          <a:prstGeom prst="rect">
            <a:avLst/>
          </a:prstGeom>
          <a:noFill/>
          <a:ln/>
        </p:spPr>
        <p:txBody>
          <a:bodyPr wrap="square" lIns="0" tIns="0" rIns="0" bIns="0" rtlCol="0" anchor="ctr"/>
          <a:lstStyle/>
          <a:p>
            <a:pPr marL="0" indent="0">
              <a:buNone/>
            </a:pPr>
            <a:r>
              <a:rPr lang="en-US" sz="950" dirty="0">
                <a:solidFill>
                  <a:srgbClr val="8B949E"/>
                </a:solidFill>
                <a:latin typeface="Calibri" pitchFamily="34" charset="0"/>
                <a:ea typeface="Calibri" pitchFamily="34" charset="-122"/>
                <a:cs typeface="Calibri" pitchFamily="34" charset="-120"/>
              </a:rPr>
              <a:t>TCP / UDP / ICMP</a:t>
            </a:r>
            <a:endParaRPr lang="en-US" sz="950" dirty="0"/>
          </a:p>
        </p:txBody>
      </p:sp>
      <p:sp>
        <p:nvSpPr>
          <p:cNvPr id="30" name="Text 27"/>
          <p:cNvSpPr txBox="1"/>
          <p:nvPr/>
        </p:nvSpPr>
        <p:spPr>
          <a:xfrm>
            <a:off x="5760720" y="3364992"/>
            <a:ext cx="1737360" cy="274320"/>
          </a:xfrm>
          <a:prstGeom prst="rect">
            <a:avLst/>
          </a:prstGeom>
          <a:noFill/>
          <a:ln/>
        </p:spPr>
        <p:txBody>
          <a:bodyPr wrap="square" lIns="0" tIns="0" rIns="0" bIns="0" rtlCol="0" anchor="ctr"/>
          <a:lstStyle/>
          <a:p>
            <a:pPr marL="0" indent="0">
              <a:buNone/>
            </a:pPr>
            <a:r>
              <a:rPr lang="en-US" sz="950" dirty="0">
                <a:solidFill>
                  <a:srgbClr val="58A6FF"/>
                </a:solidFill>
                <a:latin typeface="Courier New" pitchFamily="34" charset="0"/>
                <a:ea typeface="Courier New" pitchFamily="34" charset="-122"/>
                <a:cs typeface="Courier New" pitchFamily="34" charset="-120"/>
              </a:rPr>
              <a:t>alert.signature</a:t>
            </a:r>
            <a:endParaRPr lang="en-US" sz="950" dirty="0"/>
          </a:p>
        </p:txBody>
      </p:sp>
      <p:sp>
        <p:nvSpPr>
          <p:cNvPr id="31" name="Text 28"/>
          <p:cNvSpPr txBox="1"/>
          <p:nvPr/>
        </p:nvSpPr>
        <p:spPr>
          <a:xfrm>
            <a:off x="7479792" y="3364992"/>
            <a:ext cx="1188720" cy="274320"/>
          </a:xfrm>
          <a:prstGeom prst="rect">
            <a:avLst/>
          </a:prstGeom>
          <a:noFill/>
          <a:ln/>
        </p:spPr>
        <p:txBody>
          <a:bodyPr wrap="square" lIns="0" tIns="0" rIns="0" bIns="0" rtlCol="0" anchor="ctr"/>
          <a:lstStyle/>
          <a:p>
            <a:pPr marL="0" indent="0">
              <a:buNone/>
            </a:pPr>
            <a:r>
              <a:rPr lang="en-US" sz="950" dirty="0">
                <a:solidFill>
                  <a:srgbClr val="8B949E"/>
                </a:solidFill>
                <a:latin typeface="Calibri" pitchFamily="34" charset="0"/>
                <a:ea typeface="Calibri" pitchFamily="34" charset="-122"/>
                <a:cs typeface="Calibri" pitchFamily="34" charset="-120"/>
              </a:rPr>
              <a:t>Rule name</a:t>
            </a:r>
            <a:endParaRPr lang="en-US" sz="950" dirty="0"/>
          </a:p>
        </p:txBody>
      </p:sp>
      <p:sp>
        <p:nvSpPr>
          <p:cNvPr id="32" name="Text 29"/>
          <p:cNvSpPr txBox="1"/>
          <p:nvPr/>
        </p:nvSpPr>
        <p:spPr>
          <a:xfrm>
            <a:off x="5760720" y="3712464"/>
            <a:ext cx="1737360" cy="274320"/>
          </a:xfrm>
          <a:prstGeom prst="rect">
            <a:avLst/>
          </a:prstGeom>
          <a:noFill/>
          <a:ln/>
        </p:spPr>
        <p:txBody>
          <a:bodyPr wrap="square" lIns="0" tIns="0" rIns="0" bIns="0" rtlCol="0" anchor="ctr"/>
          <a:lstStyle/>
          <a:p>
            <a:pPr marL="0" indent="0">
              <a:buNone/>
            </a:pPr>
            <a:r>
              <a:rPr lang="en-US" sz="950" dirty="0">
                <a:solidFill>
                  <a:srgbClr val="58A6FF"/>
                </a:solidFill>
                <a:latin typeface="Courier New" pitchFamily="34" charset="0"/>
                <a:ea typeface="Courier New" pitchFamily="34" charset="-122"/>
                <a:cs typeface="Courier New" pitchFamily="34" charset="-120"/>
              </a:rPr>
              <a:t>alert.severity</a:t>
            </a:r>
            <a:endParaRPr lang="en-US" sz="950" dirty="0"/>
          </a:p>
        </p:txBody>
      </p:sp>
      <p:sp>
        <p:nvSpPr>
          <p:cNvPr id="33" name="Text 30"/>
          <p:cNvSpPr txBox="1"/>
          <p:nvPr/>
        </p:nvSpPr>
        <p:spPr>
          <a:xfrm>
            <a:off x="7479792" y="3712464"/>
            <a:ext cx="1188720" cy="274320"/>
          </a:xfrm>
          <a:prstGeom prst="rect">
            <a:avLst/>
          </a:prstGeom>
          <a:noFill/>
          <a:ln/>
        </p:spPr>
        <p:txBody>
          <a:bodyPr wrap="square" lIns="0" tIns="0" rIns="0" bIns="0" rtlCol="0" anchor="ctr"/>
          <a:lstStyle/>
          <a:p>
            <a:pPr marL="0" indent="0">
              <a:buNone/>
            </a:pPr>
            <a:r>
              <a:rPr lang="en-US" sz="950" dirty="0">
                <a:solidFill>
                  <a:srgbClr val="8B949E"/>
                </a:solidFill>
                <a:latin typeface="Calibri" pitchFamily="34" charset="0"/>
                <a:ea typeface="Calibri" pitchFamily="34" charset="-122"/>
                <a:cs typeface="Calibri" pitchFamily="34" charset="-120"/>
              </a:rPr>
              <a:t>1 (critical) – 3 (info)</a:t>
            </a:r>
            <a:endParaRPr lang="en-US" sz="950" dirty="0"/>
          </a:p>
        </p:txBody>
      </p:sp>
      <p:sp>
        <p:nvSpPr>
          <p:cNvPr id="34" name="Text 31"/>
          <p:cNvSpPr txBox="1"/>
          <p:nvPr/>
        </p:nvSpPr>
        <p:spPr>
          <a:xfrm>
            <a:off x="5760720" y="4059936"/>
            <a:ext cx="1737360" cy="274320"/>
          </a:xfrm>
          <a:prstGeom prst="rect">
            <a:avLst/>
          </a:prstGeom>
          <a:noFill/>
          <a:ln/>
        </p:spPr>
        <p:txBody>
          <a:bodyPr wrap="square" lIns="0" tIns="0" rIns="0" bIns="0" rtlCol="0" anchor="ctr"/>
          <a:lstStyle/>
          <a:p>
            <a:pPr marL="0" indent="0">
              <a:buNone/>
            </a:pPr>
            <a:r>
              <a:rPr lang="en-US" sz="950" dirty="0">
                <a:solidFill>
                  <a:srgbClr val="58A6FF"/>
                </a:solidFill>
                <a:latin typeface="Courier New" pitchFamily="34" charset="0"/>
                <a:ea typeface="Courier New" pitchFamily="34" charset="-122"/>
                <a:cs typeface="Courier New" pitchFamily="34" charset="-120"/>
              </a:rPr>
              <a:t>community_id</a:t>
            </a:r>
            <a:endParaRPr lang="en-US" sz="950" dirty="0"/>
          </a:p>
        </p:txBody>
      </p:sp>
      <p:sp>
        <p:nvSpPr>
          <p:cNvPr id="35" name="Text 32"/>
          <p:cNvSpPr txBox="1"/>
          <p:nvPr/>
        </p:nvSpPr>
        <p:spPr>
          <a:xfrm>
            <a:off x="7479792" y="4059936"/>
            <a:ext cx="1188720" cy="274320"/>
          </a:xfrm>
          <a:prstGeom prst="rect">
            <a:avLst/>
          </a:prstGeom>
          <a:noFill/>
          <a:ln/>
        </p:spPr>
        <p:txBody>
          <a:bodyPr wrap="square" lIns="0" tIns="0" rIns="0" bIns="0" rtlCol="0" anchor="ctr"/>
          <a:lstStyle/>
          <a:p>
            <a:pPr marL="0" indent="0">
              <a:buNone/>
            </a:pPr>
            <a:r>
              <a:rPr lang="en-US" sz="950" dirty="0">
                <a:solidFill>
                  <a:srgbClr val="8B949E"/>
                </a:solidFill>
                <a:latin typeface="Calibri" pitchFamily="34" charset="0"/>
                <a:ea typeface="Calibri" pitchFamily="34" charset="-122"/>
                <a:cs typeface="Calibri" pitchFamily="34" charset="-120"/>
              </a:rPr>
              <a:t>Flow hash (links to Zeek)</a:t>
            </a:r>
            <a:endParaRPr lang="en-US" sz="950" dirty="0"/>
          </a:p>
        </p:txBody>
      </p:sp>
      <p:sp>
        <p:nvSpPr>
          <p:cNvPr id="36" name="Shape 33"/>
          <p:cNvSpPr/>
          <p:nvPr/>
        </p:nvSpPr>
        <p:spPr>
          <a:xfrm>
            <a:off x="0" y="5106924"/>
            <a:ext cx="9144000" cy="36576"/>
          </a:xfrm>
          <a:prstGeom prst="rect">
            <a:avLst/>
          </a:prstGeom>
          <a:solidFill>
            <a:srgbClr val="D29922"/>
          </a:solidFill>
          <a:ln/>
        </p:spPr>
        <p:txBody>
          <a:bodyPr/>
          <a:lstStyle/>
          <a:p>
            <a:endParaRPr lang="en-US"/>
          </a:p>
        </p:txBody>
      </p:sp>
      <p:pic>
        <p:nvPicPr>
          <p:cNvPr id="2" name="Picture 1" descr="All about Suricata with Victor Julien | Open Source Security">
            <a:extLst>
              <a:ext uri="{FF2B5EF4-FFF2-40B4-BE49-F238E27FC236}">
                <a16:creationId xmlns:a16="http://schemas.microsoft.com/office/drawing/2014/main" id="{64266310-1F63-2DA1-5864-2472330C6DA3}"/>
              </a:ext>
            </a:extLst>
          </p:cNvPr>
          <p:cNvPicPr>
            <a:picLocks noChangeAspect="1"/>
          </p:cNvPicPr>
          <p:nvPr/>
        </p:nvPicPr>
        <p:blipFill>
          <a:blip r:embed="rId3"/>
          <a:stretch>
            <a:fillRect/>
          </a:stretch>
        </p:blipFill>
        <p:spPr>
          <a:xfrm>
            <a:off x="3785884" y="173736"/>
            <a:ext cx="1609076" cy="90291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Shape 0"/>
          <p:cNvSpPr/>
          <p:nvPr/>
        </p:nvSpPr>
        <p:spPr>
          <a:xfrm>
            <a:off x="0" y="0"/>
            <a:ext cx="9144000" cy="5143500"/>
          </a:xfrm>
          <a:prstGeom prst="rect">
            <a:avLst/>
          </a:prstGeom>
          <a:solidFill>
            <a:srgbClr val="0D1117"/>
          </a:solidFill>
          <a:ln/>
        </p:spPr>
        <p:txBody>
          <a:bodyPr/>
          <a:lstStyle/>
          <a:p>
            <a:endParaRPr lang="en-US" dirty="0"/>
          </a:p>
        </p:txBody>
      </p:sp>
      <p:sp>
        <p:nvSpPr>
          <p:cNvPr id="4" name="Shape 1"/>
          <p:cNvSpPr/>
          <p:nvPr/>
        </p:nvSpPr>
        <p:spPr>
          <a:xfrm>
            <a:off x="0" y="0"/>
            <a:ext cx="9144000" cy="36576"/>
          </a:xfrm>
          <a:prstGeom prst="rect">
            <a:avLst/>
          </a:prstGeom>
          <a:solidFill>
            <a:srgbClr val="3FB950"/>
          </a:solidFill>
          <a:ln/>
        </p:spPr>
        <p:txBody>
          <a:bodyPr/>
          <a:lstStyle/>
          <a:p>
            <a:endParaRPr lang="en-US"/>
          </a:p>
        </p:txBody>
      </p:sp>
      <p:sp>
        <p:nvSpPr>
          <p:cNvPr id="5" name="Text 2"/>
          <p:cNvSpPr txBox="1"/>
          <p:nvPr/>
        </p:nvSpPr>
        <p:spPr>
          <a:xfrm>
            <a:off x="457200" y="201168"/>
            <a:ext cx="8229600" cy="237744"/>
          </a:xfrm>
          <a:prstGeom prst="rect">
            <a:avLst/>
          </a:prstGeom>
          <a:noFill/>
          <a:ln/>
        </p:spPr>
        <p:txBody>
          <a:bodyPr wrap="square" lIns="0" tIns="0" rIns="0" bIns="0" rtlCol="0" anchor="ctr"/>
          <a:lstStyle/>
          <a:p>
            <a:pPr marL="0" indent="0">
              <a:buNone/>
            </a:pPr>
            <a:r>
              <a:rPr lang="en-US" sz="1000" b="1" kern="0" spc="300" dirty="0">
                <a:solidFill>
                  <a:srgbClr val="3FB950"/>
                </a:solidFill>
                <a:latin typeface="Calibri" pitchFamily="34" charset="0"/>
                <a:ea typeface="Calibri" pitchFamily="34" charset="-122"/>
                <a:cs typeface="Calibri" pitchFamily="34" charset="-120"/>
              </a:rPr>
              <a:t>TOOL EXPLAINER</a:t>
            </a:r>
            <a:endParaRPr lang="en-US" sz="1000" dirty="0"/>
          </a:p>
        </p:txBody>
      </p:sp>
      <p:sp>
        <p:nvSpPr>
          <p:cNvPr id="6" name="Text 3"/>
          <p:cNvSpPr txBox="1"/>
          <p:nvPr/>
        </p:nvSpPr>
        <p:spPr>
          <a:xfrm>
            <a:off x="457200" y="502920"/>
            <a:ext cx="5486400" cy="502920"/>
          </a:xfrm>
          <a:prstGeom prst="rect">
            <a:avLst/>
          </a:prstGeom>
          <a:noFill/>
          <a:ln/>
        </p:spPr>
        <p:txBody>
          <a:bodyPr wrap="square" lIns="0" tIns="0" rIns="0" bIns="0" rtlCol="0" anchor="ctr"/>
          <a:lstStyle/>
          <a:p>
            <a:pPr marL="0" indent="0">
              <a:buNone/>
            </a:pPr>
            <a:r>
              <a:rPr lang="en-US" sz="2800" b="1" dirty="0">
                <a:solidFill>
                  <a:srgbClr val="E6EDF3"/>
                </a:solidFill>
                <a:latin typeface="Calibri" pitchFamily="34" charset="0"/>
                <a:ea typeface="Calibri" pitchFamily="34" charset="-122"/>
                <a:cs typeface="Calibri" pitchFamily="34" charset="-120"/>
              </a:rPr>
              <a:t>What is Zeek?</a:t>
            </a:r>
            <a:endParaRPr lang="en-US" sz="2800" dirty="0"/>
          </a:p>
        </p:txBody>
      </p:sp>
      <p:sp>
        <p:nvSpPr>
          <p:cNvPr id="7" name="Shape 4"/>
          <p:cNvSpPr/>
          <p:nvPr/>
        </p:nvSpPr>
        <p:spPr>
          <a:xfrm>
            <a:off x="6675120" y="566928"/>
            <a:ext cx="2011680" cy="329184"/>
          </a:xfrm>
          <a:prstGeom prst="roundRect">
            <a:avLst>
              <a:gd name="adj" fmla="val 16667"/>
            </a:avLst>
          </a:prstGeom>
          <a:solidFill>
            <a:srgbClr val="1F2937"/>
          </a:solidFill>
          <a:ln w="12700">
            <a:solidFill>
              <a:srgbClr val="3FB950"/>
            </a:solidFill>
            <a:prstDash val="solid"/>
          </a:ln>
        </p:spPr>
        <p:txBody>
          <a:bodyPr/>
          <a:lstStyle/>
          <a:p>
            <a:endParaRPr lang="en-US"/>
          </a:p>
        </p:txBody>
      </p:sp>
      <p:sp>
        <p:nvSpPr>
          <p:cNvPr id="8" name="Text 5"/>
          <p:cNvSpPr txBox="1"/>
          <p:nvPr/>
        </p:nvSpPr>
        <p:spPr>
          <a:xfrm>
            <a:off x="6675120" y="566928"/>
            <a:ext cx="2011680" cy="329184"/>
          </a:xfrm>
          <a:prstGeom prst="rect">
            <a:avLst/>
          </a:prstGeom>
          <a:noFill/>
          <a:ln/>
        </p:spPr>
        <p:txBody>
          <a:bodyPr wrap="square" lIns="0" tIns="0" rIns="0" bIns="0" rtlCol="0" anchor="ctr"/>
          <a:lstStyle/>
          <a:p>
            <a:pPr marL="0" indent="0" algn="ctr">
              <a:buNone/>
            </a:pPr>
            <a:r>
              <a:rPr lang="en-US" sz="1100" b="1" dirty="0">
                <a:solidFill>
                  <a:srgbClr val="3FB950"/>
                </a:solidFill>
                <a:latin typeface="Calibri" pitchFamily="34" charset="0"/>
                <a:ea typeface="Calibri" pitchFamily="34" charset="-122"/>
                <a:cs typeface="Calibri" pitchFamily="34" charset="-120"/>
              </a:rPr>
              <a:t>NSM — Log Engine</a:t>
            </a:r>
            <a:endParaRPr lang="en-US" sz="1100" dirty="0"/>
          </a:p>
        </p:txBody>
      </p:sp>
      <p:sp>
        <p:nvSpPr>
          <p:cNvPr id="9" name="Text 6"/>
          <p:cNvSpPr txBox="1"/>
          <p:nvPr/>
        </p:nvSpPr>
        <p:spPr>
          <a:xfrm>
            <a:off x="594360" y="1143000"/>
            <a:ext cx="8229600" cy="274320"/>
          </a:xfrm>
          <a:prstGeom prst="rect">
            <a:avLst/>
          </a:prstGeom>
          <a:noFill/>
          <a:ln/>
        </p:spPr>
        <p:txBody>
          <a:bodyPr wrap="square" lIns="0" tIns="0" rIns="0" bIns="0" rtlCol="0" anchor="ctr"/>
          <a:lstStyle/>
          <a:p>
            <a:pPr marL="0" indent="0">
              <a:buNone/>
            </a:pPr>
            <a:r>
              <a:rPr lang="en-US" sz="1300" b="1" dirty="0">
                <a:solidFill>
                  <a:srgbClr val="3FB950"/>
                </a:solidFill>
                <a:latin typeface="Calibri" pitchFamily="34" charset="0"/>
                <a:ea typeface="Calibri" pitchFamily="34" charset="-122"/>
                <a:cs typeface="Calibri" pitchFamily="34" charset="-120"/>
              </a:rPr>
              <a:t>What it is</a:t>
            </a:r>
            <a:endParaRPr lang="en-US" sz="1300" dirty="0"/>
          </a:p>
        </p:txBody>
      </p:sp>
      <p:sp>
        <p:nvSpPr>
          <p:cNvPr id="10" name="Text 7"/>
          <p:cNvSpPr txBox="1"/>
          <p:nvPr/>
        </p:nvSpPr>
        <p:spPr>
          <a:xfrm>
            <a:off x="457200" y="1444752"/>
            <a:ext cx="8229600" cy="749808"/>
          </a:xfrm>
          <a:prstGeom prst="rect">
            <a:avLst/>
          </a:prstGeom>
          <a:noFill/>
          <a:ln/>
        </p:spPr>
        <p:txBody>
          <a:bodyPr wrap="square" lIns="0" tIns="0" rIns="0" bIns="0" rtlCol="0" anchor="ctr"/>
          <a:lstStyle/>
          <a:p>
            <a:pPr marL="0" indent="0">
              <a:buNone/>
            </a:pPr>
            <a:r>
              <a:rPr lang="en-US" sz="1100" dirty="0">
                <a:solidFill>
                  <a:srgbClr val="8B949E"/>
                </a:solidFill>
                <a:latin typeface="Calibri" pitchFamily="34" charset="0"/>
                <a:ea typeface="Calibri" pitchFamily="34" charset="-122"/>
                <a:cs typeface="Calibri" pitchFamily="34" charset="-120"/>
              </a:rPr>
              <a:t>Zeek (formerly Bro) is a passive Network Security Monitor. It does not alert on signatures — instead, it silently observes every protocol and writes structured JSON logs recording everything it saw. Think of Suricata as the smoke alarm, and Zeek as the security camera that recorded everything before and after the alarm fired.</a:t>
            </a:r>
            <a:endParaRPr lang="en-US" sz="1100" dirty="0"/>
          </a:p>
        </p:txBody>
      </p:sp>
      <p:sp>
        <p:nvSpPr>
          <p:cNvPr id="11" name="Shape 8"/>
          <p:cNvSpPr/>
          <p:nvPr/>
        </p:nvSpPr>
        <p:spPr>
          <a:xfrm>
            <a:off x="365760" y="2331720"/>
            <a:ext cx="4160520" cy="768096"/>
          </a:xfrm>
          <a:prstGeom prst="roundRect">
            <a:avLst>
              <a:gd name="adj" fmla="val 7143"/>
            </a:avLst>
          </a:prstGeom>
          <a:solidFill>
            <a:srgbClr val="1F2937"/>
          </a:solidFill>
          <a:ln w="12700">
            <a:solidFill>
              <a:srgbClr val="3FB950"/>
            </a:solidFill>
            <a:prstDash val="solid"/>
          </a:ln>
        </p:spPr>
        <p:txBody>
          <a:bodyPr/>
          <a:lstStyle/>
          <a:p>
            <a:endParaRPr lang="en-US"/>
          </a:p>
        </p:txBody>
      </p:sp>
      <p:sp>
        <p:nvSpPr>
          <p:cNvPr id="12" name="Text 9"/>
          <p:cNvSpPr txBox="1"/>
          <p:nvPr/>
        </p:nvSpPr>
        <p:spPr>
          <a:xfrm>
            <a:off x="502920" y="2423160"/>
            <a:ext cx="1828800" cy="256032"/>
          </a:xfrm>
          <a:prstGeom prst="rect">
            <a:avLst/>
          </a:prstGeom>
          <a:noFill/>
          <a:ln/>
        </p:spPr>
        <p:txBody>
          <a:bodyPr wrap="square" lIns="0" tIns="0" rIns="0" bIns="0" rtlCol="0" anchor="ctr"/>
          <a:lstStyle/>
          <a:p>
            <a:pPr marL="0" indent="0">
              <a:buNone/>
            </a:pPr>
            <a:r>
              <a:rPr lang="en-US" sz="1200" b="1" dirty="0">
                <a:solidFill>
                  <a:srgbClr val="3FB950"/>
                </a:solidFill>
                <a:latin typeface="Courier New" pitchFamily="34" charset="0"/>
                <a:ea typeface="Courier New" pitchFamily="34" charset="-122"/>
                <a:cs typeface="Courier New" pitchFamily="34" charset="-120"/>
              </a:rPr>
              <a:t>conn.log</a:t>
            </a:r>
            <a:endParaRPr lang="en-US" sz="1200" dirty="0"/>
          </a:p>
        </p:txBody>
      </p:sp>
      <p:sp>
        <p:nvSpPr>
          <p:cNvPr id="13" name="Text 10"/>
          <p:cNvSpPr txBox="1"/>
          <p:nvPr/>
        </p:nvSpPr>
        <p:spPr>
          <a:xfrm>
            <a:off x="502920" y="2724912"/>
            <a:ext cx="3886200" cy="292608"/>
          </a:xfrm>
          <a:prstGeom prst="rect">
            <a:avLst/>
          </a:prstGeom>
          <a:noFill/>
          <a:ln/>
        </p:spPr>
        <p:txBody>
          <a:bodyPr wrap="square" lIns="0" tIns="0" rIns="0" bIns="0" rtlCol="0" anchor="ctr"/>
          <a:lstStyle/>
          <a:p>
            <a:pPr marL="0" indent="0">
              <a:buNone/>
            </a:pPr>
            <a:r>
              <a:rPr lang="en-US" sz="1000" dirty="0">
                <a:solidFill>
                  <a:srgbClr val="8B949E"/>
                </a:solidFill>
                <a:latin typeface="Calibri" pitchFamily="34" charset="0"/>
                <a:ea typeface="Calibri" pitchFamily="34" charset="-122"/>
                <a:cs typeface="Calibri" pitchFamily="34" charset="-120"/>
              </a:rPr>
              <a:t>Every TCP/UDP/ICMP connection: 5-tuple, duration, bytes, state</a:t>
            </a:r>
            <a:endParaRPr lang="en-US" sz="1000" dirty="0"/>
          </a:p>
        </p:txBody>
      </p:sp>
      <p:sp>
        <p:nvSpPr>
          <p:cNvPr id="14" name="Shape 11"/>
          <p:cNvSpPr/>
          <p:nvPr/>
        </p:nvSpPr>
        <p:spPr>
          <a:xfrm>
            <a:off x="365760" y="3209544"/>
            <a:ext cx="4160520" cy="768096"/>
          </a:xfrm>
          <a:prstGeom prst="roundRect">
            <a:avLst>
              <a:gd name="adj" fmla="val 7143"/>
            </a:avLst>
          </a:prstGeom>
          <a:solidFill>
            <a:srgbClr val="1F2937"/>
          </a:solidFill>
          <a:ln w="12700">
            <a:solidFill>
              <a:srgbClr val="58A6FF"/>
            </a:solidFill>
            <a:prstDash val="solid"/>
          </a:ln>
        </p:spPr>
        <p:txBody>
          <a:bodyPr/>
          <a:lstStyle/>
          <a:p>
            <a:endParaRPr lang="en-US"/>
          </a:p>
        </p:txBody>
      </p:sp>
      <p:sp>
        <p:nvSpPr>
          <p:cNvPr id="15" name="Text 12"/>
          <p:cNvSpPr txBox="1"/>
          <p:nvPr/>
        </p:nvSpPr>
        <p:spPr>
          <a:xfrm>
            <a:off x="502920" y="3300984"/>
            <a:ext cx="1828800" cy="256032"/>
          </a:xfrm>
          <a:prstGeom prst="rect">
            <a:avLst/>
          </a:prstGeom>
          <a:noFill/>
          <a:ln/>
        </p:spPr>
        <p:txBody>
          <a:bodyPr wrap="square" lIns="0" tIns="0" rIns="0" bIns="0" rtlCol="0" anchor="ctr"/>
          <a:lstStyle/>
          <a:p>
            <a:pPr marL="0" indent="0">
              <a:buNone/>
            </a:pPr>
            <a:r>
              <a:rPr lang="en-US" sz="1200" b="1" dirty="0">
                <a:solidFill>
                  <a:srgbClr val="58A6FF"/>
                </a:solidFill>
                <a:latin typeface="Courier New" pitchFamily="34" charset="0"/>
                <a:ea typeface="Courier New" pitchFamily="34" charset="-122"/>
                <a:cs typeface="Courier New" pitchFamily="34" charset="-120"/>
              </a:rPr>
              <a:t>dns.log</a:t>
            </a:r>
            <a:endParaRPr lang="en-US" sz="1200" dirty="0"/>
          </a:p>
        </p:txBody>
      </p:sp>
      <p:sp>
        <p:nvSpPr>
          <p:cNvPr id="16" name="Text 13"/>
          <p:cNvSpPr txBox="1"/>
          <p:nvPr/>
        </p:nvSpPr>
        <p:spPr>
          <a:xfrm>
            <a:off x="502920" y="3602736"/>
            <a:ext cx="3886200" cy="292608"/>
          </a:xfrm>
          <a:prstGeom prst="rect">
            <a:avLst/>
          </a:prstGeom>
          <a:noFill/>
          <a:ln/>
        </p:spPr>
        <p:txBody>
          <a:bodyPr wrap="square" lIns="0" tIns="0" rIns="0" bIns="0" rtlCol="0" anchor="ctr"/>
          <a:lstStyle/>
          <a:p>
            <a:pPr marL="0" indent="0">
              <a:buNone/>
            </a:pPr>
            <a:r>
              <a:rPr lang="en-US" sz="1000" dirty="0">
                <a:solidFill>
                  <a:srgbClr val="8B949E"/>
                </a:solidFill>
                <a:latin typeface="Calibri" pitchFamily="34" charset="0"/>
                <a:ea typeface="Calibri" pitchFamily="34" charset="-122"/>
                <a:cs typeface="Calibri" pitchFamily="34" charset="-120"/>
              </a:rPr>
              <a:t>All DNS queries and responses with answer records</a:t>
            </a:r>
            <a:endParaRPr lang="en-US" sz="1000" dirty="0"/>
          </a:p>
        </p:txBody>
      </p:sp>
      <p:sp>
        <p:nvSpPr>
          <p:cNvPr id="17" name="Shape 14"/>
          <p:cNvSpPr/>
          <p:nvPr/>
        </p:nvSpPr>
        <p:spPr>
          <a:xfrm>
            <a:off x="365760" y="4087368"/>
            <a:ext cx="4160520" cy="768096"/>
          </a:xfrm>
          <a:prstGeom prst="roundRect">
            <a:avLst>
              <a:gd name="adj" fmla="val 7143"/>
            </a:avLst>
          </a:prstGeom>
          <a:solidFill>
            <a:srgbClr val="1F2937"/>
          </a:solidFill>
          <a:ln w="12700">
            <a:solidFill>
              <a:srgbClr val="58A6FF"/>
            </a:solidFill>
            <a:prstDash val="solid"/>
          </a:ln>
        </p:spPr>
        <p:txBody>
          <a:bodyPr/>
          <a:lstStyle/>
          <a:p>
            <a:endParaRPr lang="en-US"/>
          </a:p>
        </p:txBody>
      </p:sp>
      <p:sp>
        <p:nvSpPr>
          <p:cNvPr id="18" name="Text 15"/>
          <p:cNvSpPr txBox="1"/>
          <p:nvPr/>
        </p:nvSpPr>
        <p:spPr>
          <a:xfrm>
            <a:off x="502920" y="4178808"/>
            <a:ext cx="1828800" cy="256032"/>
          </a:xfrm>
          <a:prstGeom prst="rect">
            <a:avLst/>
          </a:prstGeom>
          <a:noFill/>
          <a:ln/>
        </p:spPr>
        <p:txBody>
          <a:bodyPr wrap="square" lIns="0" tIns="0" rIns="0" bIns="0" rtlCol="0" anchor="ctr"/>
          <a:lstStyle/>
          <a:p>
            <a:pPr marL="0" indent="0">
              <a:buNone/>
            </a:pPr>
            <a:r>
              <a:rPr lang="en-US" sz="1200" b="1" dirty="0">
                <a:solidFill>
                  <a:srgbClr val="58A6FF"/>
                </a:solidFill>
                <a:latin typeface="Courier New" pitchFamily="34" charset="0"/>
                <a:ea typeface="Courier New" pitchFamily="34" charset="-122"/>
                <a:cs typeface="Courier New" pitchFamily="34" charset="-120"/>
              </a:rPr>
              <a:t>http.log</a:t>
            </a:r>
            <a:endParaRPr lang="en-US" sz="1200" dirty="0"/>
          </a:p>
        </p:txBody>
      </p:sp>
      <p:sp>
        <p:nvSpPr>
          <p:cNvPr id="19" name="Text 16"/>
          <p:cNvSpPr txBox="1"/>
          <p:nvPr/>
        </p:nvSpPr>
        <p:spPr>
          <a:xfrm>
            <a:off x="502920" y="4480560"/>
            <a:ext cx="3886200" cy="292608"/>
          </a:xfrm>
          <a:prstGeom prst="rect">
            <a:avLst/>
          </a:prstGeom>
          <a:noFill/>
          <a:ln/>
        </p:spPr>
        <p:txBody>
          <a:bodyPr wrap="square" lIns="0" tIns="0" rIns="0" bIns="0" rtlCol="0" anchor="ctr"/>
          <a:lstStyle/>
          <a:p>
            <a:pPr marL="0" indent="0">
              <a:buNone/>
            </a:pPr>
            <a:r>
              <a:rPr lang="en-US" sz="1000" dirty="0">
                <a:solidFill>
                  <a:srgbClr val="8B949E"/>
                </a:solidFill>
                <a:latin typeface="Calibri" pitchFamily="34" charset="0"/>
                <a:ea typeface="Calibri" pitchFamily="34" charset="-122"/>
                <a:cs typeface="Calibri" pitchFamily="34" charset="-120"/>
              </a:rPr>
              <a:t>HTTP method, URI, host, user-agent, status code, MIME</a:t>
            </a:r>
            <a:endParaRPr lang="en-US" sz="1000" dirty="0"/>
          </a:p>
        </p:txBody>
      </p:sp>
      <p:sp>
        <p:nvSpPr>
          <p:cNvPr id="20" name="Shape 17"/>
          <p:cNvSpPr/>
          <p:nvPr/>
        </p:nvSpPr>
        <p:spPr>
          <a:xfrm>
            <a:off x="4800600" y="2331720"/>
            <a:ext cx="4160520" cy="768096"/>
          </a:xfrm>
          <a:prstGeom prst="roundRect">
            <a:avLst>
              <a:gd name="adj" fmla="val 7143"/>
            </a:avLst>
          </a:prstGeom>
          <a:solidFill>
            <a:srgbClr val="1F2937"/>
          </a:solidFill>
          <a:ln w="12700">
            <a:solidFill>
              <a:srgbClr val="D29922"/>
            </a:solidFill>
            <a:prstDash val="solid"/>
          </a:ln>
        </p:spPr>
        <p:txBody>
          <a:bodyPr/>
          <a:lstStyle/>
          <a:p>
            <a:endParaRPr lang="en-US"/>
          </a:p>
        </p:txBody>
      </p:sp>
      <p:sp>
        <p:nvSpPr>
          <p:cNvPr id="21" name="Text 18"/>
          <p:cNvSpPr txBox="1"/>
          <p:nvPr/>
        </p:nvSpPr>
        <p:spPr>
          <a:xfrm>
            <a:off x="4937760" y="2423160"/>
            <a:ext cx="1828800" cy="256032"/>
          </a:xfrm>
          <a:prstGeom prst="rect">
            <a:avLst/>
          </a:prstGeom>
          <a:noFill/>
          <a:ln/>
        </p:spPr>
        <p:txBody>
          <a:bodyPr wrap="square" lIns="0" tIns="0" rIns="0" bIns="0" rtlCol="0" anchor="ctr"/>
          <a:lstStyle/>
          <a:p>
            <a:pPr marL="0" indent="0">
              <a:buNone/>
            </a:pPr>
            <a:r>
              <a:rPr lang="en-US" sz="1200" b="1" dirty="0">
                <a:solidFill>
                  <a:srgbClr val="D29922"/>
                </a:solidFill>
                <a:latin typeface="Courier New" pitchFamily="34" charset="0"/>
                <a:ea typeface="Courier New" pitchFamily="34" charset="-122"/>
                <a:cs typeface="Courier New" pitchFamily="34" charset="-120"/>
              </a:rPr>
              <a:t>ssl.log</a:t>
            </a:r>
            <a:endParaRPr lang="en-US" sz="1200" dirty="0"/>
          </a:p>
        </p:txBody>
      </p:sp>
      <p:sp>
        <p:nvSpPr>
          <p:cNvPr id="22" name="Text 19"/>
          <p:cNvSpPr txBox="1"/>
          <p:nvPr/>
        </p:nvSpPr>
        <p:spPr>
          <a:xfrm>
            <a:off x="4937760" y="2724912"/>
            <a:ext cx="3886200" cy="292608"/>
          </a:xfrm>
          <a:prstGeom prst="rect">
            <a:avLst/>
          </a:prstGeom>
          <a:noFill/>
          <a:ln/>
        </p:spPr>
        <p:txBody>
          <a:bodyPr wrap="square" lIns="0" tIns="0" rIns="0" bIns="0" rtlCol="0" anchor="ctr"/>
          <a:lstStyle/>
          <a:p>
            <a:pPr marL="0" indent="0">
              <a:buNone/>
            </a:pPr>
            <a:r>
              <a:rPr lang="en-US" sz="1000" dirty="0">
                <a:solidFill>
                  <a:srgbClr val="8B949E"/>
                </a:solidFill>
                <a:latin typeface="Calibri" pitchFamily="34" charset="0"/>
                <a:ea typeface="Calibri" pitchFamily="34" charset="-122"/>
                <a:cs typeface="Calibri" pitchFamily="34" charset="-120"/>
              </a:rPr>
              <a:t>TLS version, cipher suite, certificate subject, SNI hostname</a:t>
            </a:r>
            <a:endParaRPr lang="en-US" sz="1000" dirty="0"/>
          </a:p>
        </p:txBody>
      </p:sp>
      <p:sp>
        <p:nvSpPr>
          <p:cNvPr id="23" name="Shape 20"/>
          <p:cNvSpPr/>
          <p:nvPr/>
        </p:nvSpPr>
        <p:spPr>
          <a:xfrm>
            <a:off x="4800600" y="3209544"/>
            <a:ext cx="4160520" cy="768096"/>
          </a:xfrm>
          <a:prstGeom prst="roundRect">
            <a:avLst>
              <a:gd name="adj" fmla="val 7143"/>
            </a:avLst>
          </a:prstGeom>
          <a:solidFill>
            <a:srgbClr val="1F2937"/>
          </a:solidFill>
          <a:ln w="12700">
            <a:solidFill>
              <a:srgbClr val="D29922"/>
            </a:solidFill>
            <a:prstDash val="solid"/>
          </a:ln>
        </p:spPr>
        <p:txBody>
          <a:bodyPr/>
          <a:lstStyle/>
          <a:p>
            <a:endParaRPr lang="en-US"/>
          </a:p>
        </p:txBody>
      </p:sp>
      <p:sp>
        <p:nvSpPr>
          <p:cNvPr id="24" name="Text 21"/>
          <p:cNvSpPr txBox="1"/>
          <p:nvPr/>
        </p:nvSpPr>
        <p:spPr>
          <a:xfrm>
            <a:off x="4937760" y="3300984"/>
            <a:ext cx="1828800" cy="256032"/>
          </a:xfrm>
          <a:prstGeom prst="rect">
            <a:avLst/>
          </a:prstGeom>
          <a:noFill/>
          <a:ln/>
        </p:spPr>
        <p:txBody>
          <a:bodyPr wrap="square" lIns="0" tIns="0" rIns="0" bIns="0" rtlCol="0" anchor="ctr"/>
          <a:lstStyle/>
          <a:p>
            <a:pPr marL="0" indent="0">
              <a:buNone/>
            </a:pPr>
            <a:r>
              <a:rPr lang="en-US" sz="1200" b="1" dirty="0">
                <a:solidFill>
                  <a:srgbClr val="D29922"/>
                </a:solidFill>
                <a:latin typeface="Courier New" pitchFamily="34" charset="0"/>
                <a:ea typeface="Courier New" pitchFamily="34" charset="-122"/>
                <a:cs typeface="Courier New" pitchFamily="34" charset="-120"/>
              </a:rPr>
              <a:t>files.log</a:t>
            </a:r>
            <a:endParaRPr lang="en-US" sz="1200" dirty="0"/>
          </a:p>
        </p:txBody>
      </p:sp>
      <p:sp>
        <p:nvSpPr>
          <p:cNvPr id="25" name="Text 22"/>
          <p:cNvSpPr txBox="1"/>
          <p:nvPr/>
        </p:nvSpPr>
        <p:spPr>
          <a:xfrm>
            <a:off x="4937760" y="3602736"/>
            <a:ext cx="3886200" cy="292608"/>
          </a:xfrm>
          <a:prstGeom prst="rect">
            <a:avLst/>
          </a:prstGeom>
          <a:noFill/>
          <a:ln/>
        </p:spPr>
        <p:txBody>
          <a:bodyPr wrap="square" lIns="0" tIns="0" rIns="0" bIns="0" rtlCol="0" anchor="ctr"/>
          <a:lstStyle/>
          <a:p>
            <a:pPr marL="0" indent="0">
              <a:buNone/>
            </a:pPr>
            <a:r>
              <a:rPr lang="en-US" sz="1000" dirty="0">
                <a:solidFill>
                  <a:srgbClr val="8B949E"/>
                </a:solidFill>
                <a:latin typeface="Calibri" pitchFamily="34" charset="0"/>
                <a:ea typeface="Calibri" pitchFamily="34" charset="-122"/>
                <a:cs typeface="Calibri" pitchFamily="34" charset="-120"/>
              </a:rPr>
              <a:t>Files transferred over any protocol with MD5/SHA1 hashes</a:t>
            </a:r>
            <a:endParaRPr lang="en-US" sz="1000" dirty="0"/>
          </a:p>
        </p:txBody>
      </p:sp>
      <p:sp>
        <p:nvSpPr>
          <p:cNvPr id="26" name="Shape 23"/>
          <p:cNvSpPr/>
          <p:nvPr/>
        </p:nvSpPr>
        <p:spPr>
          <a:xfrm>
            <a:off x="4800600" y="4087368"/>
            <a:ext cx="4160520" cy="768096"/>
          </a:xfrm>
          <a:prstGeom prst="roundRect">
            <a:avLst>
              <a:gd name="adj" fmla="val 7143"/>
            </a:avLst>
          </a:prstGeom>
          <a:solidFill>
            <a:srgbClr val="1F2937"/>
          </a:solidFill>
          <a:ln w="12700">
            <a:solidFill>
              <a:srgbClr val="F85149"/>
            </a:solidFill>
            <a:prstDash val="solid"/>
          </a:ln>
        </p:spPr>
        <p:txBody>
          <a:bodyPr/>
          <a:lstStyle/>
          <a:p>
            <a:endParaRPr lang="en-US"/>
          </a:p>
        </p:txBody>
      </p:sp>
      <p:sp>
        <p:nvSpPr>
          <p:cNvPr id="27" name="Text 24"/>
          <p:cNvSpPr txBox="1"/>
          <p:nvPr/>
        </p:nvSpPr>
        <p:spPr>
          <a:xfrm>
            <a:off x="4937760" y="4178808"/>
            <a:ext cx="1828800" cy="256032"/>
          </a:xfrm>
          <a:prstGeom prst="rect">
            <a:avLst/>
          </a:prstGeom>
          <a:noFill/>
          <a:ln/>
        </p:spPr>
        <p:txBody>
          <a:bodyPr wrap="square" lIns="0" tIns="0" rIns="0" bIns="0" rtlCol="0" anchor="ctr"/>
          <a:lstStyle/>
          <a:p>
            <a:pPr marL="0" indent="0">
              <a:buNone/>
            </a:pPr>
            <a:r>
              <a:rPr lang="en-US" sz="1200" b="1" dirty="0">
                <a:solidFill>
                  <a:srgbClr val="F85149"/>
                </a:solidFill>
                <a:latin typeface="Courier New" pitchFamily="34" charset="0"/>
                <a:ea typeface="Courier New" pitchFamily="34" charset="-122"/>
                <a:cs typeface="Courier New" pitchFamily="34" charset="-120"/>
              </a:rPr>
              <a:t>weird.log</a:t>
            </a:r>
            <a:endParaRPr lang="en-US" sz="1200" dirty="0"/>
          </a:p>
        </p:txBody>
      </p:sp>
      <p:sp>
        <p:nvSpPr>
          <p:cNvPr id="28" name="Text 25"/>
          <p:cNvSpPr txBox="1"/>
          <p:nvPr/>
        </p:nvSpPr>
        <p:spPr>
          <a:xfrm>
            <a:off x="4937760" y="4480560"/>
            <a:ext cx="3886200" cy="292608"/>
          </a:xfrm>
          <a:prstGeom prst="rect">
            <a:avLst/>
          </a:prstGeom>
          <a:noFill/>
          <a:ln/>
        </p:spPr>
        <p:txBody>
          <a:bodyPr wrap="square" lIns="0" tIns="0" rIns="0" bIns="0" rtlCol="0" anchor="ctr"/>
          <a:lstStyle/>
          <a:p>
            <a:pPr marL="0" indent="0">
              <a:buNone/>
            </a:pPr>
            <a:r>
              <a:rPr lang="en-US" sz="1000" dirty="0">
                <a:solidFill>
                  <a:srgbClr val="8B949E"/>
                </a:solidFill>
                <a:latin typeface="Calibri" pitchFamily="34" charset="0"/>
                <a:ea typeface="Calibri" pitchFamily="34" charset="-122"/>
                <a:cs typeface="Calibri" pitchFamily="34" charset="-120"/>
              </a:rPr>
              <a:t>Protocol violations and anomalies Zeek couldn't classify</a:t>
            </a:r>
            <a:endParaRPr lang="en-US" sz="1000" dirty="0"/>
          </a:p>
        </p:txBody>
      </p:sp>
      <p:sp>
        <p:nvSpPr>
          <p:cNvPr id="29" name="Shape 26"/>
          <p:cNvSpPr/>
          <p:nvPr/>
        </p:nvSpPr>
        <p:spPr>
          <a:xfrm>
            <a:off x="0" y="5106924"/>
            <a:ext cx="9144000" cy="36576"/>
          </a:xfrm>
          <a:prstGeom prst="rect">
            <a:avLst/>
          </a:prstGeom>
          <a:solidFill>
            <a:srgbClr val="3FB950"/>
          </a:solidFill>
          <a:ln/>
        </p:spPr>
        <p:txBody>
          <a:bodyPr/>
          <a:lstStyle/>
          <a:p>
            <a:endParaRPr lang="en-US"/>
          </a:p>
        </p:txBody>
      </p:sp>
      <p:pic>
        <p:nvPicPr>
          <p:cNvPr id="2" name="Picture 1" descr="Zeek: The Open Source Network Monitor">
            <a:extLst>
              <a:ext uri="{FF2B5EF4-FFF2-40B4-BE49-F238E27FC236}">
                <a16:creationId xmlns:a16="http://schemas.microsoft.com/office/drawing/2014/main" id="{07CFDE14-D0BC-4396-0DB1-92F9B514E905}"/>
              </a:ext>
            </a:extLst>
          </p:cNvPr>
          <p:cNvPicPr>
            <a:picLocks noChangeAspect="1"/>
          </p:cNvPicPr>
          <p:nvPr/>
        </p:nvPicPr>
        <p:blipFill>
          <a:blip r:embed="rId3"/>
          <a:stretch>
            <a:fillRect/>
          </a:stretch>
        </p:blipFill>
        <p:spPr>
          <a:xfrm>
            <a:off x="3079432" y="370332"/>
            <a:ext cx="2619375" cy="86677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Shape 0"/>
          <p:cNvSpPr/>
          <p:nvPr/>
        </p:nvSpPr>
        <p:spPr>
          <a:xfrm>
            <a:off x="0" y="0"/>
            <a:ext cx="9144000" cy="5143500"/>
          </a:xfrm>
          <a:prstGeom prst="rect">
            <a:avLst/>
          </a:prstGeom>
          <a:solidFill>
            <a:srgbClr val="0D1117"/>
          </a:solidFill>
          <a:ln/>
        </p:spPr>
        <p:txBody>
          <a:bodyPr/>
          <a:lstStyle/>
          <a:p>
            <a:endParaRPr lang="en-US"/>
          </a:p>
        </p:txBody>
      </p:sp>
      <p:sp>
        <p:nvSpPr>
          <p:cNvPr id="4" name="Shape 1"/>
          <p:cNvSpPr/>
          <p:nvPr/>
        </p:nvSpPr>
        <p:spPr>
          <a:xfrm>
            <a:off x="0" y="0"/>
            <a:ext cx="9144000" cy="36576"/>
          </a:xfrm>
          <a:prstGeom prst="rect">
            <a:avLst/>
          </a:prstGeom>
          <a:solidFill>
            <a:srgbClr val="58A6FF"/>
          </a:solidFill>
          <a:ln/>
        </p:spPr>
        <p:txBody>
          <a:bodyPr/>
          <a:lstStyle/>
          <a:p>
            <a:endParaRPr lang="en-US"/>
          </a:p>
        </p:txBody>
      </p:sp>
      <p:sp>
        <p:nvSpPr>
          <p:cNvPr id="5" name="Text 2"/>
          <p:cNvSpPr txBox="1"/>
          <p:nvPr/>
        </p:nvSpPr>
        <p:spPr>
          <a:xfrm>
            <a:off x="457200" y="201168"/>
            <a:ext cx="8229600" cy="237744"/>
          </a:xfrm>
          <a:prstGeom prst="rect">
            <a:avLst/>
          </a:prstGeom>
          <a:noFill/>
          <a:ln/>
        </p:spPr>
        <p:txBody>
          <a:bodyPr wrap="square" lIns="0" tIns="0" rIns="0" bIns="0" rtlCol="0" anchor="ctr"/>
          <a:lstStyle/>
          <a:p>
            <a:pPr marL="0" indent="0">
              <a:buNone/>
            </a:pPr>
            <a:r>
              <a:rPr lang="en-US" sz="1000" b="1" kern="0" spc="300" dirty="0">
                <a:solidFill>
                  <a:srgbClr val="58A6FF"/>
                </a:solidFill>
                <a:latin typeface="Calibri" pitchFamily="34" charset="0"/>
                <a:ea typeface="Calibri" pitchFamily="34" charset="-122"/>
                <a:cs typeface="Calibri" pitchFamily="34" charset="-120"/>
              </a:rPr>
              <a:t>TOOL EXPLAINER</a:t>
            </a:r>
            <a:endParaRPr lang="en-US" sz="1000" dirty="0"/>
          </a:p>
        </p:txBody>
      </p:sp>
      <p:sp>
        <p:nvSpPr>
          <p:cNvPr id="6" name="Text 3"/>
          <p:cNvSpPr txBox="1"/>
          <p:nvPr/>
        </p:nvSpPr>
        <p:spPr>
          <a:xfrm>
            <a:off x="457200" y="502920"/>
            <a:ext cx="6400800" cy="502920"/>
          </a:xfrm>
          <a:prstGeom prst="rect">
            <a:avLst/>
          </a:prstGeom>
          <a:noFill/>
          <a:ln/>
        </p:spPr>
        <p:txBody>
          <a:bodyPr wrap="square" lIns="0" tIns="0" rIns="0" bIns="0" rtlCol="0" anchor="ctr"/>
          <a:lstStyle/>
          <a:p>
            <a:pPr marL="0" indent="0">
              <a:buNone/>
            </a:pPr>
            <a:r>
              <a:rPr lang="en-US" sz="2800" b="1" dirty="0">
                <a:solidFill>
                  <a:srgbClr val="E6EDF3"/>
                </a:solidFill>
                <a:latin typeface="Calibri" pitchFamily="34" charset="0"/>
                <a:ea typeface="Calibri" pitchFamily="34" charset="-122"/>
                <a:cs typeface="Calibri" pitchFamily="34" charset="-120"/>
              </a:rPr>
              <a:t>What is GeoIP / ASN?</a:t>
            </a:r>
            <a:endParaRPr lang="en-US" sz="2800" dirty="0"/>
          </a:p>
        </p:txBody>
      </p:sp>
      <p:sp>
        <p:nvSpPr>
          <p:cNvPr id="7" name="Shape 4"/>
          <p:cNvSpPr/>
          <p:nvPr/>
        </p:nvSpPr>
        <p:spPr>
          <a:xfrm>
            <a:off x="6858000" y="566928"/>
            <a:ext cx="1874520" cy="329184"/>
          </a:xfrm>
          <a:prstGeom prst="roundRect">
            <a:avLst>
              <a:gd name="adj" fmla="val 16667"/>
            </a:avLst>
          </a:prstGeom>
          <a:solidFill>
            <a:srgbClr val="1F2937"/>
          </a:solidFill>
          <a:ln w="12700">
            <a:solidFill>
              <a:srgbClr val="58A6FF"/>
            </a:solidFill>
            <a:prstDash val="solid"/>
          </a:ln>
        </p:spPr>
        <p:txBody>
          <a:bodyPr/>
          <a:lstStyle/>
          <a:p>
            <a:endParaRPr lang="en-US"/>
          </a:p>
        </p:txBody>
      </p:sp>
      <p:sp>
        <p:nvSpPr>
          <p:cNvPr id="8" name="Text 5"/>
          <p:cNvSpPr txBox="1"/>
          <p:nvPr/>
        </p:nvSpPr>
        <p:spPr>
          <a:xfrm>
            <a:off x="6858000" y="566928"/>
            <a:ext cx="1874520" cy="329184"/>
          </a:xfrm>
          <a:prstGeom prst="rect">
            <a:avLst/>
          </a:prstGeom>
          <a:noFill/>
          <a:ln/>
        </p:spPr>
        <p:txBody>
          <a:bodyPr wrap="square" lIns="0" tIns="0" rIns="0" bIns="0" rtlCol="0" anchor="ctr"/>
          <a:lstStyle/>
          <a:p>
            <a:pPr marL="0" indent="0" algn="ctr">
              <a:buNone/>
            </a:pPr>
            <a:r>
              <a:rPr lang="en-US" sz="1100" b="1" dirty="0">
                <a:solidFill>
                  <a:srgbClr val="58A6FF"/>
                </a:solidFill>
                <a:latin typeface="Calibri" pitchFamily="34" charset="0"/>
                <a:ea typeface="Calibri" pitchFamily="34" charset="-122"/>
                <a:cs typeface="Calibri" pitchFamily="34" charset="-120"/>
              </a:rPr>
              <a:t>IP Enrichment</a:t>
            </a:r>
            <a:endParaRPr lang="en-US" sz="1100" dirty="0"/>
          </a:p>
        </p:txBody>
      </p:sp>
      <p:sp>
        <p:nvSpPr>
          <p:cNvPr id="9" name="Text 6"/>
          <p:cNvSpPr txBox="1"/>
          <p:nvPr/>
        </p:nvSpPr>
        <p:spPr>
          <a:xfrm>
            <a:off x="457200" y="1161288"/>
            <a:ext cx="8229600" cy="256032"/>
          </a:xfrm>
          <a:prstGeom prst="rect">
            <a:avLst/>
          </a:prstGeom>
          <a:noFill/>
          <a:ln/>
        </p:spPr>
        <p:txBody>
          <a:bodyPr wrap="square" lIns="0" tIns="0" rIns="0" bIns="0" rtlCol="0" anchor="ctr"/>
          <a:lstStyle/>
          <a:p>
            <a:pPr marL="0" indent="0">
              <a:buNone/>
            </a:pPr>
            <a:r>
              <a:rPr lang="en-US" sz="1300" b="1" dirty="0">
                <a:solidFill>
                  <a:srgbClr val="58A6FF"/>
                </a:solidFill>
                <a:latin typeface="Calibri" pitchFamily="34" charset="0"/>
                <a:ea typeface="Calibri" pitchFamily="34" charset="-122"/>
                <a:cs typeface="Calibri" pitchFamily="34" charset="-120"/>
              </a:rPr>
              <a:t>What it is</a:t>
            </a:r>
            <a:endParaRPr lang="en-US" sz="1300" dirty="0"/>
          </a:p>
        </p:txBody>
      </p:sp>
      <p:sp>
        <p:nvSpPr>
          <p:cNvPr id="10" name="Text 7"/>
          <p:cNvSpPr txBox="1"/>
          <p:nvPr/>
        </p:nvSpPr>
        <p:spPr>
          <a:xfrm>
            <a:off x="457200" y="1463040"/>
            <a:ext cx="8229600" cy="658368"/>
          </a:xfrm>
          <a:prstGeom prst="rect">
            <a:avLst/>
          </a:prstGeom>
          <a:noFill/>
          <a:ln/>
        </p:spPr>
        <p:txBody>
          <a:bodyPr wrap="square" lIns="0" tIns="0" rIns="0" bIns="0" rtlCol="0" anchor="ctr"/>
          <a:lstStyle/>
          <a:p>
            <a:pPr marL="0" indent="0">
              <a:buNone/>
            </a:pPr>
            <a:r>
              <a:rPr lang="en-US" sz="1100" dirty="0">
                <a:solidFill>
                  <a:srgbClr val="8B949E"/>
                </a:solidFill>
                <a:latin typeface="Calibri" pitchFamily="34" charset="0"/>
                <a:ea typeface="Calibri" pitchFamily="34" charset="-122"/>
                <a:cs typeface="Calibri" pitchFamily="34" charset="-120"/>
              </a:rPr>
              <a:t>MaxMind GeoLite2 provides two free offline databases that map IP addresses to real-world attributes — no API call needed at analysis time. The pipeline uses the Python geoip2 library to query them locally, enriching every alert's source and destination IP with geographic and routing context.</a:t>
            </a:r>
            <a:endParaRPr lang="en-US" sz="1100" dirty="0"/>
          </a:p>
        </p:txBody>
      </p:sp>
      <p:sp>
        <p:nvSpPr>
          <p:cNvPr id="11" name="Shape 8"/>
          <p:cNvSpPr/>
          <p:nvPr/>
        </p:nvSpPr>
        <p:spPr>
          <a:xfrm>
            <a:off x="365760" y="2286000"/>
            <a:ext cx="4160520" cy="2560320"/>
          </a:xfrm>
          <a:prstGeom prst="roundRect">
            <a:avLst>
              <a:gd name="adj" fmla="val 2857"/>
            </a:avLst>
          </a:prstGeom>
          <a:solidFill>
            <a:srgbClr val="1F2937"/>
          </a:solidFill>
          <a:ln w="19050">
            <a:solidFill>
              <a:srgbClr val="58A6FF"/>
            </a:solidFill>
            <a:prstDash val="solid"/>
          </a:ln>
        </p:spPr>
        <p:txBody>
          <a:bodyPr/>
          <a:lstStyle/>
          <a:p>
            <a:endParaRPr lang="en-US"/>
          </a:p>
        </p:txBody>
      </p:sp>
      <p:sp>
        <p:nvSpPr>
          <p:cNvPr id="12" name="Text 9"/>
          <p:cNvSpPr txBox="1"/>
          <p:nvPr/>
        </p:nvSpPr>
        <p:spPr>
          <a:xfrm>
            <a:off x="530352" y="2377440"/>
            <a:ext cx="3794760" cy="274320"/>
          </a:xfrm>
          <a:prstGeom prst="rect">
            <a:avLst/>
          </a:prstGeom>
          <a:noFill/>
          <a:ln/>
        </p:spPr>
        <p:txBody>
          <a:bodyPr wrap="square" lIns="0" tIns="0" rIns="0" bIns="0" rtlCol="0" anchor="ctr"/>
          <a:lstStyle/>
          <a:p>
            <a:pPr marL="0" indent="0">
              <a:buNone/>
            </a:pPr>
            <a:r>
              <a:rPr lang="en-US" sz="1400" b="1" dirty="0">
                <a:solidFill>
                  <a:srgbClr val="58A6FF"/>
                </a:solidFill>
                <a:latin typeface="Calibri" pitchFamily="34" charset="0"/>
                <a:ea typeface="Calibri" pitchFamily="34" charset="-122"/>
                <a:cs typeface="Calibri" pitchFamily="34" charset="-120"/>
              </a:rPr>
              <a:t>ASN Database</a:t>
            </a:r>
            <a:endParaRPr lang="en-US" sz="1400" dirty="0"/>
          </a:p>
        </p:txBody>
      </p:sp>
      <p:sp>
        <p:nvSpPr>
          <p:cNvPr id="13" name="Text 10"/>
          <p:cNvSpPr txBox="1"/>
          <p:nvPr/>
        </p:nvSpPr>
        <p:spPr>
          <a:xfrm>
            <a:off x="530352" y="2679192"/>
            <a:ext cx="3794760" cy="219456"/>
          </a:xfrm>
          <a:prstGeom prst="rect">
            <a:avLst/>
          </a:prstGeom>
          <a:noFill/>
          <a:ln/>
        </p:spPr>
        <p:txBody>
          <a:bodyPr wrap="square" lIns="0" tIns="0" rIns="0" bIns="0" rtlCol="0" anchor="ctr"/>
          <a:lstStyle/>
          <a:p>
            <a:pPr marL="0" indent="0">
              <a:buNone/>
            </a:pPr>
            <a:r>
              <a:rPr lang="en-US" sz="950" dirty="0">
                <a:solidFill>
                  <a:srgbClr val="8B949E"/>
                </a:solidFill>
                <a:latin typeface="Courier New" pitchFamily="34" charset="0"/>
                <a:ea typeface="Courier New" pitchFamily="34" charset="-122"/>
                <a:cs typeface="Courier New" pitchFamily="34" charset="-120"/>
              </a:rPr>
              <a:t>GeoLite2-ASN.mmdb</a:t>
            </a:r>
            <a:endParaRPr lang="en-US" sz="950" dirty="0"/>
          </a:p>
        </p:txBody>
      </p:sp>
      <p:sp>
        <p:nvSpPr>
          <p:cNvPr id="14" name="Shape 11"/>
          <p:cNvSpPr/>
          <p:nvPr/>
        </p:nvSpPr>
        <p:spPr>
          <a:xfrm>
            <a:off x="530352" y="2953512"/>
            <a:ext cx="3749040" cy="9144"/>
          </a:xfrm>
          <a:prstGeom prst="rect">
            <a:avLst/>
          </a:prstGeom>
          <a:solidFill>
            <a:srgbClr val="30363D"/>
          </a:solidFill>
          <a:ln/>
        </p:spPr>
        <p:txBody>
          <a:bodyPr/>
          <a:lstStyle/>
          <a:p>
            <a:endParaRPr lang="en-US"/>
          </a:p>
        </p:txBody>
      </p:sp>
      <p:sp>
        <p:nvSpPr>
          <p:cNvPr id="15" name="Text 12"/>
          <p:cNvSpPr txBox="1"/>
          <p:nvPr/>
        </p:nvSpPr>
        <p:spPr>
          <a:xfrm>
            <a:off x="530352" y="3017520"/>
            <a:ext cx="2194560" cy="274320"/>
          </a:xfrm>
          <a:prstGeom prst="rect">
            <a:avLst/>
          </a:prstGeom>
          <a:noFill/>
          <a:ln/>
        </p:spPr>
        <p:txBody>
          <a:bodyPr wrap="square" lIns="0" tIns="0" rIns="0" bIns="0" rtlCol="0" anchor="ctr"/>
          <a:lstStyle/>
          <a:p>
            <a:pPr marL="0" indent="0">
              <a:buNone/>
            </a:pPr>
            <a:r>
              <a:rPr lang="en-US" sz="950" dirty="0">
                <a:solidFill>
                  <a:srgbClr val="58A6FF"/>
                </a:solidFill>
                <a:latin typeface="Courier New" pitchFamily="34" charset="0"/>
                <a:ea typeface="Courier New" pitchFamily="34" charset="-122"/>
                <a:cs typeface="Courier New" pitchFamily="34" charset="-120"/>
              </a:rPr>
              <a:t>autonomous_system_number</a:t>
            </a:r>
            <a:endParaRPr lang="en-US" sz="950" dirty="0"/>
          </a:p>
        </p:txBody>
      </p:sp>
      <p:sp>
        <p:nvSpPr>
          <p:cNvPr id="16" name="Text 13"/>
          <p:cNvSpPr txBox="1"/>
          <p:nvPr/>
        </p:nvSpPr>
        <p:spPr>
          <a:xfrm>
            <a:off x="2788920" y="3017520"/>
            <a:ext cx="1737360" cy="274320"/>
          </a:xfrm>
          <a:prstGeom prst="rect">
            <a:avLst/>
          </a:prstGeom>
          <a:noFill/>
          <a:ln/>
        </p:spPr>
        <p:txBody>
          <a:bodyPr wrap="square" lIns="0" tIns="0" rIns="0" bIns="0" rtlCol="0" anchor="ctr"/>
          <a:lstStyle/>
          <a:p>
            <a:pPr marL="0" indent="0">
              <a:buNone/>
            </a:pPr>
            <a:r>
              <a:rPr lang="en-US" sz="950" dirty="0">
                <a:solidFill>
                  <a:srgbClr val="8B949E"/>
                </a:solidFill>
                <a:latin typeface="Calibri" pitchFamily="34" charset="0"/>
                <a:ea typeface="Calibri" pitchFamily="34" charset="-122"/>
                <a:cs typeface="Calibri" pitchFamily="34" charset="-120"/>
              </a:rPr>
              <a:t>Unique ASN (e.g. AS15169)</a:t>
            </a:r>
            <a:endParaRPr lang="en-US" sz="950" dirty="0"/>
          </a:p>
        </p:txBody>
      </p:sp>
      <p:sp>
        <p:nvSpPr>
          <p:cNvPr id="17" name="Text 14"/>
          <p:cNvSpPr txBox="1"/>
          <p:nvPr/>
        </p:nvSpPr>
        <p:spPr>
          <a:xfrm>
            <a:off x="530352" y="3346704"/>
            <a:ext cx="2194560" cy="274320"/>
          </a:xfrm>
          <a:prstGeom prst="rect">
            <a:avLst/>
          </a:prstGeom>
          <a:noFill/>
          <a:ln/>
        </p:spPr>
        <p:txBody>
          <a:bodyPr wrap="square" lIns="0" tIns="0" rIns="0" bIns="0" rtlCol="0" anchor="ctr"/>
          <a:lstStyle/>
          <a:p>
            <a:pPr marL="0" indent="0">
              <a:buNone/>
            </a:pPr>
            <a:r>
              <a:rPr lang="en-US" sz="950" dirty="0">
                <a:solidFill>
                  <a:srgbClr val="58A6FF"/>
                </a:solidFill>
                <a:latin typeface="Courier New" pitchFamily="34" charset="0"/>
                <a:ea typeface="Courier New" pitchFamily="34" charset="-122"/>
                <a:cs typeface="Courier New" pitchFamily="34" charset="-120"/>
              </a:rPr>
              <a:t>autonomous_system_org</a:t>
            </a:r>
            <a:endParaRPr lang="en-US" sz="950" dirty="0"/>
          </a:p>
        </p:txBody>
      </p:sp>
      <p:sp>
        <p:nvSpPr>
          <p:cNvPr id="18" name="Text 15"/>
          <p:cNvSpPr txBox="1"/>
          <p:nvPr/>
        </p:nvSpPr>
        <p:spPr>
          <a:xfrm>
            <a:off x="2788920" y="3346704"/>
            <a:ext cx="1737360" cy="274320"/>
          </a:xfrm>
          <a:prstGeom prst="rect">
            <a:avLst/>
          </a:prstGeom>
          <a:noFill/>
          <a:ln/>
        </p:spPr>
        <p:txBody>
          <a:bodyPr wrap="square" lIns="0" tIns="0" rIns="0" bIns="0" rtlCol="0" anchor="ctr"/>
          <a:lstStyle/>
          <a:p>
            <a:pPr marL="0" indent="0">
              <a:buNone/>
            </a:pPr>
            <a:r>
              <a:rPr lang="en-US" sz="950" dirty="0">
                <a:solidFill>
                  <a:srgbClr val="8B949E"/>
                </a:solidFill>
                <a:latin typeface="Calibri" pitchFamily="34" charset="0"/>
                <a:ea typeface="Calibri" pitchFamily="34" charset="-122"/>
                <a:cs typeface="Calibri" pitchFamily="34" charset="-120"/>
              </a:rPr>
              <a:t>Org name (e.g. "GOOGLE")</a:t>
            </a:r>
            <a:endParaRPr lang="en-US" sz="950" dirty="0"/>
          </a:p>
        </p:txBody>
      </p:sp>
      <p:sp>
        <p:nvSpPr>
          <p:cNvPr id="19" name="Text 16"/>
          <p:cNvSpPr txBox="1"/>
          <p:nvPr/>
        </p:nvSpPr>
        <p:spPr>
          <a:xfrm>
            <a:off x="530352" y="3785616"/>
            <a:ext cx="3794760" cy="731520"/>
          </a:xfrm>
          <a:prstGeom prst="rect">
            <a:avLst/>
          </a:prstGeom>
          <a:noFill/>
          <a:ln/>
        </p:spPr>
        <p:txBody>
          <a:bodyPr wrap="square" lIns="0" tIns="0" rIns="0" bIns="0" rtlCol="0" anchor="ctr"/>
          <a:lstStyle/>
          <a:p>
            <a:pPr marL="0" indent="0">
              <a:buNone/>
            </a:pPr>
            <a:r>
              <a:rPr lang="en-US" sz="1000" dirty="0">
                <a:solidFill>
                  <a:srgbClr val="E6EDF3"/>
                </a:solidFill>
                <a:latin typeface="Calibri" pitchFamily="34" charset="0"/>
                <a:ea typeface="Calibri" pitchFamily="34" charset="-122"/>
                <a:cs typeface="Calibri" pitchFamily="34" charset="-120"/>
              </a:rPr>
              <a:t>Tells you WHICH NETWORK the IP belongs to — essential for spotting traffic from known malicious hosting providers, VPS clouds, or Tor exit nodes.</a:t>
            </a:r>
            <a:endParaRPr lang="en-US" sz="1000" dirty="0"/>
          </a:p>
        </p:txBody>
      </p:sp>
      <p:sp>
        <p:nvSpPr>
          <p:cNvPr id="20" name="Shape 17"/>
          <p:cNvSpPr/>
          <p:nvPr/>
        </p:nvSpPr>
        <p:spPr>
          <a:xfrm>
            <a:off x="4800600" y="2286000"/>
            <a:ext cx="4160520" cy="2560320"/>
          </a:xfrm>
          <a:prstGeom prst="roundRect">
            <a:avLst>
              <a:gd name="adj" fmla="val 2857"/>
            </a:avLst>
          </a:prstGeom>
          <a:solidFill>
            <a:srgbClr val="1F2937"/>
          </a:solidFill>
          <a:ln w="19050">
            <a:solidFill>
              <a:srgbClr val="D29922"/>
            </a:solidFill>
            <a:prstDash val="solid"/>
          </a:ln>
        </p:spPr>
        <p:txBody>
          <a:bodyPr/>
          <a:lstStyle/>
          <a:p>
            <a:endParaRPr lang="en-US"/>
          </a:p>
        </p:txBody>
      </p:sp>
      <p:sp>
        <p:nvSpPr>
          <p:cNvPr id="21" name="Text 18"/>
          <p:cNvSpPr txBox="1"/>
          <p:nvPr/>
        </p:nvSpPr>
        <p:spPr>
          <a:xfrm>
            <a:off x="4965192" y="2377440"/>
            <a:ext cx="3794760" cy="274320"/>
          </a:xfrm>
          <a:prstGeom prst="rect">
            <a:avLst/>
          </a:prstGeom>
          <a:noFill/>
          <a:ln/>
        </p:spPr>
        <p:txBody>
          <a:bodyPr wrap="square" lIns="0" tIns="0" rIns="0" bIns="0" rtlCol="0" anchor="ctr"/>
          <a:lstStyle/>
          <a:p>
            <a:pPr marL="0" indent="0">
              <a:buNone/>
            </a:pPr>
            <a:r>
              <a:rPr lang="en-US" sz="1400" b="1" dirty="0">
                <a:solidFill>
                  <a:srgbClr val="D29922"/>
                </a:solidFill>
                <a:latin typeface="Calibri" pitchFamily="34" charset="0"/>
                <a:ea typeface="Calibri" pitchFamily="34" charset="-122"/>
                <a:cs typeface="Calibri" pitchFamily="34" charset="-120"/>
              </a:rPr>
              <a:t>City / Country Database</a:t>
            </a:r>
            <a:endParaRPr lang="en-US" sz="1400" dirty="0"/>
          </a:p>
        </p:txBody>
      </p:sp>
      <p:sp>
        <p:nvSpPr>
          <p:cNvPr id="22" name="Text 19"/>
          <p:cNvSpPr txBox="1"/>
          <p:nvPr/>
        </p:nvSpPr>
        <p:spPr>
          <a:xfrm>
            <a:off x="4965192" y="2679192"/>
            <a:ext cx="3794760" cy="219456"/>
          </a:xfrm>
          <a:prstGeom prst="rect">
            <a:avLst/>
          </a:prstGeom>
          <a:noFill/>
          <a:ln/>
        </p:spPr>
        <p:txBody>
          <a:bodyPr wrap="square" lIns="0" tIns="0" rIns="0" bIns="0" rtlCol="0" anchor="ctr"/>
          <a:lstStyle/>
          <a:p>
            <a:pPr marL="0" indent="0">
              <a:buNone/>
            </a:pPr>
            <a:r>
              <a:rPr lang="en-US" sz="950" dirty="0">
                <a:solidFill>
                  <a:srgbClr val="8B949E"/>
                </a:solidFill>
                <a:latin typeface="Courier New" pitchFamily="34" charset="0"/>
                <a:ea typeface="Courier New" pitchFamily="34" charset="-122"/>
                <a:cs typeface="Courier New" pitchFamily="34" charset="-120"/>
              </a:rPr>
              <a:t>GeoLite2-City.mmdb</a:t>
            </a:r>
            <a:endParaRPr lang="en-US" sz="950" dirty="0"/>
          </a:p>
        </p:txBody>
      </p:sp>
      <p:sp>
        <p:nvSpPr>
          <p:cNvPr id="23" name="Shape 20"/>
          <p:cNvSpPr/>
          <p:nvPr/>
        </p:nvSpPr>
        <p:spPr>
          <a:xfrm>
            <a:off x="4965192" y="2953512"/>
            <a:ext cx="3749040" cy="9144"/>
          </a:xfrm>
          <a:prstGeom prst="rect">
            <a:avLst/>
          </a:prstGeom>
          <a:solidFill>
            <a:srgbClr val="30363D"/>
          </a:solidFill>
          <a:ln/>
        </p:spPr>
        <p:txBody>
          <a:bodyPr/>
          <a:lstStyle/>
          <a:p>
            <a:endParaRPr lang="en-US"/>
          </a:p>
        </p:txBody>
      </p:sp>
      <p:sp>
        <p:nvSpPr>
          <p:cNvPr id="24" name="Text 21"/>
          <p:cNvSpPr txBox="1"/>
          <p:nvPr/>
        </p:nvSpPr>
        <p:spPr>
          <a:xfrm>
            <a:off x="4965192" y="3017520"/>
            <a:ext cx="2194560" cy="274320"/>
          </a:xfrm>
          <a:prstGeom prst="rect">
            <a:avLst/>
          </a:prstGeom>
          <a:noFill/>
          <a:ln/>
        </p:spPr>
        <p:txBody>
          <a:bodyPr wrap="square" lIns="0" tIns="0" rIns="0" bIns="0" rtlCol="0" anchor="ctr"/>
          <a:lstStyle/>
          <a:p>
            <a:pPr marL="0" indent="0">
              <a:buNone/>
            </a:pPr>
            <a:r>
              <a:rPr lang="en-US" sz="950" dirty="0">
                <a:solidFill>
                  <a:srgbClr val="D29922"/>
                </a:solidFill>
                <a:latin typeface="Courier New" pitchFamily="34" charset="0"/>
                <a:ea typeface="Courier New" pitchFamily="34" charset="-122"/>
                <a:cs typeface="Courier New" pitchFamily="34" charset="-120"/>
              </a:rPr>
              <a:t>country.iso_code</a:t>
            </a:r>
            <a:endParaRPr lang="en-US" sz="950" dirty="0"/>
          </a:p>
        </p:txBody>
      </p:sp>
      <p:sp>
        <p:nvSpPr>
          <p:cNvPr id="25" name="Text 22"/>
          <p:cNvSpPr txBox="1"/>
          <p:nvPr/>
        </p:nvSpPr>
        <p:spPr>
          <a:xfrm>
            <a:off x="7223760" y="3017520"/>
            <a:ext cx="1737360" cy="274320"/>
          </a:xfrm>
          <a:prstGeom prst="rect">
            <a:avLst/>
          </a:prstGeom>
          <a:noFill/>
          <a:ln/>
        </p:spPr>
        <p:txBody>
          <a:bodyPr wrap="square" lIns="0" tIns="0" rIns="0" bIns="0" rtlCol="0" anchor="ctr"/>
          <a:lstStyle/>
          <a:p>
            <a:pPr marL="0" indent="0">
              <a:buNone/>
            </a:pPr>
            <a:r>
              <a:rPr lang="en-US" sz="950" dirty="0">
                <a:solidFill>
                  <a:srgbClr val="8B949E"/>
                </a:solidFill>
                <a:latin typeface="Calibri" pitchFamily="34" charset="0"/>
                <a:ea typeface="Calibri" pitchFamily="34" charset="-122"/>
                <a:cs typeface="Calibri" pitchFamily="34" charset="-120"/>
              </a:rPr>
              <a:t>"RU", "CN", "US" …</a:t>
            </a:r>
            <a:endParaRPr lang="en-US" sz="950" dirty="0"/>
          </a:p>
        </p:txBody>
      </p:sp>
      <p:sp>
        <p:nvSpPr>
          <p:cNvPr id="26" name="Text 23"/>
          <p:cNvSpPr txBox="1"/>
          <p:nvPr/>
        </p:nvSpPr>
        <p:spPr>
          <a:xfrm>
            <a:off x="4965192" y="3346704"/>
            <a:ext cx="2194560" cy="274320"/>
          </a:xfrm>
          <a:prstGeom prst="rect">
            <a:avLst/>
          </a:prstGeom>
          <a:noFill/>
          <a:ln/>
        </p:spPr>
        <p:txBody>
          <a:bodyPr wrap="square" lIns="0" tIns="0" rIns="0" bIns="0" rtlCol="0" anchor="ctr"/>
          <a:lstStyle/>
          <a:p>
            <a:pPr marL="0" indent="0">
              <a:buNone/>
            </a:pPr>
            <a:r>
              <a:rPr lang="en-US" sz="950" dirty="0">
                <a:solidFill>
                  <a:srgbClr val="D29922"/>
                </a:solidFill>
                <a:latin typeface="Courier New" pitchFamily="34" charset="0"/>
                <a:ea typeface="Courier New" pitchFamily="34" charset="-122"/>
                <a:cs typeface="Courier New" pitchFamily="34" charset="-120"/>
              </a:rPr>
              <a:t>country.name</a:t>
            </a:r>
            <a:endParaRPr lang="en-US" sz="950" dirty="0"/>
          </a:p>
        </p:txBody>
      </p:sp>
      <p:sp>
        <p:nvSpPr>
          <p:cNvPr id="27" name="Text 24"/>
          <p:cNvSpPr txBox="1"/>
          <p:nvPr/>
        </p:nvSpPr>
        <p:spPr>
          <a:xfrm>
            <a:off x="7223760" y="3346704"/>
            <a:ext cx="1737360" cy="274320"/>
          </a:xfrm>
          <a:prstGeom prst="rect">
            <a:avLst/>
          </a:prstGeom>
          <a:noFill/>
          <a:ln/>
        </p:spPr>
        <p:txBody>
          <a:bodyPr wrap="square" lIns="0" tIns="0" rIns="0" bIns="0" rtlCol="0" anchor="ctr"/>
          <a:lstStyle/>
          <a:p>
            <a:pPr marL="0" indent="0">
              <a:buNone/>
            </a:pPr>
            <a:r>
              <a:rPr lang="en-US" sz="950" dirty="0">
                <a:solidFill>
                  <a:srgbClr val="8B949E"/>
                </a:solidFill>
                <a:latin typeface="Calibri" pitchFamily="34" charset="0"/>
                <a:ea typeface="Calibri" pitchFamily="34" charset="-122"/>
                <a:cs typeface="Calibri" pitchFamily="34" charset="-120"/>
              </a:rPr>
              <a:t>Full country name</a:t>
            </a:r>
            <a:endParaRPr lang="en-US" sz="950" dirty="0"/>
          </a:p>
        </p:txBody>
      </p:sp>
      <p:sp>
        <p:nvSpPr>
          <p:cNvPr id="28" name="Text 25"/>
          <p:cNvSpPr txBox="1"/>
          <p:nvPr/>
        </p:nvSpPr>
        <p:spPr>
          <a:xfrm>
            <a:off x="4965192" y="3675888"/>
            <a:ext cx="2194560" cy="274320"/>
          </a:xfrm>
          <a:prstGeom prst="rect">
            <a:avLst/>
          </a:prstGeom>
          <a:noFill/>
          <a:ln/>
        </p:spPr>
        <p:txBody>
          <a:bodyPr wrap="square" lIns="0" tIns="0" rIns="0" bIns="0" rtlCol="0" anchor="ctr"/>
          <a:lstStyle/>
          <a:p>
            <a:pPr marL="0" indent="0">
              <a:buNone/>
            </a:pPr>
            <a:r>
              <a:rPr lang="en-US" sz="950" dirty="0">
                <a:solidFill>
                  <a:srgbClr val="D29922"/>
                </a:solidFill>
                <a:latin typeface="Courier New" pitchFamily="34" charset="0"/>
                <a:ea typeface="Courier New" pitchFamily="34" charset="-122"/>
                <a:cs typeface="Courier New" pitchFamily="34" charset="-120"/>
              </a:rPr>
              <a:t>city.name</a:t>
            </a:r>
            <a:endParaRPr lang="en-US" sz="950" dirty="0"/>
          </a:p>
        </p:txBody>
      </p:sp>
      <p:sp>
        <p:nvSpPr>
          <p:cNvPr id="29" name="Text 26"/>
          <p:cNvSpPr txBox="1"/>
          <p:nvPr/>
        </p:nvSpPr>
        <p:spPr>
          <a:xfrm>
            <a:off x="7223760" y="3675888"/>
            <a:ext cx="1737360" cy="274320"/>
          </a:xfrm>
          <a:prstGeom prst="rect">
            <a:avLst/>
          </a:prstGeom>
          <a:noFill/>
          <a:ln/>
        </p:spPr>
        <p:txBody>
          <a:bodyPr wrap="square" lIns="0" tIns="0" rIns="0" bIns="0" rtlCol="0" anchor="ctr"/>
          <a:lstStyle/>
          <a:p>
            <a:pPr marL="0" indent="0">
              <a:buNone/>
            </a:pPr>
            <a:r>
              <a:rPr lang="en-US" sz="950" dirty="0">
                <a:solidFill>
                  <a:srgbClr val="8B949E"/>
                </a:solidFill>
                <a:latin typeface="Calibri" pitchFamily="34" charset="0"/>
                <a:ea typeface="Calibri" pitchFamily="34" charset="-122"/>
                <a:cs typeface="Calibri" pitchFamily="34" charset="-120"/>
              </a:rPr>
              <a:t>City (best-effort)</a:t>
            </a:r>
            <a:endParaRPr lang="en-US" sz="950" dirty="0"/>
          </a:p>
        </p:txBody>
      </p:sp>
      <p:sp>
        <p:nvSpPr>
          <p:cNvPr id="30" name="Text 27"/>
          <p:cNvSpPr txBox="1"/>
          <p:nvPr/>
        </p:nvSpPr>
        <p:spPr>
          <a:xfrm>
            <a:off x="4965192" y="4114800"/>
            <a:ext cx="3794760" cy="731520"/>
          </a:xfrm>
          <a:prstGeom prst="rect">
            <a:avLst/>
          </a:prstGeom>
          <a:noFill/>
          <a:ln/>
        </p:spPr>
        <p:txBody>
          <a:bodyPr wrap="square" lIns="0" tIns="0" rIns="0" bIns="0" rtlCol="0" anchor="ctr"/>
          <a:lstStyle/>
          <a:p>
            <a:pPr marL="0" indent="0">
              <a:buNone/>
            </a:pPr>
            <a:r>
              <a:rPr lang="en-US" sz="1000" dirty="0">
                <a:solidFill>
                  <a:srgbClr val="E6EDF3"/>
                </a:solidFill>
                <a:latin typeface="Calibri" pitchFamily="34" charset="0"/>
                <a:ea typeface="Calibri" pitchFamily="34" charset="-122"/>
                <a:cs typeface="Calibri" pitchFamily="34" charset="-120"/>
              </a:rPr>
              <a:t>Tells you WHERE the IP is geolocated — enables country-level threat attribution and geographic anomaly detection (e.g. internal IPs appearing from foreign countries).</a:t>
            </a:r>
            <a:endParaRPr lang="en-US" sz="1000" dirty="0"/>
          </a:p>
        </p:txBody>
      </p:sp>
      <p:sp>
        <p:nvSpPr>
          <p:cNvPr id="31" name="Shape 28"/>
          <p:cNvSpPr/>
          <p:nvPr/>
        </p:nvSpPr>
        <p:spPr>
          <a:xfrm>
            <a:off x="0" y="5106924"/>
            <a:ext cx="9144000" cy="36576"/>
          </a:xfrm>
          <a:prstGeom prst="rect">
            <a:avLst/>
          </a:prstGeom>
          <a:solidFill>
            <a:srgbClr val="58A6FF"/>
          </a:solidFill>
          <a:ln/>
        </p:spPr>
        <p:txBody>
          <a:bodyPr/>
          <a:lstStyle/>
          <a:p>
            <a:endParaRPr lang="en-US"/>
          </a:p>
        </p:txBody>
      </p:sp>
      <p:pic>
        <p:nvPicPr>
          <p:cNvPr id="33" name="Picture 32" descr="Geoip Update Database | Echo'System'">
            <a:extLst>
              <a:ext uri="{FF2B5EF4-FFF2-40B4-BE49-F238E27FC236}">
                <a16:creationId xmlns:a16="http://schemas.microsoft.com/office/drawing/2014/main" id="{ACC2DBD6-F0BB-3EAD-F9BC-CE889BE13687}"/>
              </a:ext>
            </a:extLst>
          </p:cNvPr>
          <p:cNvPicPr>
            <a:picLocks noChangeAspect="1"/>
          </p:cNvPicPr>
          <p:nvPr/>
        </p:nvPicPr>
        <p:blipFill>
          <a:blip r:embed="rId3"/>
          <a:stretch>
            <a:fillRect/>
          </a:stretch>
        </p:blipFill>
        <p:spPr>
          <a:xfrm>
            <a:off x="4180361" y="310387"/>
            <a:ext cx="1240477" cy="114859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Shape 0"/>
          <p:cNvSpPr/>
          <p:nvPr/>
        </p:nvSpPr>
        <p:spPr>
          <a:xfrm>
            <a:off x="38150" y="36576"/>
            <a:ext cx="9144000" cy="5143500"/>
          </a:xfrm>
          <a:prstGeom prst="rect">
            <a:avLst/>
          </a:prstGeom>
          <a:solidFill>
            <a:srgbClr val="0D1117"/>
          </a:solidFill>
          <a:ln/>
        </p:spPr>
        <p:txBody>
          <a:bodyPr/>
          <a:lstStyle/>
          <a:p>
            <a:endParaRPr lang="en-US"/>
          </a:p>
        </p:txBody>
      </p:sp>
      <p:sp>
        <p:nvSpPr>
          <p:cNvPr id="4" name="Shape 1"/>
          <p:cNvSpPr/>
          <p:nvPr/>
        </p:nvSpPr>
        <p:spPr>
          <a:xfrm>
            <a:off x="0" y="0"/>
            <a:ext cx="9144000" cy="36576"/>
          </a:xfrm>
          <a:prstGeom prst="rect">
            <a:avLst/>
          </a:prstGeom>
          <a:solidFill>
            <a:srgbClr val="BC8CFF"/>
          </a:solidFill>
          <a:ln/>
        </p:spPr>
        <p:txBody>
          <a:bodyPr/>
          <a:lstStyle/>
          <a:p>
            <a:endParaRPr lang="en-US"/>
          </a:p>
        </p:txBody>
      </p:sp>
      <p:sp>
        <p:nvSpPr>
          <p:cNvPr id="5" name="Text 2"/>
          <p:cNvSpPr txBox="1"/>
          <p:nvPr/>
        </p:nvSpPr>
        <p:spPr>
          <a:xfrm>
            <a:off x="457200" y="201168"/>
            <a:ext cx="8229600" cy="237744"/>
          </a:xfrm>
          <a:prstGeom prst="rect">
            <a:avLst/>
          </a:prstGeom>
          <a:noFill/>
          <a:ln/>
        </p:spPr>
        <p:txBody>
          <a:bodyPr wrap="square" lIns="0" tIns="0" rIns="0" bIns="0" rtlCol="0" anchor="ctr"/>
          <a:lstStyle/>
          <a:p>
            <a:pPr marL="0" indent="0">
              <a:buNone/>
            </a:pPr>
            <a:r>
              <a:rPr lang="en-US" sz="1000" b="1" kern="0" spc="300" dirty="0">
                <a:solidFill>
                  <a:srgbClr val="BC8CFF"/>
                </a:solidFill>
                <a:latin typeface="Calibri" pitchFamily="34" charset="0"/>
                <a:ea typeface="Calibri" pitchFamily="34" charset="-122"/>
                <a:cs typeface="Calibri" pitchFamily="34" charset="-120"/>
              </a:rPr>
              <a:t>TOOL EXPLAINER</a:t>
            </a:r>
            <a:endParaRPr lang="en-US" sz="1000" dirty="0"/>
          </a:p>
        </p:txBody>
      </p:sp>
      <p:sp>
        <p:nvSpPr>
          <p:cNvPr id="6" name="Text 3"/>
          <p:cNvSpPr txBox="1"/>
          <p:nvPr/>
        </p:nvSpPr>
        <p:spPr>
          <a:xfrm>
            <a:off x="457200" y="502920"/>
            <a:ext cx="7315200" cy="502920"/>
          </a:xfrm>
          <a:prstGeom prst="rect">
            <a:avLst/>
          </a:prstGeom>
          <a:noFill/>
          <a:ln/>
        </p:spPr>
        <p:txBody>
          <a:bodyPr wrap="square" lIns="0" tIns="0" rIns="0" bIns="0" rtlCol="0" anchor="ctr"/>
          <a:lstStyle/>
          <a:p>
            <a:pPr marL="0" indent="0">
              <a:buNone/>
            </a:pPr>
            <a:r>
              <a:rPr lang="en-US" sz="2600" b="1" dirty="0">
                <a:solidFill>
                  <a:srgbClr val="E6EDF3"/>
                </a:solidFill>
                <a:latin typeface="Calibri" pitchFamily="34" charset="0"/>
                <a:ea typeface="Calibri" pitchFamily="34" charset="-122"/>
                <a:cs typeface="Calibri" pitchFamily="34" charset="-120"/>
              </a:rPr>
              <a:t>What are the Python Scripts?</a:t>
            </a:r>
            <a:endParaRPr lang="en-US" sz="2600" dirty="0"/>
          </a:p>
        </p:txBody>
      </p:sp>
      <p:sp>
        <p:nvSpPr>
          <p:cNvPr id="8" name="Shape 5"/>
          <p:cNvSpPr/>
          <p:nvPr/>
        </p:nvSpPr>
        <p:spPr>
          <a:xfrm>
            <a:off x="365760" y="1105755"/>
            <a:ext cx="8412480" cy="658368"/>
          </a:xfrm>
          <a:prstGeom prst="roundRect">
            <a:avLst>
              <a:gd name="adj" fmla="val 8333"/>
            </a:avLst>
          </a:prstGeom>
          <a:solidFill>
            <a:srgbClr val="1F2937"/>
          </a:solidFill>
          <a:ln w="12700">
            <a:solidFill>
              <a:srgbClr val="58A6FF"/>
            </a:solidFill>
            <a:prstDash val="solid"/>
          </a:ln>
        </p:spPr>
        <p:txBody>
          <a:bodyPr/>
          <a:lstStyle/>
          <a:p>
            <a:endParaRPr lang="en-US"/>
          </a:p>
        </p:txBody>
      </p:sp>
      <p:sp>
        <p:nvSpPr>
          <p:cNvPr id="9" name="Text 6"/>
          <p:cNvSpPr txBox="1"/>
          <p:nvPr/>
        </p:nvSpPr>
        <p:spPr>
          <a:xfrm>
            <a:off x="530352" y="1197195"/>
            <a:ext cx="1783080" cy="256032"/>
          </a:xfrm>
          <a:prstGeom prst="rect">
            <a:avLst/>
          </a:prstGeom>
          <a:noFill/>
          <a:ln/>
        </p:spPr>
        <p:txBody>
          <a:bodyPr wrap="square" lIns="0" tIns="0" rIns="0" bIns="0" rtlCol="0" anchor="ctr"/>
          <a:lstStyle/>
          <a:p>
            <a:pPr marL="0" indent="0">
              <a:buNone/>
            </a:pPr>
            <a:r>
              <a:rPr lang="en-US" sz="1150" b="1" dirty="0">
                <a:solidFill>
                  <a:srgbClr val="58A6FF"/>
                </a:solidFill>
                <a:latin typeface="Courier New" pitchFamily="34" charset="0"/>
                <a:ea typeface="Courier New" pitchFamily="34" charset="-122"/>
                <a:cs typeface="Courier New" pitchFamily="34" charset="-120"/>
              </a:rPr>
              <a:t>geo-asn.py</a:t>
            </a:r>
            <a:endParaRPr lang="en-US" sz="1150" dirty="0"/>
          </a:p>
        </p:txBody>
      </p:sp>
      <p:sp>
        <p:nvSpPr>
          <p:cNvPr id="10" name="Shape 7"/>
          <p:cNvSpPr/>
          <p:nvPr/>
        </p:nvSpPr>
        <p:spPr>
          <a:xfrm>
            <a:off x="2377440" y="1218566"/>
            <a:ext cx="1417320" cy="219456"/>
          </a:xfrm>
          <a:prstGeom prst="roundRect">
            <a:avLst>
              <a:gd name="adj" fmla="val 16667"/>
            </a:avLst>
          </a:prstGeom>
          <a:solidFill>
            <a:srgbClr val="161B22"/>
          </a:solidFill>
          <a:ln w="6350">
            <a:solidFill>
              <a:srgbClr val="58A6FF"/>
            </a:solidFill>
            <a:prstDash val="solid"/>
          </a:ln>
        </p:spPr>
        <p:txBody>
          <a:bodyPr/>
          <a:lstStyle/>
          <a:p>
            <a:endParaRPr lang="en-US"/>
          </a:p>
        </p:txBody>
      </p:sp>
      <p:sp>
        <p:nvSpPr>
          <p:cNvPr id="11" name="Text 8"/>
          <p:cNvSpPr txBox="1"/>
          <p:nvPr/>
        </p:nvSpPr>
        <p:spPr>
          <a:xfrm>
            <a:off x="2377440" y="1224627"/>
            <a:ext cx="1417320" cy="219456"/>
          </a:xfrm>
          <a:prstGeom prst="rect">
            <a:avLst/>
          </a:prstGeom>
          <a:noFill/>
          <a:ln/>
        </p:spPr>
        <p:txBody>
          <a:bodyPr wrap="square" lIns="0" tIns="0" rIns="0" bIns="0" rtlCol="0" anchor="ctr"/>
          <a:lstStyle/>
          <a:p>
            <a:pPr marL="0" indent="0" algn="ctr">
              <a:buNone/>
            </a:pPr>
            <a:r>
              <a:rPr lang="en-US" sz="850" b="1" dirty="0">
                <a:solidFill>
                  <a:srgbClr val="58A6FF"/>
                </a:solidFill>
                <a:latin typeface="Calibri" pitchFamily="34" charset="0"/>
                <a:ea typeface="Calibri" pitchFamily="34" charset="-122"/>
                <a:cs typeface="Calibri" pitchFamily="34" charset="-120"/>
              </a:rPr>
              <a:t>IP Enrichment</a:t>
            </a:r>
            <a:endParaRPr lang="en-US" sz="850" dirty="0"/>
          </a:p>
        </p:txBody>
      </p:sp>
      <p:sp>
        <p:nvSpPr>
          <p:cNvPr id="12" name="Text 9"/>
          <p:cNvSpPr txBox="1"/>
          <p:nvPr/>
        </p:nvSpPr>
        <p:spPr>
          <a:xfrm>
            <a:off x="3931920" y="1197195"/>
            <a:ext cx="4663440" cy="237744"/>
          </a:xfrm>
          <a:prstGeom prst="rect">
            <a:avLst/>
          </a:prstGeom>
          <a:noFill/>
          <a:ln/>
        </p:spPr>
        <p:txBody>
          <a:bodyPr wrap="square" lIns="0" tIns="0" rIns="0" bIns="0" rtlCol="0" anchor="ctr"/>
          <a:lstStyle/>
          <a:p>
            <a:pPr marL="0" indent="0">
              <a:buNone/>
            </a:pPr>
            <a:r>
              <a:rPr lang="en-US" sz="950" dirty="0">
                <a:solidFill>
                  <a:srgbClr val="8B949E"/>
                </a:solidFill>
                <a:latin typeface="Courier New" pitchFamily="34" charset="0"/>
                <a:ea typeface="Courier New" pitchFamily="34" charset="-122"/>
                <a:cs typeface="Courier New" pitchFamily="34" charset="-120"/>
              </a:rPr>
              <a:t>eve.json → eve_extra.json</a:t>
            </a:r>
            <a:endParaRPr lang="en-US" sz="950" dirty="0"/>
          </a:p>
        </p:txBody>
      </p:sp>
      <p:sp>
        <p:nvSpPr>
          <p:cNvPr id="13" name="Text 10"/>
          <p:cNvSpPr txBox="1"/>
          <p:nvPr/>
        </p:nvSpPr>
        <p:spPr>
          <a:xfrm>
            <a:off x="530352" y="1471515"/>
            <a:ext cx="8092440" cy="256032"/>
          </a:xfrm>
          <a:prstGeom prst="rect">
            <a:avLst/>
          </a:prstGeom>
          <a:noFill/>
          <a:ln/>
        </p:spPr>
        <p:txBody>
          <a:bodyPr wrap="square" lIns="0" tIns="0" rIns="0" bIns="0" rtlCol="0" anchor="ctr"/>
          <a:lstStyle/>
          <a:p>
            <a:pPr marL="0" indent="0">
              <a:buNone/>
            </a:pPr>
            <a:r>
              <a:rPr lang="en-US" sz="950" dirty="0">
                <a:solidFill>
                  <a:srgbClr val="8B949E"/>
                </a:solidFill>
                <a:latin typeface="Calibri" pitchFamily="34" charset="0"/>
                <a:ea typeface="Calibri" pitchFamily="34" charset="-122"/>
                <a:cs typeface="Calibri" pitchFamily="34" charset="-120"/>
              </a:rPr>
              <a:t>Reads every alert from Suricata's eve.json, queries GeoLite2-ASN and GeoLite2-City for each src_ip and dest_ip, and appends country, city, ASN number, and ASN org fields to each event.</a:t>
            </a:r>
            <a:endParaRPr lang="en-US" sz="950" dirty="0"/>
          </a:p>
        </p:txBody>
      </p:sp>
      <p:sp>
        <p:nvSpPr>
          <p:cNvPr id="14" name="Shape 11"/>
          <p:cNvSpPr/>
          <p:nvPr/>
        </p:nvSpPr>
        <p:spPr>
          <a:xfrm>
            <a:off x="365760" y="1858409"/>
            <a:ext cx="8412480" cy="658368"/>
          </a:xfrm>
          <a:prstGeom prst="roundRect">
            <a:avLst>
              <a:gd name="adj" fmla="val 8333"/>
            </a:avLst>
          </a:prstGeom>
          <a:solidFill>
            <a:srgbClr val="1F2937"/>
          </a:solidFill>
          <a:ln w="12700">
            <a:solidFill>
              <a:srgbClr val="58A6FF"/>
            </a:solidFill>
            <a:prstDash val="solid"/>
          </a:ln>
        </p:spPr>
        <p:txBody>
          <a:bodyPr/>
          <a:lstStyle/>
          <a:p>
            <a:endParaRPr lang="en-US"/>
          </a:p>
        </p:txBody>
      </p:sp>
      <p:sp>
        <p:nvSpPr>
          <p:cNvPr id="15" name="Text 12"/>
          <p:cNvSpPr txBox="1"/>
          <p:nvPr/>
        </p:nvSpPr>
        <p:spPr>
          <a:xfrm>
            <a:off x="530352" y="1949849"/>
            <a:ext cx="1783080" cy="256032"/>
          </a:xfrm>
          <a:prstGeom prst="rect">
            <a:avLst/>
          </a:prstGeom>
          <a:noFill/>
          <a:ln/>
        </p:spPr>
        <p:txBody>
          <a:bodyPr wrap="square" lIns="0" tIns="0" rIns="0" bIns="0" rtlCol="0" anchor="ctr"/>
          <a:lstStyle/>
          <a:p>
            <a:pPr marL="0" indent="0">
              <a:buNone/>
            </a:pPr>
            <a:r>
              <a:rPr lang="en-US" sz="1150" b="1" dirty="0">
                <a:solidFill>
                  <a:srgbClr val="58A6FF"/>
                </a:solidFill>
                <a:latin typeface="Courier New" pitchFamily="34" charset="0"/>
                <a:ea typeface="Courier New" pitchFamily="34" charset="-122"/>
                <a:cs typeface="Courier New" pitchFamily="34" charset="-120"/>
              </a:rPr>
              <a:t>correlate.py</a:t>
            </a:r>
            <a:endParaRPr lang="en-US" sz="1150" dirty="0"/>
          </a:p>
        </p:txBody>
      </p:sp>
      <p:sp>
        <p:nvSpPr>
          <p:cNvPr id="16" name="Shape 13"/>
          <p:cNvSpPr/>
          <p:nvPr/>
        </p:nvSpPr>
        <p:spPr>
          <a:xfrm>
            <a:off x="2377440" y="1971221"/>
            <a:ext cx="1417320" cy="219456"/>
          </a:xfrm>
          <a:prstGeom prst="roundRect">
            <a:avLst>
              <a:gd name="adj" fmla="val 16667"/>
            </a:avLst>
          </a:prstGeom>
          <a:solidFill>
            <a:srgbClr val="161B22"/>
          </a:solidFill>
          <a:ln w="6350">
            <a:solidFill>
              <a:srgbClr val="58A6FF"/>
            </a:solidFill>
            <a:prstDash val="solid"/>
          </a:ln>
        </p:spPr>
        <p:txBody>
          <a:bodyPr/>
          <a:lstStyle/>
          <a:p>
            <a:endParaRPr lang="en-US"/>
          </a:p>
        </p:txBody>
      </p:sp>
      <p:sp>
        <p:nvSpPr>
          <p:cNvPr id="17" name="Text 14"/>
          <p:cNvSpPr txBox="1"/>
          <p:nvPr/>
        </p:nvSpPr>
        <p:spPr>
          <a:xfrm>
            <a:off x="2377440" y="1977281"/>
            <a:ext cx="1417320" cy="219456"/>
          </a:xfrm>
          <a:prstGeom prst="rect">
            <a:avLst/>
          </a:prstGeom>
          <a:noFill/>
          <a:ln/>
        </p:spPr>
        <p:txBody>
          <a:bodyPr wrap="square" lIns="0" tIns="0" rIns="0" bIns="0" rtlCol="0" anchor="ctr"/>
          <a:lstStyle/>
          <a:p>
            <a:pPr marL="0" indent="0" algn="ctr">
              <a:buNone/>
            </a:pPr>
            <a:r>
              <a:rPr lang="en-US" sz="850" b="1" dirty="0">
                <a:solidFill>
                  <a:srgbClr val="58A6FF"/>
                </a:solidFill>
                <a:latin typeface="Calibri" pitchFamily="34" charset="0"/>
                <a:ea typeface="Calibri" pitchFamily="34" charset="-122"/>
                <a:cs typeface="Calibri" pitchFamily="34" charset="-120"/>
              </a:rPr>
              <a:t>Alert↔Zeek Pivot</a:t>
            </a:r>
            <a:endParaRPr lang="en-US" sz="850" dirty="0"/>
          </a:p>
        </p:txBody>
      </p:sp>
      <p:sp>
        <p:nvSpPr>
          <p:cNvPr id="18" name="Text 15"/>
          <p:cNvSpPr txBox="1"/>
          <p:nvPr/>
        </p:nvSpPr>
        <p:spPr>
          <a:xfrm>
            <a:off x="3931920" y="1949849"/>
            <a:ext cx="4663440" cy="237744"/>
          </a:xfrm>
          <a:prstGeom prst="rect">
            <a:avLst/>
          </a:prstGeom>
          <a:noFill/>
          <a:ln/>
        </p:spPr>
        <p:txBody>
          <a:bodyPr wrap="square" lIns="0" tIns="0" rIns="0" bIns="0" rtlCol="0" anchor="ctr"/>
          <a:lstStyle/>
          <a:p>
            <a:pPr marL="0" indent="0">
              <a:buNone/>
            </a:pPr>
            <a:r>
              <a:rPr lang="en-US" sz="950" dirty="0">
                <a:solidFill>
                  <a:srgbClr val="8B949E"/>
                </a:solidFill>
                <a:latin typeface="Courier New" pitchFamily="34" charset="0"/>
                <a:ea typeface="Courier New" pitchFamily="34" charset="-122"/>
                <a:cs typeface="Courier New" pitchFamily="34" charset="-120"/>
              </a:rPr>
              <a:t>eve_extra.json + Zeek logs → correlated.json</a:t>
            </a:r>
            <a:endParaRPr lang="en-US" sz="950" dirty="0"/>
          </a:p>
        </p:txBody>
      </p:sp>
      <p:sp>
        <p:nvSpPr>
          <p:cNvPr id="19" name="Text 16"/>
          <p:cNvSpPr txBox="1"/>
          <p:nvPr/>
        </p:nvSpPr>
        <p:spPr>
          <a:xfrm>
            <a:off x="530352" y="2224169"/>
            <a:ext cx="8092440" cy="256032"/>
          </a:xfrm>
          <a:prstGeom prst="rect">
            <a:avLst/>
          </a:prstGeom>
          <a:noFill/>
          <a:ln/>
        </p:spPr>
        <p:txBody>
          <a:bodyPr wrap="square" lIns="0" tIns="0" rIns="0" bIns="0" rtlCol="0" anchor="ctr"/>
          <a:lstStyle/>
          <a:p>
            <a:pPr marL="0" indent="0">
              <a:buNone/>
            </a:pPr>
            <a:r>
              <a:rPr lang="en-US" sz="950" dirty="0">
                <a:solidFill>
                  <a:srgbClr val="8B949E"/>
                </a:solidFill>
                <a:latin typeface="Calibri" pitchFamily="34" charset="0"/>
                <a:ea typeface="Calibri" pitchFamily="34" charset="-122"/>
                <a:cs typeface="Calibri" pitchFamily="34" charset="-120"/>
              </a:rPr>
              <a:t>Uses Community ID (a standard hash of the 5-tuple) to match each Suricata alert to the corresponding Zeek connection and protocol logs. Produces one enriched record per alert with full context attached.</a:t>
            </a:r>
            <a:endParaRPr lang="en-US" sz="950" dirty="0"/>
          </a:p>
        </p:txBody>
      </p:sp>
      <p:sp>
        <p:nvSpPr>
          <p:cNvPr id="20" name="Shape 17"/>
          <p:cNvSpPr/>
          <p:nvPr/>
        </p:nvSpPr>
        <p:spPr>
          <a:xfrm>
            <a:off x="365760" y="2617107"/>
            <a:ext cx="8412480" cy="658368"/>
          </a:xfrm>
          <a:prstGeom prst="roundRect">
            <a:avLst>
              <a:gd name="adj" fmla="val 8333"/>
            </a:avLst>
          </a:prstGeom>
          <a:solidFill>
            <a:srgbClr val="1F2937"/>
          </a:solidFill>
          <a:ln w="12700">
            <a:solidFill>
              <a:srgbClr val="3FB950"/>
            </a:solidFill>
            <a:prstDash val="solid"/>
          </a:ln>
        </p:spPr>
        <p:txBody>
          <a:bodyPr/>
          <a:lstStyle/>
          <a:p>
            <a:endParaRPr lang="en-US"/>
          </a:p>
        </p:txBody>
      </p:sp>
      <p:sp>
        <p:nvSpPr>
          <p:cNvPr id="21" name="Text 18"/>
          <p:cNvSpPr txBox="1"/>
          <p:nvPr/>
        </p:nvSpPr>
        <p:spPr>
          <a:xfrm>
            <a:off x="530352" y="2708547"/>
            <a:ext cx="1783080" cy="256032"/>
          </a:xfrm>
          <a:prstGeom prst="rect">
            <a:avLst/>
          </a:prstGeom>
          <a:noFill/>
          <a:ln/>
        </p:spPr>
        <p:txBody>
          <a:bodyPr wrap="square" lIns="0" tIns="0" rIns="0" bIns="0" rtlCol="0" anchor="ctr"/>
          <a:lstStyle/>
          <a:p>
            <a:pPr marL="0" indent="0">
              <a:buNone/>
            </a:pPr>
            <a:r>
              <a:rPr lang="en-US" sz="1150" b="1" dirty="0">
                <a:solidFill>
                  <a:srgbClr val="3FB950"/>
                </a:solidFill>
                <a:latin typeface="Courier New" pitchFamily="34" charset="0"/>
                <a:ea typeface="Courier New" pitchFamily="34" charset="-122"/>
                <a:cs typeface="Courier New" pitchFamily="34" charset="-120"/>
              </a:rPr>
              <a:t>alerts-report.py</a:t>
            </a:r>
            <a:endParaRPr lang="en-US" sz="1150" dirty="0"/>
          </a:p>
        </p:txBody>
      </p:sp>
      <p:sp>
        <p:nvSpPr>
          <p:cNvPr id="22" name="Shape 19"/>
          <p:cNvSpPr/>
          <p:nvPr/>
        </p:nvSpPr>
        <p:spPr>
          <a:xfrm>
            <a:off x="2377440" y="2723881"/>
            <a:ext cx="1417320" cy="219456"/>
          </a:xfrm>
          <a:prstGeom prst="roundRect">
            <a:avLst>
              <a:gd name="adj" fmla="val 16667"/>
            </a:avLst>
          </a:prstGeom>
          <a:solidFill>
            <a:srgbClr val="161B22"/>
          </a:solidFill>
          <a:ln w="6350">
            <a:solidFill>
              <a:srgbClr val="3FB950"/>
            </a:solidFill>
            <a:prstDash val="solid"/>
          </a:ln>
        </p:spPr>
        <p:txBody>
          <a:bodyPr/>
          <a:lstStyle/>
          <a:p>
            <a:endParaRPr lang="en-US"/>
          </a:p>
        </p:txBody>
      </p:sp>
      <p:sp>
        <p:nvSpPr>
          <p:cNvPr id="23" name="Text 20"/>
          <p:cNvSpPr txBox="1"/>
          <p:nvPr/>
        </p:nvSpPr>
        <p:spPr>
          <a:xfrm>
            <a:off x="2377440" y="2735979"/>
            <a:ext cx="1417320" cy="219456"/>
          </a:xfrm>
          <a:prstGeom prst="rect">
            <a:avLst/>
          </a:prstGeom>
          <a:noFill/>
          <a:ln/>
        </p:spPr>
        <p:txBody>
          <a:bodyPr wrap="square" lIns="0" tIns="0" rIns="0" bIns="0" rtlCol="0" anchor="ctr"/>
          <a:lstStyle/>
          <a:p>
            <a:pPr marL="0" indent="0" algn="ctr">
              <a:buNone/>
            </a:pPr>
            <a:r>
              <a:rPr lang="en-US" sz="850" b="1" dirty="0">
                <a:solidFill>
                  <a:srgbClr val="3FB950"/>
                </a:solidFill>
                <a:latin typeface="Calibri" pitchFamily="34" charset="0"/>
                <a:ea typeface="Calibri" pitchFamily="34" charset="-122"/>
                <a:cs typeface="Calibri" pitchFamily="34" charset="-120"/>
              </a:rPr>
              <a:t>Per-Alert Markdown</a:t>
            </a:r>
            <a:endParaRPr lang="en-US" sz="850" dirty="0"/>
          </a:p>
        </p:txBody>
      </p:sp>
      <p:sp>
        <p:nvSpPr>
          <p:cNvPr id="24" name="Text 21"/>
          <p:cNvSpPr txBox="1"/>
          <p:nvPr/>
        </p:nvSpPr>
        <p:spPr>
          <a:xfrm>
            <a:off x="3931920" y="2708547"/>
            <a:ext cx="4663440" cy="237744"/>
          </a:xfrm>
          <a:prstGeom prst="rect">
            <a:avLst/>
          </a:prstGeom>
          <a:noFill/>
          <a:ln/>
        </p:spPr>
        <p:txBody>
          <a:bodyPr wrap="square" lIns="0" tIns="0" rIns="0" bIns="0" rtlCol="0" anchor="ctr"/>
          <a:lstStyle/>
          <a:p>
            <a:pPr marL="0" indent="0">
              <a:buNone/>
            </a:pPr>
            <a:r>
              <a:rPr lang="en-US" sz="950" dirty="0">
                <a:solidFill>
                  <a:srgbClr val="8B949E"/>
                </a:solidFill>
                <a:latin typeface="Courier New" pitchFamily="34" charset="0"/>
                <a:ea typeface="Courier New" pitchFamily="34" charset="-122"/>
                <a:cs typeface="Courier New" pitchFamily="34" charset="-120"/>
              </a:rPr>
              <a:t>correlated.json → alerts_report.md</a:t>
            </a:r>
            <a:endParaRPr lang="en-US" sz="950" dirty="0"/>
          </a:p>
        </p:txBody>
      </p:sp>
      <p:sp>
        <p:nvSpPr>
          <p:cNvPr id="25" name="Text 22"/>
          <p:cNvSpPr txBox="1"/>
          <p:nvPr/>
        </p:nvSpPr>
        <p:spPr>
          <a:xfrm>
            <a:off x="530352" y="2984063"/>
            <a:ext cx="8092440" cy="256032"/>
          </a:xfrm>
          <a:prstGeom prst="rect">
            <a:avLst/>
          </a:prstGeom>
          <a:noFill/>
          <a:ln/>
        </p:spPr>
        <p:txBody>
          <a:bodyPr wrap="square" lIns="0" tIns="0" rIns="0" bIns="0" rtlCol="0" anchor="ctr"/>
          <a:lstStyle/>
          <a:p>
            <a:pPr marL="0" indent="0">
              <a:buNone/>
            </a:pPr>
            <a:r>
              <a:rPr lang="en-US" sz="950" dirty="0">
                <a:solidFill>
                  <a:srgbClr val="8B949E"/>
                </a:solidFill>
                <a:latin typeface="Calibri" pitchFamily="34" charset="0"/>
                <a:ea typeface="Calibri" pitchFamily="34" charset="-122"/>
                <a:cs typeface="Calibri" pitchFamily="34" charset="-120"/>
              </a:rPr>
              <a:t>Renders each correlated alert as a Markdown section grouped by severity. Includes timestamp, signature, Community ID, geo-enriched IPs, and any Zeek DNS/HTTP/TLS/file events linked to the same flow.</a:t>
            </a:r>
            <a:endParaRPr lang="en-US" sz="950" dirty="0"/>
          </a:p>
        </p:txBody>
      </p:sp>
      <p:sp>
        <p:nvSpPr>
          <p:cNvPr id="26" name="Shape 23"/>
          <p:cNvSpPr/>
          <p:nvPr/>
        </p:nvSpPr>
        <p:spPr>
          <a:xfrm>
            <a:off x="365760" y="3375829"/>
            <a:ext cx="8412480" cy="658368"/>
          </a:xfrm>
          <a:prstGeom prst="roundRect">
            <a:avLst>
              <a:gd name="adj" fmla="val 8333"/>
            </a:avLst>
          </a:prstGeom>
          <a:solidFill>
            <a:srgbClr val="1F2937"/>
          </a:solidFill>
          <a:ln w="12700">
            <a:solidFill>
              <a:srgbClr val="3FB950"/>
            </a:solidFill>
            <a:prstDash val="solid"/>
          </a:ln>
        </p:spPr>
        <p:txBody>
          <a:bodyPr/>
          <a:lstStyle/>
          <a:p>
            <a:endParaRPr lang="en-US"/>
          </a:p>
        </p:txBody>
      </p:sp>
      <p:sp>
        <p:nvSpPr>
          <p:cNvPr id="27" name="Text 24"/>
          <p:cNvSpPr txBox="1"/>
          <p:nvPr/>
        </p:nvSpPr>
        <p:spPr>
          <a:xfrm>
            <a:off x="530352" y="3467269"/>
            <a:ext cx="1783080" cy="256032"/>
          </a:xfrm>
          <a:prstGeom prst="rect">
            <a:avLst/>
          </a:prstGeom>
          <a:noFill/>
          <a:ln/>
        </p:spPr>
        <p:txBody>
          <a:bodyPr wrap="square" lIns="0" tIns="0" rIns="0" bIns="0" rtlCol="0" anchor="ctr"/>
          <a:lstStyle/>
          <a:p>
            <a:pPr marL="0" indent="0">
              <a:buNone/>
            </a:pPr>
            <a:r>
              <a:rPr lang="en-US" sz="1150" b="1" dirty="0">
                <a:solidFill>
                  <a:srgbClr val="3FB950"/>
                </a:solidFill>
                <a:latin typeface="Courier New" pitchFamily="34" charset="0"/>
                <a:ea typeface="Courier New" pitchFamily="34" charset="-122"/>
                <a:cs typeface="Courier New" pitchFamily="34" charset="-120"/>
              </a:rPr>
              <a:t>stats-report.py</a:t>
            </a:r>
            <a:endParaRPr lang="en-US" sz="1150" dirty="0"/>
          </a:p>
        </p:txBody>
      </p:sp>
      <p:sp>
        <p:nvSpPr>
          <p:cNvPr id="28" name="Shape 25"/>
          <p:cNvSpPr/>
          <p:nvPr/>
        </p:nvSpPr>
        <p:spPr>
          <a:xfrm>
            <a:off x="2377440" y="3500756"/>
            <a:ext cx="1417320" cy="219456"/>
          </a:xfrm>
          <a:prstGeom prst="roundRect">
            <a:avLst>
              <a:gd name="adj" fmla="val 16667"/>
            </a:avLst>
          </a:prstGeom>
          <a:solidFill>
            <a:srgbClr val="161B22"/>
          </a:solidFill>
          <a:ln w="6350">
            <a:solidFill>
              <a:srgbClr val="3FB950"/>
            </a:solidFill>
            <a:prstDash val="solid"/>
          </a:ln>
        </p:spPr>
        <p:txBody>
          <a:bodyPr/>
          <a:lstStyle/>
          <a:p>
            <a:endParaRPr lang="en-US"/>
          </a:p>
        </p:txBody>
      </p:sp>
      <p:sp>
        <p:nvSpPr>
          <p:cNvPr id="29" name="Text 26"/>
          <p:cNvSpPr txBox="1"/>
          <p:nvPr/>
        </p:nvSpPr>
        <p:spPr>
          <a:xfrm>
            <a:off x="2377440" y="3494701"/>
            <a:ext cx="1417320" cy="219456"/>
          </a:xfrm>
          <a:prstGeom prst="rect">
            <a:avLst/>
          </a:prstGeom>
          <a:noFill/>
          <a:ln/>
        </p:spPr>
        <p:txBody>
          <a:bodyPr wrap="square" lIns="0" tIns="0" rIns="0" bIns="0" rtlCol="0" anchor="ctr"/>
          <a:lstStyle/>
          <a:p>
            <a:pPr marL="0" indent="0" algn="ctr">
              <a:buNone/>
            </a:pPr>
            <a:r>
              <a:rPr lang="en-US" sz="850" b="1" dirty="0">
                <a:solidFill>
                  <a:srgbClr val="3FB950"/>
                </a:solidFill>
                <a:latin typeface="Calibri" pitchFamily="34" charset="0"/>
                <a:ea typeface="Calibri" pitchFamily="34" charset="-122"/>
                <a:cs typeface="Calibri" pitchFamily="34" charset="-120"/>
              </a:rPr>
              <a:t>Statistics Tables</a:t>
            </a:r>
            <a:endParaRPr lang="en-US" sz="850" dirty="0"/>
          </a:p>
        </p:txBody>
      </p:sp>
      <p:sp>
        <p:nvSpPr>
          <p:cNvPr id="30" name="Text 27"/>
          <p:cNvSpPr txBox="1"/>
          <p:nvPr/>
        </p:nvSpPr>
        <p:spPr>
          <a:xfrm>
            <a:off x="3931920" y="3467269"/>
            <a:ext cx="4663440" cy="237744"/>
          </a:xfrm>
          <a:prstGeom prst="rect">
            <a:avLst/>
          </a:prstGeom>
          <a:noFill/>
          <a:ln/>
        </p:spPr>
        <p:txBody>
          <a:bodyPr wrap="square" lIns="0" tIns="0" rIns="0" bIns="0" rtlCol="0" anchor="ctr"/>
          <a:lstStyle/>
          <a:p>
            <a:pPr marL="0" indent="0">
              <a:buNone/>
            </a:pPr>
            <a:r>
              <a:rPr lang="en-US" sz="950" dirty="0">
                <a:solidFill>
                  <a:srgbClr val="8B949E"/>
                </a:solidFill>
                <a:latin typeface="Courier New" pitchFamily="34" charset="0"/>
                <a:ea typeface="Courier New" pitchFamily="34" charset="-122"/>
                <a:cs typeface="Courier New" pitchFamily="34" charset="-120"/>
              </a:rPr>
              <a:t>correlated.json → stats_report.md</a:t>
            </a:r>
            <a:endParaRPr lang="en-US" sz="950" dirty="0"/>
          </a:p>
        </p:txBody>
      </p:sp>
      <p:sp>
        <p:nvSpPr>
          <p:cNvPr id="31" name="Text 28"/>
          <p:cNvSpPr txBox="1"/>
          <p:nvPr/>
        </p:nvSpPr>
        <p:spPr>
          <a:xfrm>
            <a:off x="530352" y="3735531"/>
            <a:ext cx="8092440" cy="256032"/>
          </a:xfrm>
          <a:prstGeom prst="rect">
            <a:avLst/>
          </a:prstGeom>
          <a:noFill/>
          <a:ln/>
        </p:spPr>
        <p:txBody>
          <a:bodyPr wrap="square" lIns="0" tIns="0" rIns="0" bIns="0" rtlCol="0" anchor="ctr"/>
          <a:lstStyle/>
          <a:p>
            <a:pPr marL="0" indent="0">
              <a:buNone/>
            </a:pPr>
            <a:r>
              <a:rPr lang="en-US" sz="950" dirty="0">
                <a:solidFill>
                  <a:srgbClr val="8B949E"/>
                </a:solidFill>
                <a:latin typeface="Calibri" pitchFamily="34" charset="0"/>
                <a:ea typeface="Calibri" pitchFamily="34" charset="-122"/>
                <a:cs typeface="Calibri" pitchFamily="34" charset="-120"/>
              </a:rPr>
              <a:t>Aggregates all alerts into top-10 ranking tables: by severity level, by source country, by ASN organization, by source IP, by destination port, and a protocol breakdown chart in Markdown.</a:t>
            </a:r>
            <a:endParaRPr lang="en-US" sz="950" dirty="0"/>
          </a:p>
        </p:txBody>
      </p:sp>
      <p:sp>
        <p:nvSpPr>
          <p:cNvPr id="32" name="Shape 29"/>
          <p:cNvSpPr/>
          <p:nvPr/>
        </p:nvSpPr>
        <p:spPr>
          <a:xfrm>
            <a:off x="365760" y="4140590"/>
            <a:ext cx="8412480" cy="658368"/>
          </a:xfrm>
          <a:prstGeom prst="roundRect">
            <a:avLst>
              <a:gd name="adj" fmla="val 8333"/>
            </a:avLst>
          </a:prstGeom>
          <a:solidFill>
            <a:srgbClr val="1F2937"/>
          </a:solidFill>
          <a:ln w="12700">
            <a:solidFill>
              <a:srgbClr val="D29922"/>
            </a:solidFill>
            <a:prstDash val="solid"/>
          </a:ln>
        </p:spPr>
        <p:txBody>
          <a:bodyPr/>
          <a:lstStyle/>
          <a:p>
            <a:endParaRPr lang="en-US"/>
          </a:p>
        </p:txBody>
      </p:sp>
      <p:sp>
        <p:nvSpPr>
          <p:cNvPr id="33" name="Text 30"/>
          <p:cNvSpPr txBox="1"/>
          <p:nvPr/>
        </p:nvSpPr>
        <p:spPr>
          <a:xfrm>
            <a:off x="530352" y="4232030"/>
            <a:ext cx="1783080" cy="256032"/>
          </a:xfrm>
          <a:prstGeom prst="rect">
            <a:avLst/>
          </a:prstGeom>
          <a:noFill/>
          <a:ln/>
        </p:spPr>
        <p:txBody>
          <a:bodyPr wrap="square" lIns="0" tIns="0" rIns="0" bIns="0" rtlCol="0" anchor="ctr"/>
          <a:lstStyle/>
          <a:p>
            <a:pPr marL="0" indent="0">
              <a:buNone/>
            </a:pPr>
            <a:r>
              <a:rPr lang="en-US" sz="1150" b="1" dirty="0">
                <a:solidFill>
                  <a:srgbClr val="D29922"/>
                </a:solidFill>
                <a:latin typeface="Courier New" pitchFamily="34" charset="0"/>
                <a:ea typeface="Courier New" pitchFamily="34" charset="-122"/>
                <a:cs typeface="Courier New" pitchFamily="34" charset="-120"/>
              </a:rPr>
              <a:t>join-reports.py</a:t>
            </a:r>
            <a:endParaRPr lang="en-US" sz="1150" dirty="0"/>
          </a:p>
        </p:txBody>
      </p:sp>
      <p:sp>
        <p:nvSpPr>
          <p:cNvPr id="34" name="Shape 31"/>
          <p:cNvSpPr/>
          <p:nvPr/>
        </p:nvSpPr>
        <p:spPr>
          <a:xfrm>
            <a:off x="2377440" y="4259464"/>
            <a:ext cx="1417320" cy="219456"/>
          </a:xfrm>
          <a:prstGeom prst="roundRect">
            <a:avLst>
              <a:gd name="adj" fmla="val 16667"/>
            </a:avLst>
          </a:prstGeom>
          <a:solidFill>
            <a:srgbClr val="161B22"/>
          </a:solidFill>
          <a:ln w="6350">
            <a:solidFill>
              <a:srgbClr val="D29922"/>
            </a:solidFill>
            <a:prstDash val="solid"/>
          </a:ln>
        </p:spPr>
        <p:txBody>
          <a:bodyPr/>
          <a:lstStyle/>
          <a:p>
            <a:endParaRPr lang="en-US"/>
          </a:p>
        </p:txBody>
      </p:sp>
      <p:sp>
        <p:nvSpPr>
          <p:cNvPr id="35" name="Text 32"/>
          <p:cNvSpPr txBox="1"/>
          <p:nvPr/>
        </p:nvSpPr>
        <p:spPr>
          <a:xfrm>
            <a:off x="2377440" y="4259462"/>
            <a:ext cx="1417320" cy="219456"/>
          </a:xfrm>
          <a:prstGeom prst="rect">
            <a:avLst/>
          </a:prstGeom>
          <a:noFill/>
          <a:ln/>
        </p:spPr>
        <p:txBody>
          <a:bodyPr wrap="square" lIns="0" tIns="0" rIns="0" bIns="0" rtlCol="0" anchor="ctr"/>
          <a:lstStyle/>
          <a:p>
            <a:pPr marL="0" indent="0" algn="ctr">
              <a:buNone/>
            </a:pPr>
            <a:r>
              <a:rPr lang="en-US" sz="850" b="1" dirty="0">
                <a:solidFill>
                  <a:srgbClr val="D29922"/>
                </a:solidFill>
                <a:latin typeface="Calibri" pitchFamily="34" charset="0"/>
                <a:ea typeface="Calibri" pitchFamily="34" charset="-122"/>
                <a:cs typeface="Calibri" pitchFamily="34" charset="-120"/>
              </a:rPr>
              <a:t>Final Report Merge</a:t>
            </a:r>
            <a:endParaRPr lang="en-US" sz="850" dirty="0"/>
          </a:p>
        </p:txBody>
      </p:sp>
      <p:sp>
        <p:nvSpPr>
          <p:cNvPr id="36" name="Text 33"/>
          <p:cNvSpPr txBox="1"/>
          <p:nvPr/>
        </p:nvSpPr>
        <p:spPr>
          <a:xfrm>
            <a:off x="3931920" y="4232030"/>
            <a:ext cx="4663440" cy="237744"/>
          </a:xfrm>
          <a:prstGeom prst="rect">
            <a:avLst/>
          </a:prstGeom>
          <a:noFill/>
          <a:ln/>
        </p:spPr>
        <p:txBody>
          <a:bodyPr wrap="square" lIns="0" tIns="0" rIns="0" bIns="0" rtlCol="0" anchor="ctr"/>
          <a:lstStyle/>
          <a:p>
            <a:pPr marL="0" indent="0">
              <a:buNone/>
            </a:pPr>
            <a:r>
              <a:rPr lang="en-US" sz="950" dirty="0">
                <a:solidFill>
                  <a:srgbClr val="8B949E"/>
                </a:solidFill>
                <a:latin typeface="Courier New" pitchFamily="34" charset="0"/>
                <a:ea typeface="Courier New" pitchFamily="34" charset="-122"/>
                <a:cs typeface="Courier New" pitchFamily="34" charset="-120"/>
              </a:rPr>
              <a:t>alerts_report.md + stats_report.md → FINAL_REPORT.md</a:t>
            </a:r>
            <a:endParaRPr lang="en-US" sz="950" dirty="0"/>
          </a:p>
        </p:txBody>
      </p:sp>
      <p:sp>
        <p:nvSpPr>
          <p:cNvPr id="37" name="Text 34"/>
          <p:cNvSpPr txBox="1"/>
          <p:nvPr/>
        </p:nvSpPr>
        <p:spPr>
          <a:xfrm>
            <a:off x="530352" y="4506346"/>
            <a:ext cx="8092440" cy="256032"/>
          </a:xfrm>
          <a:prstGeom prst="rect">
            <a:avLst/>
          </a:prstGeom>
          <a:noFill/>
          <a:ln/>
        </p:spPr>
        <p:txBody>
          <a:bodyPr wrap="square" lIns="0" tIns="0" rIns="0" bIns="0" rtlCol="0" anchor="ctr"/>
          <a:lstStyle/>
          <a:p>
            <a:pPr marL="0" indent="0">
              <a:buNone/>
            </a:pPr>
            <a:r>
              <a:rPr lang="en-US" sz="950" dirty="0">
                <a:solidFill>
                  <a:srgbClr val="8B949E"/>
                </a:solidFill>
                <a:latin typeface="Calibri" pitchFamily="34" charset="0"/>
                <a:ea typeface="Calibri" pitchFamily="34" charset="-122"/>
                <a:cs typeface="Calibri" pitchFamily="34" charset="-120"/>
              </a:rPr>
              <a:t>Concatenates the two Markdown documents into one FINAL_REPORT.md and places it in RESULTS/&lt;pcap-name&gt;/ — the analyst-ready deliverable from the full pipeline run.</a:t>
            </a:r>
            <a:endParaRPr lang="en-US" sz="950" dirty="0"/>
          </a:p>
        </p:txBody>
      </p:sp>
      <p:sp>
        <p:nvSpPr>
          <p:cNvPr id="38" name="Shape 35"/>
          <p:cNvSpPr/>
          <p:nvPr/>
        </p:nvSpPr>
        <p:spPr>
          <a:xfrm>
            <a:off x="0" y="5106924"/>
            <a:ext cx="9144000" cy="36576"/>
          </a:xfrm>
          <a:prstGeom prst="rect">
            <a:avLst/>
          </a:prstGeom>
          <a:solidFill>
            <a:srgbClr val="BC8CFF"/>
          </a:solidFill>
          <a:ln/>
        </p:spPr>
        <p:txBody>
          <a:bodyPr/>
          <a:lstStyle/>
          <a:p>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Shape 0"/>
          <p:cNvSpPr/>
          <p:nvPr/>
        </p:nvSpPr>
        <p:spPr>
          <a:xfrm>
            <a:off x="0" y="0"/>
            <a:ext cx="9144000" cy="5143500"/>
          </a:xfrm>
          <a:prstGeom prst="rect">
            <a:avLst/>
          </a:prstGeom>
          <a:solidFill>
            <a:srgbClr val="0D1117"/>
          </a:solidFill>
          <a:ln/>
        </p:spPr>
        <p:txBody>
          <a:bodyPr/>
          <a:lstStyle/>
          <a:p>
            <a:endParaRPr lang="en-US"/>
          </a:p>
        </p:txBody>
      </p:sp>
      <p:sp>
        <p:nvSpPr>
          <p:cNvPr id="4" name="Shape 1"/>
          <p:cNvSpPr/>
          <p:nvPr/>
        </p:nvSpPr>
        <p:spPr>
          <a:xfrm>
            <a:off x="0" y="0"/>
            <a:ext cx="9144000" cy="36576"/>
          </a:xfrm>
          <a:prstGeom prst="rect">
            <a:avLst/>
          </a:prstGeom>
          <a:solidFill>
            <a:srgbClr val="3FB950"/>
          </a:solidFill>
          <a:ln/>
        </p:spPr>
        <p:txBody>
          <a:bodyPr/>
          <a:lstStyle/>
          <a:p>
            <a:endParaRPr lang="en-US"/>
          </a:p>
        </p:txBody>
      </p:sp>
      <p:sp>
        <p:nvSpPr>
          <p:cNvPr id="5" name="Text 2"/>
          <p:cNvSpPr txBox="1"/>
          <p:nvPr/>
        </p:nvSpPr>
        <p:spPr>
          <a:xfrm>
            <a:off x="457200" y="201168"/>
            <a:ext cx="8229600" cy="237744"/>
          </a:xfrm>
          <a:prstGeom prst="rect">
            <a:avLst/>
          </a:prstGeom>
          <a:noFill/>
          <a:ln/>
        </p:spPr>
        <p:txBody>
          <a:bodyPr wrap="square" lIns="0" tIns="0" rIns="0" bIns="0" rtlCol="0" anchor="ctr"/>
          <a:lstStyle/>
          <a:p>
            <a:pPr marL="0" indent="0">
              <a:buNone/>
            </a:pPr>
            <a:r>
              <a:rPr lang="en-US" sz="1000" b="1" kern="0" spc="300" dirty="0">
                <a:solidFill>
                  <a:srgbClr val="3FB950"/>
                </a:solidFill>
                <a:latin typeface="Calibri" pitchFamily="34" charset="0"/>
                <a:ea typeface="Calibri" pitchFamily="34" charset="-122"/>
                <a:cs typeface="Calibri" pitchFamily="34" charset="-120"/>
              </a:rPr>
              <a:t>HOW IT WORKS</a:t>
            </a:r>
            <a:endParaRPr lang="en-US" sz="1000" dirty="0"/>
          </a:p>
        </p:txBody>
      </p:sp>
      <p:sp>
        <p:nvSpPr>
          <p:cNvPr id="6" name="Text 3"/>
          <p:cNvSpPr txBox="1"/>
          <p:nvPr/>
        </p:nvSpPr>
        <p:spPr>
          <a:xfrm>
            <a:off x="457200" y="502920"/>
            <a:ext cx="8229600" cy="457200"/>
          </a:xfrm>
          <a:prstGeom prst="rect">
            <a:avLst/>
          </a:prstGeom>
          <a:noFill/>
          <a:ln/>
        </p:spPr>
        <p:txBody>
          <a:bodyPr wrap="square" lIns="0" tIns="0" rIns="0" bIns="0" rtlCol="0" anchor="ctr"/>
          <a:lstStyle/>
          <a:p>
            <a:pPr marL="0" indent="0">
              <a:buNone/>
            </a:pPr>
            <a:r>
              <a:rPr lang="en-US" sz="2400" b="1" dirty="0">
                <a:solidFill>
                  <a:srgbClr val="E6EDF3"/>
                </a:solidFill>
                <a:latin typeface="Calibri" pitchFamily="34" charset="0"/>
                <a:ea typeface="Calibri" pitchFamily="34" charset="-122"/>
                <a:cs typeface="Calibri" pitchFamily="34" charset="-120"/>
              </a:rPr>
              <a:t>Roles 1–5: Ingestion, Detection &amp; Enrichment</a:t>
            </a:r>
            <a:endParaRPr lang="en-US" sz="2400" dirty="0"/>
          </a:p>
        </p:txBody>
      </p:sp>
      <p:sp>
        <p:nvSpPr>
          <p:cNvPr id="7" name="Shape 4"/>
          <p:cNvSpPr/>
          <p:nvPr/>
        </p:nvSpPr>
        <p:spPr>
          <a:xfrm>
            <a:off x="365760" y="1097280"/>
            <a:ext cx="8412480" cy="694944"/>
          </a:xfrm>
          <a:prstGeom prst="roundRect">
            <a:avLst>
              <a:gd name="adj" fmla="val 7895"/>
            </a:avLst>
          </a:prstGeom>
          <a:solidFill>
            <a:srgbClr val="1F2937"/>
          </a:solidFill>
          <a:ln w="12700">
            <a:solidFill>
              <a:srgbClr val="58A6FF"/>
            </a:solidFill>
            <a:prstDash val="solid"/>
          </a:ln>
        </p:spPr>
        <p:txBody>
          <a:bodyPr/>
          <a:lstStyle/>
          <a:p>
            <a:endParaRPr lang="en-US"/>
          </a:p>
        </p:txBody>
      </p:sp>
      <p:sp>
        <p:nvSpPr>
          <p:cNvPr id="8" name="Text 5"/>
          <p:cNvSpPr txBox="1"/>
          <p:nvPr/>
        </p:nvSpPr>
        <p:spPr>
          <a:xfrm>
            <a:off x="502920" y="1170432"/>
            <a:ext cx="411480" cy="274320"/>
          </a:xfrm>
          <a:prstGeom prst="rect">
            <a:avLst/>
          </a:prstGeom>
          <a:noFill/>
          <a:ln/>
        </p:spPr>
        <p:txBody>
          <a:bodyPr wrap="square" lIns="0" tIns="0" rIns="0" bIns="0" rtlCol="0" anchor="ctr"/>
          <a:lstStyle/>
          <a:p>
            <a:pPr marL="0" indent="0">
              <a:buNone/>
            </a:pPr>
            <a:r>
              <a:rPr lang="en-US" sz="1200" b="1" dirty="0">
                <a:solidFill>
                  <a:srgbClr val="58A6FF"/>
                </a:solidFill>
                <a:latin typeface="Calibri" pitchFamily="34" charset="0"/>
                <a:ea typeface="Calibri" pitchFamily="34" charset="-122"/>
                <a:cs typeface="Calibri" pitchFamily="34" charset="-120"/>
              </a:rPr>
              <a:t>01</a:t>
            </a:r>
            <a:endParaRPr lang="en-US" sz="1200" dirty="0"/>
          </a:p>
        </p:txBody>
      </p:sp>
      <p:sp>
        <p:nvSpPr>
          <p:cNvPr id="9" name="Text 6"/>
          <p:cNvSpPr txBox="1"/>
          <p:nvPr/>
        </p:nvSpPr>
        <p:spPr>
          <a:xfrm>
            <a:off x="960120" y="1170432"/>
            <a:ext cx="1645920" cy="274320"/>
          </a:xfrm>
          <a:prstGeom prst="rect">
            <a:avLst/>
          </a:prstGeom>
          <a:noFill/>
          <a:ln/>
        </p:spPr>
        <p:txBody>
          <a:bodyPr wrap="square" lIns="0" tIns="0" rIns="0" bIns="0" rtlCol="0" anchor="ctr"/>
          <a:lstStyle/>
          <a:p>
            <a:pPr marL="0" indent="0">
              <a:buNone/>
            </a:pPr>
            <a:r>
              <a:rPr lang="en-US" sz="1300" b="1" dirty="0">
                <a:solidFill>
                  <a:srgbClr val="E6EDF3"/>
                </a:solidFill>
                <a:latin typeface="Calibri" pitchFamily="34" charset="0"/>
                <a:ea typeface="Calibri" pitchFamily="34" charset="-122"/>
                <a:cs typeface="Calibri" pitchFamily="34" charset="-120"/>
              </a:rPr>
              <a:t>initial</a:t>
            </a:r>
            <a:endParaRPr lang="en-US" sz="1300" dirty="0"/>
          </a:p>
        </p:txBody>
      </p:sp>
      <p:sp>
        <p:nvSpPr>
          <p:cNvPr id="10" name="Text 7"/>
          <p:cNvSpPr txBox="1"/>
          <p:nvPr/>
        </p:nvSpPr>
        <p:spPr>
          <a:xfrm>
            <a:off x="2651760" y="1170432"/>
            <a:ext cx="5943600" cy="548640"/>
          </a:xfrm>
          <a:prstGeom prst="rect">
            <a:avLst/>
          </a:prstGeom>
          <a:noFill/>
          <a:ln/>
        </p:spPr>
        <p:txBody>
          <a:bodyPr wrap="square" lIns="0" tIns="0" rIns="0" bIns="0" rtlCol="0" anchor="ctr"/>
          <a:lstStyle/>
          <a:p>
            <a:pPr marL="0" indent="0">
              <a:buNone/>
            </a:pPr>
            <a:r>
              <a:rPr lang="en-US" sz="1100" dirty="0">
                <a:solidFill>
                  <a:srgbClr val="8B949E"/>
                </a:solidFill>
                <a:latin typeface="Calibri" pitchFamily="34" charset="0"/>
                <a:ea typeface="Calibri" pitchFamily="34" charset="-122"/>
                <a:cs typeface="Calibri" pitchFamily="34" charset="-120"/>
              </a:rPr>
              <a:t>Validates environment: confirms PCAP exists in TODO/, tools are installed, required directories exist. Fails fast before any processing starts.</a:t>
            </a:r>
            <a:endParaRPr lang="en-US" sz="1100" dirty="0"/>
          </a:p>
        </p:txBody>
      </p:sp>
      <p:sp>
        <p:nvSpPr>
          <p:cNvPr id="11" name="Shape 8"/>
          <p:cNvSpPr/>
          <p:nvPr/>
        </p:nvSpPr>
        <p:spPr>
          <a:xfrm>
            <a:off x="2468880" y="1243584"/>
            <a:ext cx="18288" cy="384048"/>
          </a:xfrm>
          <a:prstGeom prst="rect">
            <a:avLst/>
          </a:prstGeom>
          <a:solidFill>
            <a:srgbClr val="30363D"/>
          </a:solidFill>
          <a:ln/>
        </p:spPr>
        <p:txBody>
          <a:bodyPr/>
          <a:lstStyle/>
          <a:p>
            <a:endParaRPr lang="en-US"/>
          </a:p>
        </p:txBody>
      </p:sp>
      <p:sp>
        <p:nvSpPr>
          <p:cNvPr id="12" name="Shape 9"/>
          <p:cNvSpPr/>
          <p:nvPr/>
        </p:nvSpPr>
        <p:spPr>
          <a:xfrm>
            <a:off x="365760" y="1874520"/>
            <a:ext cx="8412480" cy="694944"/>
          </a:xfrm>
          <a:prstGeom prst="roundRect">
            <a:avLst>
              <a:gd name="adj" fmla="val 7895"/>
            </a:avLst>
          </a:prstGeom>
          <a:solidFill>
            <a:srgbClr val="1F2937"/>
          </a:solidFill>
          <a:ln w="12700">
            <a:solidFill>
              <a:srgbClr val="D29922"/>
            </a:solidFill>
            <a:prstDash val="solid"/>
          </a:ln>
        </p:spPr>
        <p:txBody>
          <a:bodyPr/>
          <a:lstStyle/>
          <a:p>
            <a:endParaRPr lang="en-US"/>
          </a:p>
        </p:txBody>
      </p:sp>
      <p:sp>
        <p:nvSpPr>
          <p:cNvPr id="13" name="Text 10"/>
          <p:cNvSpPr txBox="1"/>
          <p:nvPr/>
        </p:nvSpPr>
        <p:spPr>
          <a:xfrm>
            <a:off x="502920" y="1947672"/>
            <a:ext cx="411480" cy="274320"/>
          </a:xfrm>
          <a:prstGeom prst="rect">
            <a:avLst/>
          </a:prstGeom>
          <a:noFill/>
          <a:ln/>
        </p:spPr>
        <p:txBody>
          <a:bodyPr wrap="square" lIns="0" tIns="0" rIns="0" bIns="0" rtlCol="0" anchor="ctr"/>
          <a:lstStyle/>
          <a:p>
            <a:pPr marL="0" indent="0">
              <a:buNone/>
            </a:pPr>
            <a:r>
              <a:rPr lang="en-US" sz="1200" b="1" dirty="0">
                <a:solidFill>
                  <a:srgbClr val="D29922"/>
                </a:solidFill>
                <a:latin typeface="Calibri" pitchFamily="34" charset="0"/>
                <a:ea typeface="Calibri" pitchFamily="34" charset="-122"/>
                <a:cs typeface="Calibri" pitchFamily="34" charset="-120"/>
              </a:rPr>
              <a:t>02</a:t>
            </a:r>
            <a:endParaRPr lang="en-US" sz="1200" dirty="0"/>
          </a:p>
        </p:txBody>
      </p:sp>
      <p:sp>
        <p:nvSpPr>
          <p:cNvPr id="14" name="Text 11"/>
          <p:cNvSpPr txBox="1"/>
          <p:nvPr/>
        </p:nvSpPr>
        <p:spPr>
          <a:xfrm>
            <a:off x="960120" y="1947672"/>
            <a:ext cx="1645920" cy="274320"/>
          </a:xfrm>
          <a:prstGeom prst="rect">
            <a:avLst/>
          </a:prstGeom>
          <a:noFill/>
          <a:ln/>
        </p:spPr>
        <p:txBody>
          <a:bodyPr wrap="square" lIns="0" tIns="0" rIns="0" bIns="0" rtlCol="0" anchor="ctr"/>
          <a:lstStyle/>
          <a:p>
            <a:pPr marL="0" indent="0">
              <a:buNone/>
            </a:pPr>
            <a:r>
              <a:rPr lang="en-US" sz="1300" b="1" dirty="0">
                <a:solidFill>
                  <a:srgbClr val="E6EDF3"/>
                </a:solidFill>
                <a:latin typeface="Calibri" pitchFamily="34" charset="0"/>
                <a:ea typeface="Calibri" pitchFamily="34" charset="-122"/>
                <a:cs typeface="Calibri" pitchFamily="34" charset="-120"/>
              </a:rPr>
              <a:t>suricata_run</a:t>
            </a:r>
            <a:endParaRPr lang="en-US" sz="1300" dirty="0"/>
          </a:p>
        </p:txBody>
      </p:sp>
      <p:sp>
        <p:nvSpPr>
          <p:cNvPr id="15" name="Text 12"/>
          <p:cNvSpPr txBox="1"/>
          <p:nvPr/>
        </p:nvSpPr>
        <p:spPr>
          <a:xfrm>
            <a:off x="2651760" y="1947672"/>
            <a:ext cx="5943600" cy="548640"/>
          </a:xfrm>
          <a:prstGeom prst="rect">
            <a:avLst/>
          </a:prstGeom>
          <a:noFill/>
          <a:ln/>
        </p:spPr>
        <p:txBody>
          <a:bodyPr wrap="square" lIns="0" tIns="0" rIns="0" bIns="0" rtlCol="0" anchor="ctr"/>
          <a:lstStyle/>
          <a:p>
            <a:pPr marL="0" indent="0">
              <a:buNone/>
            </a:pPr>
            <a:r>
              <a:rPr lang="en-US" sz="1100" dirty="0">
                <a:solidFill>
                  <a:srgbClr val="8B949E"/>
                </a:solidFill>
                <a:latin typeface="Calibri" pitchFamily="34" charset="0"/>
                <a:ea typeface="Calibri" pitchFamily="34" charset="-122"/>
                <a:cs typeface="Calibri" pitchFamily="34" charset="-120"/>
              </a:rPr>
              <a:t>Runs Suricata against the PCAP using the installed ruleset. Creates a per-PCAP log directory and produces eve.json (JSON event log).</a:t>
            </a:r>
            <a:endParaRPr lang="en-US" sz="1100" dirty="0"/>
          </a:p>
        </p:txBody>
      </p:sp>
      <p:sp>
        <p:nvSpPr>
          <p:cNvPr id="16" name="Shape 13"/>
          <p:cNvSpPr/>
          <p:nvPr/>
        </p:nvSpPr>
        <p:spPr>
          <a:xfrm>
            <a:off x="2468880" y="2020824"/>
            <a:ext cx="18288" cy="384048"/>
          </a:xfrm>
          <a:prstGeom prst="rect">
            <a:avLst/>
          </a:prstGeom>
          <a:solidFill>
            <a:srgbClr val="30363D"/>
          </a:solidFill>
          <a:ln/>
        </p:spPr>
        <p:txBody>
          <a:bodyPr/>
          <a:lstStyle/>
          <a:p>
            <a:endParaRPr lang="en-US"/>
          </a:p>
        </p:txBody>
      </p:sp>
      <p:sp>
        <p:nvSpPr>
          <p:cNvPr id="17" name="Shape 14"/>
          <p:cNvSpPr/>
          <p:nvPr/>
        </p:nvSpPr>
        <p:spPr>
          <a:xfrm>
            <a:off x="365760" y="2651760"/>
            <a:ext cx="8412480" cy="694944"/>
          </a:xfrm>
          <a:prstGeom prst="roundRect">
            <a:avLst>
              <a:gd name="adj" fmla="val 7895"/>
            </a:avLst>
          </a:prstGeom>
          <a:solidFill>
            <a:srgbClr val="1F2937"/>
          </a:solidFill>
          <a:ln w="12700">
            <a:solidFill>
              <a:srgbClr val="D29922"/>
            </a:solidFill>
            <a:prstDash val="solid"/>
          </a:ln>
        </p:spPr>
        <p:txBody>
          <a:bodyPr/>
          <a:lstStyle/>
          <a:p>
            <a:endParaRPr lang="en-US"/>
          </a:p>
        </p:txBody>
      </p:sp>
      <p:sp>
        <p:nvSpPr>
          <p:cNvPr id="18" name="Text 15"/>
          <p:cNvSpPr txBox="1"/>
          <p:nvPr/>
        </p:nvSpPr>
        <p:spPr>
          <a:xfrm>
            <a:off x="502920" y="2724912"/>
            <a:ext cx="411480" cy="274320"/>
          </a:xfrm>
          <a:prstGeom prst="rect">
            <a:avLst/>
          </a:prstGeom>
          <a:noFill/>
          <a:ln/>
        </p:spPr>
        <p:txBody>
          <a:bodyPr wrap="square" lIns="0" tIns="0" rIns="0" bIns="0" rtlCol="0" anchor="ctr"/>
          <a:lstStyle/>
          <a:p>
            <a:pPr marL="0" indent="0">
              <a:buNone/>
            </a:pPr>
            <a:r>
              <a:rPr lang="en-US" sz="1200" b="1" dirty="0">
                <a:solidFill>
                  <a:srgbClr val="D29922"/>
                </a:solidFill>
                <a:latin typeface="Calibri" pitchFamily="34" charset="0"/>
                <a:ea typeface="Calibri" pitchFamily="34" charset="-122"/>
                <a:cs typeface="Calibri" pitchFamily="34" charset="-120"/>
              </a:rPr>
              <a:t>03</a:t>
            </a:r>
            <a:endParaRPr lang="en-US" sz="1200" dirty="0"/>
          </a:p>
        </p:txBody>
      </p:sp>
      <p:sp>
        <p:nvSpPr>
          <p:cNvPr id="19" name="Text 16"/>
          <p:cNvSpPr txBox="1"/>
          <p:nvPr/>
        </p:nvSpPr>
        <p:spPr>
          <a:xfrm>
            <a:off x="960120" y="2724912"/>
            <a:ext cx="1645920" cy="274320"/>
          </a:xfrm>
          <a:prstGeom prst="rect">
            <a:avLst/>
          </a:prstGeom>
          <a:noFill/>
          <a:ln/>
        </p:spPr>
        <p:txBody>
          <a:bodyPr wrap="square" lIns="0" tIns="0" rIns="0" bIns="0" rtlCol="0" anchor="ctr"/>
          <a:lstStyle/>
          <a:p>
            <a:pPr marL="0" indent="0">
              <a:buNone/>
            </a:pPr>
            <a:r>
              <a:rPr lang="en-US" sz="1300" b="1" dirty="0">
                <a:solidFill>
                  <a:srgbClr val="E6EDF3"/>
                </a:solidFill>
                <a:latin typeface="Calibri" pitchFamily="34" charset="0"/>
                <a:ea typeface="Calibri" pitchFamily="34" charset="-122"/>
                <a:cs typeface="Calibri" pitchFamily="34" charset="-120"/>
              </a:rPr>
              <a:t>zeek_run</a:t>
            </a:r>
            <a:endParaRPr lang="en-US" sz="1300" dirty="0"/>
          </a:p>
        </p:txBody>
      </p:sp>
      <p:sp>
        <p:nvSpPr>
          <p:cNvPr id="20" name="Text 17"/>
          <p:cNvSpPr txBox="1"/>
          <p:nvPr/>
        </p:nvSpPr>
        <p:spPr>
          <a:xfrm>
            <a:off x="2651760" y="2724912"/>
            <a:ext cx="5943600" cy="548640"/>
          </a:xfrm>
          <a:prstGeom prst="rect">
            <a:avLst/>
          </a:prstGeom>
          <a:noFill/>
          <a:ln/>
        </p:spPr>
        <p:txBody>
          <a:bodyPr wrap="square" lIns="0" tIns="0" rIns="0" bIns="0" rtlCol="0" anchor="ctr"/>
          <a:lstStyle/>
          <a:p>
            <a:pPr marL="0" indent="0">
              <a:buNone/>
            </a:pPr>
            <a:r>
              <a:rPr lang="en-US" sz="1100" dirty="0">
                <a:solidFill>
                  <a:srgbClr val="8B949E"/>
                </a:solidFill>
                <a:latin typeface="Calibri" pitchFamily="34" charset="0"/>
                <a:ea typeface="Calibri" pitchFamily="34" charset="-122"/>
                <a:cs typeface="Calibri" pitchFamily="34" charset="-120"/>
              </a:rPr>
              <a:t>Runs Zeek in JSON mode. Captures conn, dns, http, ssl, files, weird logs for full protocol context alongside Suricata alerts.</a:t>
            </a:r>
            <a:endParaRPr lang="en-US" sz="1100" dirty="0"/>
          </a:p>
        </p:txBody>
      </p:sp>
      <p:sp>
        <p:nvSpPr>
          <p:cNvPr id="21" name="Shape 18"/>
          <p:cNvSpPr/>
          <p:nvPr/>
        </p:nvSpPr>
        <p:spPr>
          <a:xfrm>
            <a:off x="2468880" y="2798064"/>
            <a:ext cx="18288" cy="384048"/>
          </a:xfrm>
          <a:prstGeom prst="rect">
            <a:avLst/>
          </a:prstGeom>
          <a:solidFill>
            <a:srgbClr val="30363D"/>
          </a:solidFill>
          <a:ln/>
        </p:spPr>
        <p:txBody>
          <a:bodyPr/>
          <a:lstStyle/>
          <a:p>
            <a:endParaRPr lang="en-US"/>
          </a:p>
        </p:txBody>
      </p:sp>
      <p:sp>
        <p:nvSpPr>
          <p:cNvPr id="22" name="Shape 19"/>
          <p:cNvSpPr/>
          <p:nvPr/>
        </p:nvSpPr>
        <p:spPr>
          <a:xfrm>
            <a:off x="365760" y="3429000"/>
            <a:ext cx="8412480" cy="694944"/>
          </a:xfrm>
          <a:prstGeom prst="roundRect">
            <a:avLst>
              <a:gd name="adj" fmla="val 7895"/>
            </a:avLst>
          </a:prstGeom>
          <a:solidFill>
            <a:srgbClr val="1F2937"/>
          </a:solidFill>
          <a:ln w="12700">
            <a:solidFill>
              <a:srgbClr val="58A6FF"/>
            </a:solidFill>
            <a:prstDash val="solid"/>
          </a:ln>
        </p:spPr>
        <p:txBody>
          <a:bodyPr/>
          <a:lstStyle/>
          <a:p>
            <a:endParaRPr lang="en-US"/>
          </a:p>
        </p:txBody>
      </p:sp>
      <p:sp>
        <p:nvSpPr>
          <p:cNvPr id="23" name="Text 20"/>
          <p:cNvSpPr txBox="1"/>
          <p:nvPr/>
        </p:nvSpPr>
        <p:spPr>
          <a:xfrm>
            <a:off x="502920" y="3502152"/>
            <a:ext cx="411480" cy="274320"/>
          </a:xfrm>
          <a:prstGeom prst="rect">
            <a:avLst/>
          </a:prstGeom>
          <a:noFill/>
          <a:ln/>
        </p:spPr>
        <p:txBody>
          <a:bodyPr wrap="square" lIns="0" tIns="0" rIns="0" bIns="0" rtlCol="0" anchor="ctr"/>
          <a:lstStyle/>
          <a:p>
            <a:pPr marL="0" indent="0">
              <a:buNone/>
            </a:pPr>
            <a:r>
              <a:rPr lang="en-US" sz="1200" b="1" dirty="0">
                <a:solidFill>
                  <a:srgbClr val="58A6FF"/>
                </a:solidFill>
                <a:latin typeface="Calibri" pitchFamily="34" charset="0"/>
                <a:ea typeface="Calibri" pitchFamily="34" charset="-122"/>
                <a:cs typeface="Calibri" pitchFamily="34" charset="-120"/>
              </a:rPr>
              <a:t>04</a:t>
            </a:r>
            <a:endParaRPr lang="en-US" sz="1200" dirty="0"/>
          </a:p>
        </p:txBody>
      </p:sp>
      <p:sp>
        <p:nvSpPr>
          <p:cNvPr id="24" name="Text 21"/>
          <p:cNvSpPr txBox="1"/>
          <p:nvPr/>
        </p:nvSpPr>
        <p:spPr>
          <a:xfrm>
            <a:off x="960120" y="3502152"/>
            <a:ext cx="1645920" cy="274320"/>
          </a:xfrm>
          <a:prstGeom prst="rect">
            <a:avLst/>
          </a:prstGeom>
          <a:noFill/>
          <a:ln/>
        </p:spPr>
        <p:txBody>
          <a:bodyPr wrap="square" lIns="0" tIns="0" rIns="0" bIns="0" rtlCol="0" anchor="ctr"/>
          <a:lstStyle/>
          <a:p>
            <a:pPr marL="0" indent="0">
              <a:buNone/>
            </a:pPr>
            <a:r>
              <a:rPr lang="en-US" sz="1300" b="1" dirty="0">
                <a:solidFill>
                  <a:srgbClr val="E6EDF3"/>
                </a:solidFill>
                <a:latin typeface="Calibri" pitchFamily="34" charset="0"/>
                <a:ea typeface="Calibri" pitchFamily="34" charset="-122"/>
                <a:cs typeface="Calibri" pitchFamily="34" charset="-120"/>
              </a:rPr>
              <a:t>python_asngeo</a:t>
            </a:r>
            <a:endParaRPr lang="en-US" sz="1300" dirty="0"/>
          </a:p>
        </p:txBody>
      </p:sp>
      <p:sp>
        <p:nvSpPr>
          <p:cNvPr id="25" name="Text 22"/>
          <p:cNvSpPr txBox="1"/>
          <p:nvPr/>
        </p:nvSpPr>
        <p:spPr>
          <a:xfrm>
            <a:off x="2651760" y="3502152"/>
            <a:ext cx="5943600" cy="548640"/>
          </a:xfrm>
          <a:prstGeom prst="rect">
            <a:avLst/>
          </a:prstGeom>
          <a:noFill/>
          <a:ln/>
        </p:spPr>
        <p:txBody>
          <a:bodyPr wrap="square" lIns="0" tIns="0" rIns="0" bIns="0" rtlCol="0" anchor="ctr"/>
          <a:lstStyle/>
          <a:p>
            <a:pPr marL="0" indent="0">
              <a:buNone/>
            </a:pPr>
            <a:r>
              <a:rPr lang="en-US" sz="1100" dirty="0">
                <a:solidFill>
                  <a:srgbClr val="8B949E"/>
                </a:solidFill>
                <a:latin typeface="Calibri" pitchFamily="34" charset="0"/>
                <a:ea typeface="Calibri" pitchFamily="34" charset="-122"/>
                <a:cs typeface="Calibri" pitchFamily="34" charset="-120"/>
              </a:rPr>
              <a:t>Enriches every src/dest IP in eve.json with country, city, ASN and org from GeoLite2 databases. Outputs eve_extra.json with geo fields appended.</a:t>
            </a:r>
            <a:endParaRPr lang="en-US" sz="1100" dirty="0"/>
          </a:p>
        </p:txBody>
      </p:sp>
      <p:sp>
        <p:nvSpPr>
          <p:cNvPr id="26" name="Shape 23"/>
          <p:cNvSpPr/>
          <p:nvPr/>
        </p:nvSpPr>
        <p:spPr>
          <a:xfrm>
            <a:off x="2468880" y="3575304"/>
            <a:ext cx="18288" cy="384048"/>
          </a:xfrm>
          <a:prstGeom prst="rect">
            <a:avLst/>
          </a:prstGeom>
          <a:solidFill>
            <a:srgbClr val="30363D"/>
          </a:solidFill>
          <a:ln/>
        </p:spPr>
        <p:txBody>
          <a:bodyPr/>
          <a:lstStyle/>
          <a:p>
            <a:endParaRPr lang="en-US"/>
          </a:p>
        </p:txBody>
      </p:sp>
      <p:sp>
        <p:nvSpPr>
          <p:cNvPr id="27" name="Shape 24"/>
          <p:cNvSpPr/>
          <p:nvPr/>
        </p:nvSpPr>
        <p:spPr>
          <a:xfrm>
            <a:off x="365760" y="4206240"/>
            <a:ext cx="8412480" cy="694944"/>
          </a:xfrm>
          <a:prstGeom prst="roundRect">
            <a:avLst>
              <a:gd name="adj" fmla="val 7895"/>
            </a:avLst>
          </a:prstGeom>
          <a:solidFill>
            <a:srgbClr val="1F2937"/>
          </a:solidFill>
          <a:ln w="12700">
            <a:solidFill>
              <a:srgbClr val="BC8CFF"/>
            </a:solidFill>
            <a:prstDash val="solid"/>
          </a:ln>
        </p:spPr>
        <p:txBody>
          <a:bodyPr/>
          <a:lstStyle/>
          <a:p>
            <a:endParaRPr lang="en-US"/>
          </a:p>
        </p:txBody>
      </p:sp>
      <p:sp>
        <p:nvSpPr>
          <p:cNvPr id="28" name="Text 25"/>
          <p:cNvSpPr txBox="1"/>
          <p:nvPr/>
        </p:nvSpPr>
        <p:spPr>
          <a:xfrm>
            <a:off x="502920" y="4279392"/>
            <a:ext cx="411480" cy="274320"/>
          </a:xfrm>
          <a:prstGeom prst="rect">
            <a:avLst/>
          </a:prstGeom>
          <a:noFill/>
          <a:ln/>
        </p:spPr>
        <p:txBody>
          <a:bodyPr wrap="square" lIns="0" tIns="0" rIns="0" bIns="0" rtlCol="0" anchor="ctr"/>
          <a:lstStyle/>
          <a:p>
            <a:pPr marL="0" indent="0">
              <a:buNone/>
            </a:pPr>
            <a:r>
              <a:rPr lang="en-US" sz="1200" b="1" dirty="0">
                <a:solidFill>
                  <a:srgbClr val="BC8CFF"/>
                </a:solidFill>
                <a:latin typeface="Calibri" pitchFamily="34" charset="0"/>
                <a:ea typeface="Calibri" pitchFamily="34" charset="-122"/>
                <a:cs typeface="Calibri" pitchFamily="34" charset="-120"/>
              </a:rPr>
              <a:t>05</a:t>
            </a:r>
            <a:endParaRPr lang="en-US" sz="1200" dirty="0"/>
          </a:p>
        </p:txBody>
      </p:sp>
      <p:sp>
        <p:nvSpPr>
          <p:cNvPr id="29" name="Text 26"/>
          <p:cNvSpPr txBox="1"/>
          <p:nvPr/>
        </p:nvSpPr>
        <p:spPr>
          <a:xfrm>
            <a:off x="960120" y="4279392"/>
            <a:ext cx="1645920" cy="274320"/>
          </a:xfrm>
          <a:prstGeom prst="rect">
            <a:avLst/>
          </a:prstGeom>
          <a:noFill/>
          <a:ln/>
        </p:spPr>
        <p:txBody>
          <a:bodyPr wrap="square" lIns="0" tIns="0" rIns="0" bIns="0" rtlCol="0" anchor="ctr"/>
          <a:lstStyle/>
          <a:p>
            <a:pPr marL="0" indent="0">
              <a:buNone/>
            </a:pPr>
            <a:r>
              <a:rPr lang="en-US" sz="1300" b="1" dirty="0">
                <a:solidFill>
                  <a:srgbClr val="E6EDF3"/>
                </a:solidFill>
                <a:latin typeface="Calibri" pitchFamily="34" charset="0"/>
                <a:ea typeface="Calibri" pitchFamily="34" charset="-122"/>
                <a:cs typeface="Calibri" pitchFamily="34" charset="-120"/>
              </a:rPr>
              <a:t>python_correlate</a:t>
            </a:r>
            <a:endParaRPr lang="en-US" sz="1300" dirty="0"/>
          </a:p>
        </p:txBody>
      </p:sp>
      <p:sp>
        <p:nvSpPr>
          <p:cNvPr id="30" name="Text 27"/>
          <p:cNvSpPr txBox="1"/>
          <p:nvPr/>
        </p:nvSpPr>
        <p:spPr>
          <a:xfrm>
            <a:off x="2651760" y="4279392"/>
            <a:ext cx="5943600" cy="548640"/>
          </a:xfrm>
          <a:prstGeom prst="rect">
            <a:avLst/>
          </a:prstGeom>
          <a:noFill/>
          <a:ln/>
        </p:spPr>
        <p:txBody>
          <a:bodyPr wrap="square" lIns="0" tIns="0" rIns="0" bIns="0" rtlCol="0" anchor="ctr"/>
          <a:lstStyle/>
          <a:p>
            <a:pPr marL="0" indent="0">
              <a:buNone/>
            </a:pPr>
            <a:r>
              <a:rPr lang="en-US" sz="1100" dirty="0">
                <a:solidFill>
                  <a:srgbClr val="8B949E"/>
                </a:solidFill>
                <a:latin typeface="Calibri" pitchFamily="34" charset="0"/>
                <a:ea typeface="Calibri" pitchFamily="34" charset="-122"/>
                <a:cs typeface="Calibri" pitchFamily="34" charset="-120"/>
              </a:rPr>
              <a:t>Pivots Suricata alerts into Zeek using Community ID. Produces one correlated record per alert with full Zeek protocol events (DNS, HTTP, SSL…) attached.</a:t>
            </a:r>
            <a:endParaRPr lang="en-US" sz="1100" dirty="0"/>
          </a:p>
        </p:txBody>
      </p:sp>
      <p:sp>
        <p:nvSpPr>
          <p:cNvPr id="31" name="Shape 28"/>
          <p:cNvSpPr/>
          <p:nvPr/>
        </p:nvSpPr>
        <p:spPr>
          <a:xfrm>
            <a:off x="2468880" y="4352544"/>
            <a:ext cx="18288" cy="384048"/>
          </a:xfrm>
          <a:prstGeom prst="rect">
            <a:avLst/>
          </a:prstGeom>
          <a:solidFill>
            <a:srgbClr val="30363D"/>
          </a:solidFill>
          <a:ln/>
        </p:spPr>
        <p:txBody>
          <a:bodyPr/>
          <a:lstStyle/>
          <a:p>
            <a:endParaRPr lang="en-US"/>
          </a:p>
        </p:txBody>
      </p:sp>
      <p:sp>
        <p:nvSpPr>
          <p:cNvPr id="32" name="Shape 29"/>
          <p:cNvSpPr/>
          <p:nvPr/>
        </p:nvSpPr>
        <p:spPr>
          <a:xfrm>
            <a:off x="0" y="5106924"/>
            <a:ext cx="9144000" cy="36576"/>
          </a:xfrm>
          <a:prstGeom prst="rect">
            <a:avLst/>
          </a:prstGeom>
          <a:solidFill>
            <a:srgbClr val="3FB950"/>
          </a:solidFill>
          <a:ln/>
        </p:spPr>
        <p:txBody>
          <a:bodyPr/>
          <a:lstStyle/>
          <a:p>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Shape 0"/>
          <p:cNvSpPr/>
          <p:nvPr/>
        </p:nvSpPr>
        <p:spPr>
          <a:xfrm>
            <a:off x="0" y="0"/>
            <a:ext cx="9144000" cy="5143500"/>
          </a:xfrm>
          <a:prstGeom prst="rect">
            <a:avLst/>
          </a:prstGeom>
          <a:solidFill>
            <a:srgbClr val="0D1117"/>
          </a:solidFill>
          <a:ln/>
        </p:spPr>
        <p:txBody>
          <a:bodyPr/>
          <a:lstStyle/>
          <a:p>
            <a:endParaRPr lang="en-US"/>
          </a:p>
        </p:txBody>
      </p:sp>
      <p:sp>
        <p:nvSpPr>
          <p:cNvPr id="4" name="Shape 1"/>
          <p:cNvSpPr/>
          <p:nvPr/>
        </p:nvSpPr>
        <p:spPr>
          <a:xfrm>
            <a:off x="0" y="0"/>
            <a:ext cx="9144000" cy="36576"/>
          </a:xfrm>
          <a:prstGeom prst="rect">
            <a:avLst/>
          </a:prstGeom>
          <a:solidFill>
            <a:srgbClr val="3FB950"/>
          </a:solidFill>
          <a:ln/>
        </p:spPr>
        <p:txBody>
          <a:bodyPr/>
          <a:lstStyle/>
          <a:p>
            <a:endParaRPr lang="en-US"/>
          </a:p>
        </p:txBody>
      </p:sp>
      <p:sp>
        <p:nvSpPr>
          <p:cNvPr id="5" name="Text 2"/>
          <p:cNvSpPr txBox="1"/>
          <p:nvPr/>
        </p:nvSpPr>
        <p:spPr>
          <a:xfrm>
            <a:off x="457200" y="201168"/>
            <a:ext cx="8229600" cy="237744"/>
          </a:xfrm>
          <a:prstGeom prst="rect">
            <a:avLst/>
          </a:prstGeom>
          <a:noFill/>
          <a:ln/>
        </p:spPr>
        <p:txBody>
          <a:bodyPr wrap="square" lIns="0" tIns="0" rIns="0" bIns="0" rtlCol="0" anchor="ctr"/>
          <a:lstStyle/>
          <a:p>
            <a:pPr marL="0" indent="0">
              <a:buNone/>
            </a:pPr>
            <a:r>
              <a:rPr lang="en-US" sz="1000" b="1" kern="0" spc="300" dirty="0">
                <a:solidFill>
                  <a:srgbClr val="3FB950"/>
                </a:solidFill>
                <a:latin typeface="Calibri" pitchFamily="34" charset="0"/>
                <a:ea typeface="Calibri" pitchFamily="34" charset="-122"/>
                <a:cs typeface="Calibri" pitchFamily="34" charset="-120"/>
              </a:rPr>
              <a:t>HOW IT WORKS</a:t>
            </a:r>
            <a:endParaRPr lang="en-US" sz="1000" dirty="0"/>
          </a:p>
        </p:txBody>
      </p:sp>
      <p:sp>
        <p:nvSpPr>
          <p:cNvPr id="6" name="Text 3"/>
          <p:cNvSpPr txBox="1"/>
          <p:nvPr/>
        </p:nvSpPr>
        <p:spPr>
          <a:xfrm>
            <a:off x="457200" y="502920"/>
            <a:ext cx="8229600" cy="457200"/>
          </a:xfrm>
          <a:prstGeom prst="rect">
            <a:avLst/>
          </a:prstGeom>
          <a:noFill/>
          <a:ln/>
        </p:spPr>
        <p:txBody>
          <a:bodyPr wrap="square" lIns="0" tIns="0" rIns="0" bIns="0" rtlCol="0" anchor="ctr"/>
          <a:lstStyle/>
          <a:p>
            <a:pPr marL="0" indent="0">
              <a:buNone/>
            </a:pPr>
            <a:r>
              <a:rPr lang="en-US" sz="2400" b="1" dirty="0">
                <a:solidFill>
                  <a:srgbClr val="E6EDF3"/>
                </a:solidFill>
                <a:latin typeface="Calibri" pitchFamily="34" charset="0"/>
                <a:ea typeface="Calibri" pitchFamily="34" charset="-122"/>
                <a:cs typeface="Calibri" pitchFamily="34" charset="-120"/>
              </a:rPr>
              <a:t>Roles 6–9: Reporting &amp; Cleanup</a:t>
            </a:r>
            <a:endParaRPr lang="en-US" sz="2400" dirty="0"/>
          </a:p>
        </p:txBody>
      </p:sp>
      <p:sp>
        <p:nvSpPr>
          <p:cNvPr id="7" name="Shape 4"/>
          <p:cNvSpPr/>
          <p:nvPr/>
        </p:nvSpPr>
        <p:spPr>
          <a:xfrm>
            <a:off x="365760" y="1097280"/>
            <a:ext cx="8412480" cy="777240"/>
          </a:xfrm>
          <a:prstGeom prst="roundRect">
            <a:avLst>
              <a:gd name="adj" fmla="val 7059"/>
            </a:avLst>
          </a:prstGeom>
          <a:solidFill>
            <a:srgbClr val="1F2937"/>
          </a:solidFill>
          <a:ln w="12700">
            <a:solidFill>
              <a:srgbClr val="3FB950"/>
            </a:solidFill>
            <a:prstDash val="solid"/>
          </a:ln>
        </p:spPr>
        <p:txBody>
          <a:bodyPr/>
          <a:lstStyle/>
          <a:p>
            <a:endParaRPr lang="en-US"/>
          </a:p>
        </p:txBody>
      </p:sp>
      <p:sp>
        <p:nvSpPr>
          <p:cNvPr id="8" name="Text 5"/>
          <p:cNvSpPr txBox="1"/>
          <p:nvPr/>
        </p:nvSpPr>
        <p:spPr>
          <a:xfrm>
            <a:off x="502920" y="1188720"/>
            <a:ext cx="411480" cy="274320"/>
          </a:xfrm>
          <a:prstGeom prst="rect">
            <a:avLst/>
          </a:prstGeom>
          <a:noFill/>
          <a:ln/>
        </p:spPr>
        <p:txBody>
          <a:bodyPr wrap="square" lIns="0" tIns="0" rIns="0" bIns="0" rtlCol="0" anchor="ctr"/>
          <a:lstStyle/>
          <a:p>
            <a:pPr marL="0" indent="0">
              <a:buNone/>
            </a:pPr>
            <a:r>
              <a:rPr lang="en-US" sz="1200" b="1" dirty="0">
                <a:solidFill>
                  <a:srgbClr val="3FB950"/>
                </a:solidFill>
                <a:latin typeface="Calibri" pitchFamily="34" charset="0"/>
                <a:ea typeface="Calibri" pitchFamily="34" charset="-122"/>
                <a:cs typeface="Calibri" pitchFamily="34" charset="-120"/>
              </a:rPr>
              <a:t>06</a:t>
            </a:r>
            <a:endParaRPr lang="en-US" sz="1200" dirty="0"/>
          </a:p>
        </p:txBody>
      </p:sp>
      <p:sp>
        <p:nvSpPr>
          <p:cNvPr id="9" name="Text 6"/>
          <p:cNvSpPr txBox="1"/>
          <p:nvPr/>
        </p:nvSpPr>
        <p:spPr>
          <a:xfrm>
            <a:off x="960120" y="1188720"/>
            <a:ext cx="2286000" cy="274320"/>
          </a:xfrm>
          <a:prstGeom prst="rect">
            <a:avLst/>
          </a:prstGeom>
          <a:noFill/>
          <a:ln/>
        </p:spPr>
        <p:txBody>
          <a:bodyPr wrap="square" lIns="0" tIns="0" rIns="0" bIns="0" rtlCol="0" anchor="ctr"/>
          <a:lstStyle/>
          <a:p>
            <a:pPr marL="0" indent="0">
              <a:buNone/>
            </a:pPr>
            <a:r>
              <a:rPr lang="en-US" sz="1300" b="1" dirty="0">
                <a:solidFill>
                  <a:srgbClr val="E6EDF3"/>
                </a:solidFill>
                <a:latin typeface="Calibri" pitchFamily="34" charset="0"/>
                <a:ea typeface="Calibri" pitchFamily="34" charset="-122"/>
                <a:cs typeface="Calibri" pitchFamily="34" charset="-120"/>
              </a:rPr>
              <a:t>python_report_alerts</a:t>
            </a:r>
            <a:endParaRPr lang="en-US" sz="1300" dirty="0"/>
          </a:p>
        </p:txBody>
      </p:sp>
      <p:sp>
        <p:nvSpPr>
          <p:cNvPr id="10" name="Text 7"/>
          <p:cNvSpPr txBox="1"/>
          <p:nvPr/>
        </p:nvSpPr>
        <p:spPr>
          <a:xfrm>
            <a:off x="3291840" y="1188720"/>
            <a:ext cx="5303520" cy="594360"/>
          </a:xfrm>
          <a:prstGeom prst="rect">
            <a:avLst/>
          </a:prstGeom>
          <a:noFill/>
          <a:ln/>
        </p:spPr>
        <p:txBody>
          <a:bodyPr wrap="square" lIns="0" tIns="0" rIns="0" bIns="0" rtlCol="0" anchor="ctr"/>
          <a:lstStyle/>
          <a:p>
            <a:pPr marL="0" indent="0">
              <a:buNone/>
            </a:pPr>
            <a:r>
              <a:rPr lang="en-US" sz="1100" dirty="0">
                <a:solidFill>
                  <a:srgbClr val="8B949E"/>
                </a:solidFill>
                <a:latin typeface="Calibri" pitchFamily="34" charset="0"/>
                <a:ea typeface="Calibri" pitchFamily="34" charset="-122"/>
                <a:cs typeface="Calibri" pitchFamily="34" charset="-120"/>
              </a:rPr>
              <a:t>Renders each correlated alert as Markdown grouped by severity. Each entry shows timestamp, signature, Community ID, source/dest with geo, and protocol context.</a:t>
            </a:r>
            <a:endParaRPr lang="en-US" sz="1100" dirty="0"/>
          </a:p>
        </p:txBody>
      </p:sp>
      <p:sp>
        <p:nvSpPr>
          <p:cNvPr id="11" name="Shape 8"/>
          <p:cNvSpPr/>
          <p:nvPr/>
        </p:nvSpPr>
        <p:spPr>
          <a:xfrm>
            <a:off x="3108960" y="1261872"/>
            <a:ext cx="18288" cy="457200"/>
          </a:xfrm>
          <a:prstGeom prst="rect">
            <a:avLst/>
          </a:prstGeom>
          <a:solidFill>
            <a:srgbClr val="30363D"/>
          </a:solidFill>
          <a:ln/>
        </p:spPr>
        <p:txBody>
          <a:bodyPr/>
          <a:lstStyle/>
          <a:p>
            <a:endParaRPr lang="en-US"/>
          </a:p>
        </p:txBody>
      </p:sp>
      <p:sp>
        <p:nvSpPr>
          <p:cNvPr id="12" name="Shape 9"/>
          <p:cNvSpPr/>
          <p:nvPr/>
        </p:nvSpPr>
        <p:spPr>
          <a:xfrm>
            <a:off x="365760" y="1965960"/>
            <a:ext cx="8412480" cy="777240"/>
          </a:xfrm>
          <a:prstGeom prst="roundRect">
            <a:avLst>
              <a:gd name="adj" fmla="val 7059"/>
            </a:avLst>
          </a:prstGeom>
          <a:solidFill>
            <a:srgbClr val="1F2937"/>
          </a:solidFill>
          <a:ln w="12700">
            <a:solidFill>
              <a:srgbClr val="3FB950"/>
            </a:solidFill>
            <a:prstDash val="solid"/>
          </a:ln>
        </p:spPr>
        <p:txBody>
          <a:bodyPr/>
          <a:lstStyle/>
          <a:p>
            <a:endParaRPr lang="en-US"/>
          </a:p>
        </p:txBody>
      </p:sp>
      <p:sp>
        <p:nvSpPr>
          <p:cNvPr id="13" name="Text 10"/>
          <p:cNvSpPr txBox="1"/>
          <p:nvPr/>
        </p:nvSpPr>
        <p:spPr>
          <a:xfrm>
            <a:off x="502920" y="2057400"/>
            <a:ext cx="411480" cy="274320"/>
          </a:xfrm>
          <a:prstGeom prst="rect">
            <a:avLst/>
          </a:prstGeom>
          <a:noFill/>
          <a:ln/>
        </p:spPr>
        <p:txBody>
          <a:bodyPr wrap="square" lIns="0" tIns="0" rIns="0" bIns="0" rtlCol="0" anchor="ctr"/>
          <a:lstStyle/>
          <a:p>
            <a:pPr marL="0" indent="0">
              <a:buNone/>
            </a:pPr>
            <a:r>
              <a:rPr lang="en-US" sz="1200" b="1" dirty="0">
                <a:solidFill>
                  <a:srgbClr val="3FB950"/>
                </a:solidFill>
                <a:latin typeface="Calibri" pitchFamily="34" charset="0"/>
                <a:ea typeface="Calibri" pitchFamily="34" charset="-122"/>
                <a:cs typeface="Calibri" pitchFamily="34" charset="-120"/>
              </a:rPr>
              <a:t>07</a:t>
            </a:r>
            <a:endParaRPr lang="en-US" sz="1200" dirty="0"/>
          </a:p>
        </p:txBody>
      </p:sp>
      <p:sp>
        <p:nvSpPr>
          <p:cNvPr id="14" name="Text 11"/>
          <p:cNvSpPr txBox="1"/>
          <p:nvPr/>
        </p:nvSpPr>
        <p:spPr>
          <a:xfrm>
            <a:off x="960120" y="2057400"/>
            <a:ext cx="2286000" cy="274320"/>
          </a:xfrm>
          <a:prstGeom prst="rect">
            <a:avLst/>
          </a:prstGeom>
          <a:noFill/>
          <a:ln/>
        </p:spPr>
        <p:txBody>
          <a:bodyPr wrap="square" lIns="0" tIns="0" rIns="0" bIns="0" rtlCol="0" anchor="ctr"/>
          <a:lstStyle/>
          <a:p>
            <a:pPr marL="0" indent="0">
              <a:buNone/>
            </a:pPr>
            <a:r>
              <a:rPr lang="en-US" sz="1300" b="1" dirty="0">
                <a:solidFill>
                  <a:srgbClr val="E6EDF3"/>
                </a:solidFill>
                <a:latin typeface="Calibri" pitchFamily="34" charset="0"/>
                <a:ea typeface="Calibri" pitchFamily="34" charset="-122"/>
                <a:cs typeface="Calibri" pitchFamily="34" charset="-120"/>
              </a:rPr>
              <a:t>python_report_stats</a:t>
            </a:r>
            <a:endParaRPr lang="en-US" sz="1300" dirty="0"/>
          </a:p>
        </p:txBody>
      </p:sp>
      <p:sp>
        <p:nvSpPr>
          <p:cNvPr id="15" name="Text 12"/>
          <p:cNvSpPr txBox="1"/>
          <p:nvPr/>
        </p:nvSpPr>
        <p:spPr>
          <a:xfrm>
            <a:off x="3291840" y="2057400"/>
            <a:ext cx="5303520" cy="594360"/>
          </a:xfrm>
          <a:prstGeom prst="rect">
            <a:avLst/>
          </a:prstGeom>
          <a:noFill/>
          <a:ln/>
        </p:spPr>
        <p:txBody>
          <a:bodyPr wrap="square" lIns="0" tIns="0" rIns="0" bIns="0" rtlCol="0" anchor="ctr"/>
          <a:lstStyle/>
          <a:p>
            <a:pPr marL="0" indent="0">
              <a:buNone/>
            </a:pPr>
            <a:r>
              <a:rPr lang="en-US" sz="1100" dirty="0">
                <a:solidFill>
                  <a:srgbClr val="8B949E"/>
                </a:solidFill>
                <a:latin typeface="Calibri" pitchFamily="34" charset="0"/>
                <a:ea typeface="Calibri" pitchFamily="34" charset="-122"/>
                <a:cs typeface="Calibri" pitchFamily="34" charset="-120"/>
              </a:rPr>
              <a:t>Aggregates alerts into top-10 tables: by severity, source country, ASN (with org name), source IP, destination port, and protocol breakdown.</a:t>
            </a:r>
            <a:endParaRPr lang="en-US" sz="1100" dirty="0"/>
          </a:p>
        </p:txBody>
      </p:sp>
      <p:sp>
        <p:nvSpPr>
          <p:cNvPr id="16" name="Shape 13"/>
          <p:cNvSpPr/>
          <p:nvPr/>
        </p:nvSpPr>
        <p:spPr>
          <a:xfrm>
            <a:off x="3108960" y="2130552"/>
            <a:ext cx="18288" cy="457200"/>
          </a:xfrm>
          <a:prstGeom prst="rect">
            <a:avLst/>
          </a:prstGeom>
          <a:solidFill>
            <a:srgbClr val="30363D"/>
          </a:solidFill>
          <a:ln/>
        </p:spPr>
        <p:txBody>
          <a:bodyPr/>
          <a:lstStyle/>
          <a:p>
            <a:endParaRPr lang="en-US"/>
          </a:p>
        </p:txBody>
      </p:sp>
      <p:sp>
        <p:nvSpPr>
          <p:cNvPr id="17" name="Shape 14"/>
          <p:cNvSpPr/>
          <p:nvPr/>
        </p:nvSpPr>
        <p:spPr>
          <a:xfrm>
            <a:off x="365760" y="2834640"/>
            <a:ext cx="8412480" cy="777240"/>
          </a:xfrm>
          <a:prstGeom prst="roundRect">
            <a:avLst>
              <a:gd name="adj" fmla="val 7059"/>
            </a:avLst>
          </a:prstGeom>
          <a:solidFill>
            <a:srgbClr val="1F2937"/>
          </a:solidFill>
          <a:ln w="12700">
            <a:solidFill>
              <a:srgbClr val="D29922"/>
            </a:solidFill>
            <a:prstDash val="solid"/>
          </a:ln>
        </p:spPr>
        <p:txBody>
          <a:bodyPr/>
          <a:lstStyle/>
          <a:p>
            <a:endParaRPr lang="en-US"/>
          </a:p>
        </p:txBody>
      </p:sp>
      <p:sp>
        <p:nvSpPr>
          <p:cNvPr id="18" name="Text 15"/>
          <p:cNvSpPr txBox="1"/>
          <p:nvPr/>
        </p:nvSpPr>
        <p:spPr>
          <a:xfrm>
            <a:off x="502920" y="2926080"/>
            <a:ext cx="411480" cy="274320"/>
          </a:xfrm>
          <a:prstGeom prst="rect">
            <a:avLst/>
          </a:prstGeom>
          <a:noFill/>
          <a:ln/>
        </p:spPr>
        <p:txBody>
          <a:bodyPr wrap="square" lIns="0" tIns="0" rIns="0" bIns="0" rtlCol="0" anchor="ctr"/>
          <a:lstStyle/>
          <a:p>
            <a:pPr marL="0" indent="0">
              <a:buNone/>
            </a:pPr>
            <a:r>
              <a:rPr lang="en-US" sz="1200" b="1" dirty="0">
                <a:solidFill>
                  <a:srgbClr val="D29922"/>
                </a:solidFill>
                <a:latin typeface="Calibri" pitchFamily="34" charset="0"/>
                <a:ea typeface="Calibri" pitchFamily="34" charset="-122"/>
                <a:cs typeface="Calibri" pitchFamily="34" charset="-120"/>
              </a:rPr>
              <a:t>08</a:t>
            </a:r>
            <a:endParaRPr lang="en-US" sz="1200" dirty="0"/>
          </a:p>
        </p:txBody>
      </p:sp>
      <p:sp>
        <p:nvSpPr>
          <p:cNvPr id="19" name="Text 16"/>
          <p:cNvSpPr txBox="1"/>
          <p:nvPr/>
        </p:nvSpPr>
        <p:spPr>
          <a:xfrm>
            <a:off x="960120" y="2926080"/>
            <a:ext cx="2286000" cy="274320"/>
          </a:xfrm>
          <a:prstGeom prst="rect">
            <a:avLst/>
          </a:prstGeom>
          <a:noFill/>
          <a:ln/>
        </p:spPr>
        <p:txBody>
          <a:bodyPr wrap="square" lIns="0" tIns="0" rIns="0" bIns="0" rtlCol="0" anchor="ctr"/>
          <a:lstStyle/>
          <a:p>
            <a:pPr marL="0" indent="0">
              <a:buNone/>
            </a:pPr>
            <a:r>
              <a:rPr lang="en-US" sz="1300" b="1" dirty="0">
                <a:solidFill>
                  <a:srgbClr val="E6EDF3"/>
                </a:solidFill>
                <a:latin typeface="Calibri" pitchFamily="34" charset="0"/>
                <a:ea typeface="Calibri" pitchFamily="34" charset="-122"/>
                <a:cs typeface="Calibri" pitchFamily="34" charset="-120"/>
              </a:rPr>
              <a:t>report_final</a:t>
            </a:r>
            <a:endParaRPr lang="en-US" sz="1300" dirty="0"/>
          </a:p>
        </p:txBody>
      </p:sp>
      <p:sp>
        <p:nvSpPr>
          <p:cNvPr id="20" name="Text 17"/>
          <p:cNvSpPr txBox="1"/>
          <p:nvPr/>
        </p:nvSpPr>
        <p:spPr>
          <a:xfrm>
            <a:off x="3291840" y="2926080"/>
            <a:ext cx="5303520" cy="594360"/>
          </a:xfrm>
          <a:prstGeom prst="rect">
            <a:avLst/>
          </a:prstGeom>
          <a:noFill/>
          <a:ln/>
        </p:spPr>
        <p:txBody>
          <a:bodyPr wrap="square" lIns="0" tIns="0" rIns="0" bIns="0" rtlCol="0" anchor="ctr"/>
          <a:lstStyle/>
          <a:p>
            <a:pPr marL="0" indent="0">
              <a:buNone/>
            </a:pPr>
            <a:r>
              <a:rPr lang="en-US" sz="1100" dirty="0">
                <a:solidFill>
                  <a:srgbClr val="8B949E"/>
                </a:solidFill>
                <a:latin typeface="Calibri" pitchFamily="34" charset="0"/>
                <a:ea typeface="Calibri" pitchFamily="34" charset="-122"/>
                <a:cs typeface="Calibri" pitchFamily="34" charset="-120"/>
              </a:rPr>
              <a:t>Joins alerts and stats reports into one FINAL_REPORT.md. Placed in RESULTS/&lt;pcap-name&gt;/ ready for analyst review or archiving.</a:t>
            </a:r>
            <a:endParaRPr lang="en-US" sz="1100" dirty="0"/>
          </a:p>
        </p:txBody>
      </p:sp>
      <p:sp>
        <p:nvSpPr>
          <p:cNvPr id="21" name="Shape 18"/>
          <p:cNvSpPr/>
          <p:nvPr/>
        </p:nvSpPr>
        <p:spPr>
          <a:xfrm>
            <a:off x="3108960" y="2999232"/>
            <a:ext cx="18288" cy="457200"/>
          </a:xfrm>
          <a:prstGeom prst="rect">
            <a:avLst/>
          </a:prstGeom>
          <a:solidFill>
            <a:srgbClr val="30363D"/>
          </a:solidFill>
          <a:ln/>
        </p:spPr>
        <p:txBody>
          <a:bodyPr/>
          <a:lstStyle/>
          <a:p>
            <a:endParaRPr lang="en-US"/>
          </a:p>
        </p:txBody>
      </p:sp>
      <p:sp>
        <p:nvSpPr>
          <p:cNvPr id="22" name="Shape 19"/>
          <p:cNvSpPr/>
          <p:nvPr/>
        </p:nvSpPr>
        <p:spPr>
          <a:xfrm>
            <a:off x="365760" y="3703320"/>
            <a:ext cx="8412480" cy="777240"/>
          </a:xfrm>
          <a:prstGeom prst="roundRect">
            <a:avLst>
              <a:gd name="adj" fmla="val 7059"/>
            </a:avLst>
          </a:prstGeom>
          <a:solidFill>
            <a:srgbClr val="1F2937"/>
          </a:solidFill>
          <a:ln w="12700">
            <a:solidFill>
              <a:srgbClr val="8B949E"/>
            </a:solidFill>
            <a:prstDash val="solid"/>
          </a:ln>
        </p:spPr>
        <p:txBody>
          <a:bodyPr/>
          <a:lstStyle/>
          <a:p>
            <a:endParaRPr lang="en-US"/>
          </a:p>
        </p:txBody>
      </p:sp>
      <p:sp>
        <p:nvSpPr>
          <p:cNvPr id="23" name="Text 20"/>
          <p:cNvSpPr txBox="1"/>
          <p:nvPr/>
        </p:nvSpPr>
        <p:spPr>
          <a:xfrm>
            <a:off x="502920" y="3794760"/>
            <a:ext cx="411480" cy="274320"/>
          </a:xfrm>
          <a:prstGeom prst="rect">
            <a:avLst/>
          </a:prstGeom>
          <a:noFill/>
          <a:ln/>
        </p:spPr>
        <p:txBody>
          <a:bodyPr wrap="square" lIns="0" tIns="0" rIns="0" bIns="0" rtlCol="0" anchor="ctr"/>
          <a:lstStyle/>
          <a:p>
            <a:pPr marL="0" indent="0">
              <a:buNone/>
            </a:pPr>
            <a:r>
              <a:rPr lang="en-US" sz="1200" b="1" dirty="0">
                <a:solidFill>
                  <a:srgbClr val="8B949E"/>
                </a:solidFill>
                <a:latin typeface="Calibri" pitchFamily="34" charset="0"/>
                <a:ea typeface="Calibri" pitchFamily="34" charset="-122"/>
                <a:cs typeface="Calibri" pitchFamily="34" charset="-120"/>
              </a:rPr>
              <a:t>09</a:t>
            </a:r>
            <a:endParaRPr lang="en-US" sz="1200" dirty="0"/>
          </a:p>
        </p:txBody>
      </p:sp>
      <p:sp>
        <p:nvSpPr>
          <p:cNvPr id="24" name="Text 21"/>
          <p:cNvSpPr txBox="1"/>
          <p:nvPr/>
        </p:nvSpPr>
        <p:spPr>
          <a:xfrm>
            <a:off x="960120" y="3794760"/>
            <a:ext cx="2286000" cy="274320"/>
          </a:xfrm>
          <a:prstGeom prst="rect">
            <a:avLst/>
          </a:prstGeom>
          <a:noFill/>
          <a:ln/>
        </p:spPr>
        <p:txBody>
          <a:bodyPr wrap="square" lIns="0" tIns="0" rIns="0" bIns="0" rtlCol="0" anchor="ctr"/>
          <a:lstStyle/>
          <a:p>
            <a:pPr marL="0" indent="0">
              <a:buNone/>
            </a:pPr>
            <a:r>
              <a:rPr lang="en-US" sz="1300" b="1" dirty="0">
                <a:solidFill>
                  <a:srgbClr val="E6EDF3"/>
                </a:solidFill>
                <a:latin typeface="Calibri" pitchFamily="34" charset="0"/>
                <a:ea typeface="Calibri" pitchFamily="34" charset="-122"/>
                <a:cs typeface="Calibri" pitchFamily="34" charset="-120"/>
              </a:rPr>
              <a:t>cleanup</a:t>
            </a:r>
            <a:endParaRPr lang="en-US" sz="1300" dirty="0"/>
          </a:p>
        </p:txBody>
      </p:sp>
      <p:sp>
        <p:nvSpPr>
          <p:cNvPr id="25" name="Text 22"/>
          <p:cNvSpPr txBox="1"/>
          <p:nvPr/>
        </p:nvSpPr>
        <p:spPr>
          <a:xfrm>
            <a:off x="3291840" y="3794760"/>
            <a:ext cx="5303520" cy="594360"/>
          </a:xfrm>
          <a:prstGeom prst="rect">
            <a:avLst/>
          </a:prstGeom>
          <a:noFill/>
          <a:ln/>
        </p:spPr>
        <p:txBody>
          <a:bodyPr wrap="square" lIns="0" tIns="0" rIns="0" bIns="0" rtlCol="0" anchor="ctr"/>
          <a:lstStyle/>
          <a:p>
            <a:pPr marL="0" indent="0">
              <a:buNone/>
            </a:pPr>
            <a:r>
              <a:rPr lang="en-US" sz="1100" dirty="0">
                <a:solidFill>
                  <a:srgbClr val="8B949E"/>
                </a:solidFill>
                <a:latin typeface="Calibri" pitchFamily="34" charset="0"/>
                <a:ea typeface="Calibri" pitchFamily="34" charset="-122"/>
                <a:cs typeface="Calibri" pitchFamily="34" charset="-120"/>
              </a:rPr>
              <a:t>Moves the processed PCAP from TODO/ to DONE/. Confirms the move succeeded. Keeps the queue clean for the next PCAP.</a:t>
            </a:r>
            <a:endParaRPr lang="en-US" sz="1100" dirty="0"/>
          </a:p>
        </p:txBody>
      </p:sp>
      <p:sp>
        <p:nvSpPr>
          <p:cNvPr id="26" name="Shape 23"/>
          <p:cNvSpPr/>
          <p:nvPr/>
        </p:nvSpPr>
        <p:spPr>
          <a:xfrm>
            <a:off x="3108960" y="3867912"/>
            <a:ext cx="18288" cy="457200"/>
          </a:xfrm>
          <a:prstGeom prst="rect">
            <a:avLst/>
          </a:prstGeom>
          <a:solidFill>
            <a:srgbClr val="30363D"/>
          </a:solidFill>
          <a:ln/>
        </p:spPr>
        <p:txBody>
          <a:bodyPr/>
          <a:lstStyle/>
          <a:p>
            <a:endParaRPr lang="en-US"/>
          </a:p>
        </p:txBody>
      </p:sp>
      <p:sp>
        <p:nvSpPr>
          <p:cNvPr id="27" name="Text 24"/>
          <p:cNvSpPr txBox="1"/>
          <p:nvPr/>
        </p:nvSpPr>
        <p:spPr>
          <a:xfrm>
            <a:off x="365760" y="4754880"/>
            <a:ext cx="8412480" cy="274320"/>
          </a:xfrm>
          <a:prstGeom prst="rect">
            <a:avLst/>
          </a:prstGeom>
          <a:noFill/>
          <a:ln/>
        </p:spPr>
        <p:txBody>
          <a:bodyPr wrap="square" lIns="0" tIns="0" rIns="0" bIns="0" rtlCol="0" anchor="ctr"/>
          <a:lstStyle/>
          <a:p>
            <a:pPr marL="0" indent="0">
              <a:buNone/>
            </a:pPr>
            <a:r>
              <a:rPr lang="en-US" sz="1100" dirty="0">
                <a:solidFill>
                  <a:srgbClr val="3FB950"/>
                </a:solidFill>
                <a:latin typeface="Calibri" pitchFamily="34" charset="0"/>
                <a:ea typeface="Calibri" pitchFamily="34" charset="-122"/>
                <a:cs typeface="Calibri" pitchFamily="34" charset="-120"/>
              </a:rPr>
              <a:t>Output per PCAP: RESULTS/&lt;pcap-name&gt;/correlated.json  ·  alerts_report.md  ·  stats_report.md  ·  FINAL_REPORT.md</a:t>
            </a:r>
            <a:endParaRPr lang="en-US" sz="1100" dirty="0"/>
          </a:p>
        </p:txBody>
      </p:sp>
      <p:sp>
        <p:nvSpPr>
          <p:cNvPr id="28" name="Shape 25"/>
          <p:cNvSpPr/>
          <p:nvPr/>
        </p:nvSpPr>
        <p:spPr>
          <a:xfrm>
            <a:off x="0" y="5106924"/>
            <a:ext cx="9144000" cy="36576"/>
          </a:xfrm>
          <a:prstGeom prst="rect">
            <a:avLst/>
          </a:prstGeom>
          <a:solidFill>
            <a:srgbClr val="3FB950"/>
          </a:solidFill>
          <a:ln/>
        </p:spPr>
        <p:txBody>
          <a:bodyPr/>
          <a:lstStyle/>
          <a:p>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Shape 0"/>
          <p:cNvSpPr/>
          <p:nvPr/>
        </p:nvSpPr>
        <p:spPr>
          <a:xfrm>
            <a:off x="0" y="0"/>
            <a:ext cx="9144000" cy="5143500"/>
          </a:xfrm>
          <a:prstGeom prst="rect">
            <a:avLst/>
          </a:prstGeom>
          <a:solidFill>
            <a:srgbClr val="161B22"/>
          </a:solidFill>
          <a:ln/>
        </p:spPr>
        <p:txBody>
          <a:bodyPr/>
          <a:lstStyle/>
          <a:p>
            <a:endParaRPr lang="en-US"/>
          </a:p>
        </p:txBody>
      </p:sp>
      <p:sp>
        <p:nvSpPr>
          <p:cNvPr id="4" name="Shape 1"/>
          <p:cNvSpPr/>
          <p:nvPr/>
        </p:nvSpPr>
        <p:spPr>
          <a:xfrm>
            <a:off x="0" y="0"/>
            <a:ext cx="9144000" cy="36576"/>
          </a:xfrm>
          <a:prstGeom prst="rect">
            <a:avLst/>
          </a:prstGeom>
          <a:solidFill>
            <a:srgbClr val="D29922"/>
          </a:solidFill>
          <a:ln/>
        </p:spPr>
        <p:txBody>
          <a:bodyPr/>
          <a:lstStyle/>
          <a:p>
            <a:endParaRPr lang="en-US"/>
          </a:p>
        </p:txBody>
      </p:sp>
      <p:sp>
        <p:nvSpPr>
          <p:cNvPr id="5" name="Text 2"/>
          <p:cNvSpPr txBox="1"/>
          <p:nvPr/>
        </p:nvSpPr>
        <p:spPr>
          <a:xfrm>
            <a:off x="548640" y="1645920"/>
            <a:ext cx="8046720" cy="274320"/>
          </a:xfrm>
          <a:prstGeom prst="rect">
            <a:avLst/>
          </a:prstGeom>
          <a:noFill/>
          <a:ln/>
        </p:spPr>
        <p:txBody>
          <a:bodyPr wrap="square" lIns="0" tIns="0" rIns="0" bIns="0" rtlCol="0" anchor="ctr"/>
          <a:lstStyle/>
          <a:p>
            <a:pPr marL="0" indent="0">
              <a:buNone/>
            </a:pPr>
            <a:r>
              <a:rPr lang="en-US" sz="1300" b="1" kern="0" spc="400" dirty="0">
                <a:solidFill>
                  <a:srgbClr val="D29922"/>
                </a:solidFill>
                <a:latin typeface="Calibri" pitchFamily="34" charset="0"/>
                <a:ea typeface="Calibri" pitchFamily="34" charset="-122"/>
                <a:cs typeface="Calibri" pitchFamily="34" charset="-120"/>
              </a:rPr>
              <a:t>PART 02</a:t>
            </a:r>
            <a:endParaRPr lang="en-US" sz="1300" dirty="0"/>
          </a:p>
        </p:txBody>
      </p:sp>
      <p:sp>
        <p:nvSpPr>
          <p:cNvPr id="6" name="Text 3"/>
          <p:cNvSpPr txBox="1"/>
          <p:nvPr/>
        </p:nvSpPr>
        <p:spPr>
          <a:xfrm>
            <a:off x="548640" y="2011680"/>
            <a:ext cx="8046720" cy="731520"/>
          </a:xfrm>
          <a:prstGeom prst="rect">
            <a:avLst/>
          </a:prstGeom>
          <a:noFill/>
          <a:ln/>
        </p:spPr>
        <p:txBody>
          <a:bodyPr wrap="square" lIns="0" tIns="0" rIns="0" bIns="0" rtlCol="0" anchor="ctr"/>
          <a:lstStyle/>
          <a:p>
            <a:pPr marL="0" indent="0">
              <a:buNone/>
            </a:pPr>
            <a:r>
              <a:rPr lang="en-US" sz="4000" b="1" dirty="0">
                <a:solidFill>
                  <a:srgbClr val="E6EDF3"/>
                </a:solidFill>
                <a:latin typeface="Calibri" pitchFamily="34" charset="0"/>
                <a:ea typeface="Calibri" pitchFamily="34" charset="-122"/>
                <a:cs typeface="Calibri" pitchFamily="34" charset="-120"/>
              </a:rPr>
              <a:t>Installation</a:t>
            </a:r>
            <a:endParaRPr lang="en-US" sz="4000" dirty="0"/>
          </a:p>
        </p:txBody>
      </p:sp>
      <p:sp>
        <p:nvSpPr>
          <p:cNvPr id="7" name="Text 4"/>
          <p:cNvSpPr txBox="1"/>
          <p:nvPr/>
        </p:nvSpPr>
        <p:spPr>
          <a:xfrm>
            <a:off x="548640" y="2834640"/>
            <a:ext cx="8046720" cy="365760"/>
          </a:xfrm>
          <a:prstGeom prst="rect">
            <a:avLst/>
          </a:prstGeom>
          <a:noFill/>
          <a:ln/>
        </p:spPr>
        <p:txBody>
          <a:bodyPr wrap="square" lIns="0" tIns="0" rIns="0" bIns="0" rtlCol="0" anchor="ctr"/>
          <a:lstStyle/>
          <a:p>
            <a:pPr marL="0" indent="0">
              <a:buNone/>
            </a:pPr>
            <a:r>
              <a:rPr lang="en-US" sz="1500" dirty="0">
                <a:solidFill>
                  <a:srgbClr val="8B949E"/>
                </a:solidFill>
                <a:latin typeface="Calibri" pitchFamily="34" charset="0"/>
                <a:ea typeface="Calibri" pitchFamily="34" charset="-122"/>
                <a:cs typeface="Calibri" pitchFamily="34" charset="-120"/>
              </a:rPr>
              <a:t>Install in this order: Suricata → Zeek → Ansible → Python + geoip2 → GeoLite2 databases</a:t>
            </a:r>
            <a:endParaRPr lang="en-US" sz="1500" dirty="0"/>
          </a:p>
        </p:txBody>
      </p:sp>
      <p:sp>
        <p:nvSpPr>
          <p:cNvPr id="8" name="Shape 5"/>
          <p:cNvSpPr/>
          <p:nvPr/>
        </p:nvSpPr>
        <p:spPr>
          <a:xfrm>
            <a:off x="0" y="5106924"/>
            <a:ext cx="9144000" cy="36576"/>
          </a:xfrm>
          <a:prstGeom prst="rect">
            <a:avLst/>
          </a:prstGeom>
          <a:solidFill>
            <a:srgbClr val="D29922"/>
          </a:solidFill>
          <a:ln/>
        </p:spPr>
        <p:txBody>
          <a:bodyPr/>
          <a:lstStyle/>
          <a:p>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Shape 0"/>
          <p:cNvSpPr/>
          <p:nvPr/>
        </p:nvSpPr>
        <p:spPr>
          <a:xfrm>
            <a:off x="0" y="0"/>
            <a:ext cx="9144000" cy="5143500"/>
          </a:xfrm>
          <a:prstGeom prst="rect">
            <a:avLst/>
          </a:prstGeom>
          <a:solidFill>
            <a:srgbClr val="0D1117"/>
          </a:solidFill>
          <a:ln/>
        </p:spPr>
        <p:txBody>
          <a:bodyPr/>
          <a:lstStyle/>
          <a:p>
            <a:endParaRPr lang="en-US"/>
          </a:p>
        </p:txBody>
      </p:sp>
      <p:sp>
        <p:nvSpPr>
          <p:cNvPr id="4" name="Shape 1"/>
          <p:cNvSpPr/>
          <p:nvPr/>
        </p:nvSpPr>
        <p:spPr>
          <a:xfrm>
            <a:off x="0" y="0"/>
            <a:ext cx="9144000" cy="36576"/>
          </a:xfrm>
          <a:prstGeom prst="rect">
            <a:avLst/>
          </a:prstGeom>
          <a:solidFill>
            <a:srgbClr val="D29922"/>
          </a:solidFill>
          <a:ln/>
        </p:spPr>
        <p:txBody>
          <a:bodyPr/>
          <a:lstStyle/>
          <a:p>
            <a:endParaRPr lang="en-US"/>
          </a:p>
        </p:txBody>
      </p:sp>
      <p:sp>
        <p:nvSpPr>
          <p:cNvPr id="5" name="Text 2"/>
          <p:cNvSpPr txBox="1"/>
          <p:nvPr/>
        </p:nvSpPr>
        <p:spPr>
          <a:xfrm>
            <a:off x="457200" y="201168"/>
            <a:ext cx="8229600" cy="237744"/>
          </a:xfrm>
          <a:prstGeom prst="rect">
            <a:avLst/>
          </a:prstGeom>
          <a:noFill/>
          <a:ln/>
        </p:spPr>
        <p:txBody>
          <a:bodyPr wrap="square" lIns="0" tIns="0" rIns="0" bIns="0" rtlCol="0" anchor="ctr"/>
          <a:lstStyle/>
          <a:p>
            <a:pPr marL="0" indent="0">
              <a:buNone/>
            </a:pPr>
            <a:r>
              <a:rPr lang="en-US" sz="1000" b="1" kern="0" spc="300" dirty="0">
                <a:solidFill>
                  <a:srgbClr val="D29922"/>
                </a:solidFill>
                <a:latin typeface="Calibri" pitchFamily="34" charset="0"/>
                <a:ea typeface="Calibri" pitchFamily="34" charset="-122"/>
                <a:cs typeface="Calibri" pitchFamily="34" charset="-120"/>
              </a:rPr>
              <a:t>INSTALLATION</a:t>
            </a:r>
            <a:endParaRPr lang="en-US" sz="1000" dirty="0"/>
          </a:p>
        </p:txBody>
      </p:sp>
      <p:sp>
        <p:nvSpPr>
          <p:cNvPr id="6" name="Text 3"/>
          <p:cNvSpPr txBox="1"/>
          <p:nvPr/>
        </p:nvSpPr>
        <p:spPr>
          <a:xfrm>
            <a:off x="457200" y="502920"/>
            <a:ext cx="8229600" cy="457200"/>
          </a:xfrm>
          <a:prstGeom prst="rect">
            <a:avLst/>
          </a:prstGeom>
          <a:noFill/>
          <a:ln/>
        </p:spPr>
        <p:txBody>
          <a:bodyPr wrap="square" lIns="0" tIns="0" rIns="0" bIns="0" rtlCol="0" anchor="ctr"/>
          <a:lstStyle/>
          <a:p>
            <a:pPr marL="0" indent="0">
              <a:buNone/>
            </a:pPr>
            <a:r>
              <a:rPr lang="en-US" sz="2600" b="1" dirty="0">
                <a:solidFill>
                  <a:srgbClr val="E6EDF3"/>
                </a:solidFill>
                <a:latin typeface="Calibri" pitchFamily="34" charset="0"/>
                <a:ea typeface="Calibri" pitchFamily="34" charset="-122"/>
                <a:cs typeface="Calibri" pitchFamily="34" charset="-120"/>
              </a:rPr>
              <a:t>Step 1 — Suricata &amp; Zeek</a:t>
            </a:r>
            <a:endParaRPr lang="en-US" sz="2600" dirty="0"/>
          </a:p>
        </p:txBody>
      </p:sp>
      <p:sp>
        <p:nvSpPr>
          <p:cNvPr id="7" name="Shape 4"/>
          <p:cNvSpPr/>
          <p:nvPr/>
        </p:nvSpPr>
        <p:spPr>
          <a:xfrm>
            <a:off x="365760" y="1097280"/>
            <a:ext cx="4114800" cy="3749040"/>
          </a:xfrm>
          <a:prstGeom prst="roundRect">
            <a:avLst>
              <a:gd name="adj" fmla="val 1951"/>
            </a:avLst>
          </a:prstGeom>
          <a:solidFill>
            <a:srgbClr val="1F2937"/>
          </a:solidFill>
          <a:ln w="19050">
            <a:solidFill>
              <a:srgbClr val="D29922"/>
            </a:solidFill>
            <a:prstDash val="solid"/>
          </a:ln>
        </p:spPr>
        <p:txBody>
          <a:bodyPr/>
          <a:lstStyle/>
          <a:p>
            <a:endParaRPr lang="en-US"/>
          </a:p>
        </p:txBody>
      </p:sp>
      <p:sp>
        <p:nvSpPr>
          <p:cNvPr id="8" name="Text 5"/>
          <p:cNvSpPr txBox="1"/>
          <p:nvPr/>
        </p:nvSpPr>
        <p:spPr>
          <a:xfrm>
            <a:off x="548640" y="1207008"/>
            <a:ext cx="3749040" cy="274320"/>
          </a:xfrm>
          <a:prstGeom prst="rect">
            <a:avLst/>
          </a:prstGeom>
          <a:noFill/>
          <a:ln/>
        </p:spPr>
        <p:txBody>
          <a:bodyPr wrap="square" lIns="0" tIns="0" rIns="0" bIns="0" rtlCol="0" anchor="ctr"/>
          <a:lstStyle/>
          <a:p>
            <a:pPr marL="0" indent="0">
              <a:buNone/>
            </a:pPr>
            <a:r>
              <a:rPr lang="en-US" sz="1600" b="1" dirty="0">
                <a:solidFill>
                  <a:srgbClr val="D29922"/>
                </a:solidFill>
                <a:latin typeface="Calibri" pitchFamily="34" charset="0"/>
                <a:ea typeface="Calibri" pitchFamily="34" charset="-122"/>
                <a:cs typeface="Calibri" pitchFamily="34" charset="-120"/>
              </a:rPr>
              <a:t>Suricata v8.0+</a:t>
            </a:r>
            <a:endParaRPr lang="en-US" sz="1600" dirty="0"/>
          </a:p>
        </p:txBody>
      </p:sp>
      <p:sp>
        <p:nvSpPr>
          <p:cNvPr id="9" name="Text 6"/>
          <p:cNvSpPr txBox="1"/>
          <p:nvPr/>
        </p:nvSpPr>
        <p:spPr>
          <a:xfrm>
            <a:off x="548640" y="1508760"/>
            <a:ext cx="3749040" cy="256032"/>
          </a:xfrm>
          <a:prstGeom prst="rect">
            <a:avLst/>
          </a:prstGeom>
          <a:noFill/>
          <a:ln/>
        </p:spPr>
        <p:txBody>
          <a:bodyPr wrap="square" lIns="0" tIns="0" rIns="0" bIns="0" rtlCol="0" anchor="ctr"/>
          <a:lstStyle/>
          <a:p>
            <a:pPr marL="0" indent="0">
              <a:buNone/>
            </a:pPr>
            <a:r>
              <a:rPr lang="en-US" sz="1100" dirty="0">
                <a:solidFill>
                  <a:srgbClr val="8B949E"/>
                </a:solidFill>
                <a:latin typeface="Calibri" pitchFamily="34" charset="0"/>
                <a:ea typeface="Calibri" pitchFamily="34" charset="-122"/>
                <a:cs typeface="Calibri" pitchFamily="34" charset="-120"/>
              </a:rPr>
              <a:t>IDS/IPS engine — generates eve.json</a:t>
            </a:r>
            <a:endParaRPr lang="en-US" sz="1100" dirty="0"/>
          </a:p>
        </p:txBody>
      </p:sp>
      <p:sp>
        <p:nvSpPr>
          <p:cNvPr id="10" name="Text 7"/>
          <p:cNvSpPr txBox="1"/>
          <p:nvPr/>
        </p:nvSpPr>
        <p:spPr>
          <a:xfrm>
            <a:off x="502920" y="1828800"/>
            <a:ext cx="3794760" cy="2560320"/>
          </a:xfrm>
          <a:prstGeom prst="rect">
            <a:avLst/>
          </a:prstGeom>
          <a:noFill/>
          <a:ln/>
        </p:spPr>
        <p:txBody>
          <a:bodyPr wrap="square" lIns="0" tIns="0" rIns="0" bIns="0" rtlCol="0" anchor="ctr"/>
          <a:lstStyle/>
          <a:p>
            <a:pPr marL="0" indent="0">
              <a:buNone/>
            </a:pPr>
            <a:r>
              <a:rPr lang="en-US" sz="900" dirty="0">
                <a:solidFill>
                  <a:srgbClr val="E6EDF3"/>
                </a:solidFill>
                <a:latin typeface="Courier New" pitchFamily="34" charset="0"/>
                <a:ea typeface="Courier New" pitchFamily="34" charset="-122"/>
                <a:cs typeface="Courier New" pitchFamily="34" charset="-120"/>
              </a:rPr>
              <a:t># Ubuntu/Debian</a:t>
            </a:r>
            <a:endParaRPr lang="en-US" sz="900" dirty="0"/>
          </a:p>
          <a:p>
            <a:pPr marL="0" indent="0">
              <a:buNone/>
            </a:pPr>
            <a:r>
              <a:rPr lang="en-US" sz="900" dirty="0">
                <a:solidFill>
                  <a:srgbClr val="E6EDF3"/>
                </a:solidFill>
                <a:latin typeface="Courier New" pitchFamily="34" charset="0"/>
                <a:ea typeface="Courier New" pitchFamily="34" charset="-122"/>
                <a:cs typeface="Courier New" pitchFamily="34" charset="-120"/>
              </a:rPr>
              <a:t>sudo add-apt-repository ppa:oisf/suricata-stable</a:t>
            </a:r>
            <a:endParaRPr lang="en-US" sz="900" dirty="0"/>
          </a:p>
          <a:p>
            <a:pPr marL="0" indent="0">
              <a:buNone/>
            </a:pPr>
            <a:r>
              <a:rPr lang="en-US" sz="900" dirty="0">
                <a:solidFill>
                  <a:srgbClr val="E6EDF3"/>
                </a:solidFill>
                <a:latin typeface="Courier New" pitchFamily="34" charset="0"/>
                <a:ea typeface="Courier New" pitchFamily="34" charset="-122"/>
                <a:cs typeface="Courier New" pitchFamily="34" charset="-120"/>
              </a:rPr>
              <a:t>sudo apt update</a:t>
            </a:r>
            <a:endParaRPr lang="en-US" sz="900" dirty="0"/>
          </a:p>
          <a:p>
            <a:pPr marL="0" indent="0">
              <a:buNone/>
            </a:pPr>
            <a:r>
              <a:rPr lang="en-US" sz="900" dirty="0">
                <a:solidFill>
                  <a:srgbClr val="E6EDF3"/>
                </a:solidFill>
                <a:latin typeface="Courier New" pitchFamily="34" charset="0"/>
                <a:ea typeface="Courier New" pitchFamily="34" charset="-122"/>
                <a:cs typeface="Courier New" pitchFamily="34" charset="-120"/>
              </a:rPr>
              <a:t>sudo apt install suricata -y</a:t>
            </a:r>
            <a:endParaRPr lang="en-US" sz="900" dirty="0"/>
          </a:p>
          <a:p>
            <a:pPr marL="0" indent="0">
              <a:buNone/>
            </a:pPr>
            <a:endParaRPr lang="en-US" sz="900" dirty="0"/>
          </a:p>
          <a:p>
            <a:pPr marL="0" indent="0">
              <a:buNone/>
            </a:pPr>
            <a:r>
              <a:rPr lang="en-US" sz="900" dirty="0">
                <a:solidFill>
                  <a:srgbClr val="E6EDF3"/>
                </a:solidFill>
                <a:latin typeface="Courier New" pitchFamily="34" charset="0"/>
                <a:ea typeface="Courier New" pitchFamily="34" charset="-122"/>
                <a:cs typeface="Courier New" pitchFamily="34" charset="-120"/>
              </a:rPr>
              <a:t># Enable &amp; update rules</a:t>
            </a:r>
            <a:endParaRPr lang="en-US" sz="900" dirty="0"/>
          </a:p>
          <a:p>
            <a:pPr marL="0" indent="0">
              <a:buNone/>
            </a:pPr>
            <a:r>
              <a:rPr lang="en-US" sz="900" dirty="0">
                <a:solidFill>
                  <a:srgbClr val="E6EDF3"/>
                </a:solidFill>
                <a:latin typeface="Courier New" pitchFamily="34" charset="0"/>
                <a:ea typeface="Courier New" pitchFamily="34" charset="-122"/>
                <a:cs typeface="Courier New" pitchFamily="34" charset="-120"/>
              </a:rPr>
              <a:t>sudo suricata-update</a:t>
            </a:r>
            <a:endParaRPr lang="en-US" sz="900" dirty="0"/>
          </a:p>
          <a:p>
            <a:pPr marL="0" indent="0">
              <a:buNone/>
            </a:pPr>
            <a:r>
              <a:rPr lang="en-US" sz="900" dirty="0">
                <a:solidFill>
                  <a:srgbClr val="E6EDF3"/>
                </a:solidFill>
                <a:latin typeface="Courier New" pitchFamily="34" charset="0"/>
                <a:ea typeface="Courier New" pitchFamily="34" charset="-122"/>
                <a:cs typeface="Courier New" pitchFamily="34" charset="-120"/>
              </a:rPr>
              <a:t>sudo systemctl enable suricata</a:t>
            </a:r>
            <a:endParaRPr lang="en-US" sz="900" dirty="0"/>
          </a:p>
          <a:p>
            <a:pPr marL="0" indent="0">
              <a:buNone/>
            </a:pPr>
            <a:endParaRPr lang="en-US" sz="900" dirty="0"/>
          </a:p>
          <a:p>
            <a:pPr marL="0" indent="0">
              <a:buNone/>
            </a:pPr>
            <a:r>
              <a:rPr lang="en-US" sz="900" dirty="0">
                <a:solidFill>
                  <a:srgbClr val="E6EDF3"/>
                </a:solidFill>
                <a:latin typeface="Courier New" pitchFamily="34" charset="0"/>
                <a:ea typeface="Courier New" pitchFamily="34" charset="-122"/>
                <a:cs typeface="Courier New" pitchFamily="34" charset="-120"/>
              </a:rPr>
              <a:t># Verify</a:t>
            </a:r>
            <a:endParaRPr lang="en-US" sz="900" dirty="0"/>
          </a:p>
          <a:p>
            <a:pPr marL="0" indent="0">
              <a:buNone/>
            </a:pPr>
            <a:r>
              <a:rPr lang="en-US" sz="900" dirty="0">
                <a:solidFill>
                  <a:srgbClr val="E6EDF3"/>
                </a:solidFill>
                <a:latin typeface="Courier New" pitchFamily="34" charset="0"/>
                <a:ea typeface="Courier New" pitchFamily="34" charset="-122"/>
                <a:cs typeface="Courier New" pitchFamily="34" charset="-120"/>
              </a:rPr>
              <a:t>suricata --build-info | head -3</a:t>
            </a:r>
            <a:endParaRPr lang="en-US" sz="900" dirty="0"/>
          </a:p>
          <a:p>
            <a:pPr marL="0" indent="0">
              <a:buNone/>
            </a:pPr>
            <a:r>
              <a:rPr lang="en-US" sz="900" dirty="0">
                <a:solidFill>
                  <a:srgbClr val="E6EDF3"/>
                </a:solidFill>
                <a:latin typeface="Courier New" pitchFamily="34" charset="0"/>
                <a:ea typeface="Courier New" pitchFamily="34" charset="-122"/>
                <a:cs typeface="Courier New" pitchFamily="34" charset="-120"/>
              </a:rPr>
              <a:t>suricata -V</a:t>
            </a:r>
            <a:endParaRPr lang="en-US" sz="900" dirty="0"/>
          </a:p>
        </p:txBody>
      </p:sp>
      <p:sp>
        <p:nvSpPr>
          <p:cNvPr id="11" name="Shape 8"/>
          <p:cNvSpPr/>
          <p:nvPr/>
        </p:nvSpPr>
        <p:spPr>
          <a:xfrm>
            <a:off x="4663440" y="1097280"/>
            <a:ext cx="4114800" cy="3749040"/>
          </a:xfrm>
          <a:prstGeom prst="roundRect">
            <a:avLst>
              <a:gd name="adj" fmla="val 1951"/>
            </a:avLst>
          </a:prstGeom>
          <a:solidFill>
            <a:srgbClr val="1F2937"/>
          </a:solidFill>
          <a:ln w="19050">
            <a:solidFill>
              <a:srgbClr val="3FB950"/>
            </a:solidFill>
            <a:prstDash val="solid"/>
          </a:ln>
        </p:spPr>
        <p:txBody>
          <a:bodyPr/>
          <a:lstStyle/>
          <a:p>
            <a:endParaRPr lang="en-US"/>
          </a:p>
        </p:txBody>
      </p:sp>
      <p:sp>
        <p:nvSpPr>
          <p:cNvPr id="12" name="Text 9"/>
          <p:cNvSpPr txBox="1"/>
          <p:nvPr/>
        </p:nvSpPr>
        <p:spPr>
          <a:xfrm>
            <a:off x="4846320" y="1207008"/>
            <a:ext cx="3749040" cy="274320"/>
          </a:xfrm>
          <a:prstGeom prst="rect">
            <a:avLst/>
          </a:prstGeom>
          <a:noFill/>
          <a:ln/>
        </p:spPr>
        <p:txBody>
          <a:bodyPr wrap="square" lIns="0" tIns="0" rIns="0" bIns="0" rtlCol="0" anchor="ctr"/>
          <a:lstStyle/>
          <a:p>
            <a:pPr marL="0" indent="0">
              <a:buNone/>
            </a:pPr>
            <a:r>
              <a:rPr lang="en-US" sz="1600" b="1" dirty="0">
                <a:solidFill>
                  <a:srgbClr val="3FB950"/>
                </a:solidFill>
                <a:latin typeface="Calibri" pitchFamily="34" charset="0"/>
                <a:ea typeface="Calibri" pitchFamily="34" charset="-122"/>
                <a:cs typeface="Calibri" pitchFamily="34" charset="-120"/>
              </a:rPr>
              <a:t>Zeek v9.0+</a:t>
            </a:r>
            <a:endParaRPr lang="en-US" sz="1600" dirty="0"/>
          </a:p>
        </p:txBody>
      </p:sp>
      <p:sp>
        <p:nvSpPr>
          <p:cNvPr id="13" name="Text 10"/>
          <p:cNvSpPr txBox="1"/>
          <p:nvPr/>
        </p:nvSpPr>
        <p:spPr>
          <a:xfrm>
            <a:off x="4846320" y="1508760"/>
            <a:ext cx="3749040" cy="256032"/>
          </a:xfrm>
          <a:prstGeom prst="rect">
            <a:avLst/>
          </a:prstGeom>
          <a:noFill/>
          <a:ln/>
        </p:spPr>
        <p:txBody>
          <a:bodyPr wrap="square" lIns="0" tIns="0" rIns="0" bIns="0" rtlCol="0" anchor="ctr"/>
          <a:lstStyle/>
          <a:p>
            <a:pPr marL="0" indent="0">
              <a:buNone/>
            </a:pPr>
            <a:r>
              <a:rPr lang="en-US" sz="1100" dirty="0">
                <a:solidFill>
                  <a:srgbClr val="8B949E"/>
                </a:solidFill>
                <a:latin typeface="Calibri" pitchFamily="34" charset="0"/>
                <a:ea typeface="Calibri" pitchFamily="34" charset="-122"/>
                <a:cs typeface="Calibri" pitchFamily="34" charset="-120"/>
              </a:rPr>
              <a:t>NSM — conn/dns/http/ssl/files logs</a:t>
            </a:r>
            <a:endParaRPr lang="en-US" sz="1100" dirty="0"/>
          </a:p>
        </p:txBody>
      </p:sp>
      <p:sp>
        <p:nvSpPr>
          <p:cNvPr id="14" name="Text 11"/>
          <p:cNvSpPr txBox="1"/>
          <p:nvPr/>
        </p:nvSpPr>
        <p:spPr>
          <a:xfrm>
            <a:off x="4800600" y="1828800"/>
            <a:ext cx="3794760" cy="2560320"/>
          </a:xfrm>
          <a:prstGeom prst="rect">
            <a:avLst/>
          </a:prstGeom>
          <a:noFill/>
          <a:ln/>
        </p:spPr>
        <p:txBody>
          <a:bodyPr wrap="square" lIns="0" tIns="0" rIns="0" bIns="0" rtlCol="0" anchor="ctr"/>
          <a:lstStyle/>
          <a:p>
            <a:pPr marL="0" indent="0">
              <a:buNone/>
            </a:pPr>
            <a:r>
              <a:rPr lang="en-US" sz="900" dirty="0">
                <a:solidFill>
                  <a:srgbClr val="E6EDF3"/>
                </a:solidFill>
                <a:latin typeface="Courier New" pitchFamily="34" charset="0"/>
                <a:ea typeface="Courier New" pitchFamily="34" charset="-122"/>
                <a:cs typeface="Courier New" pitchFamily="34" charset="-120"/>
              </a:rPr>
              <a:t># Ubuntu/Debian</a:t>
            </a:r>
            <a:endParaRPr lang="en-US" sz="900" dirty="0"/>
          </a:p>
          <a:p>
            <a:pPr marL="0" indent="0">
              <a:buNone/>
            </a:pPr>
            <a:r>
              <a:rPr lang="en-US" sz="900" dirty="0">
                <a:solidFill>
                  <a:srgbClr val="E6EDF3"/>
                </a:solidFill>
                <a:latin typeface="Courier New" pitchFamily="34" charset="0"/>
                <a:ea typeface="Courier New" pitchFamily="34" charset="-122"/>
                <a:cs typeface="Courier New" pitchFamily="34" charset="-120"/>
              </a:rPr>
              <a:t>echo "deb http://download.opensuse.org/\</a:t>
            </a:r>
            <a:endParaRPr lang="en-US" sz="900" dirty="0"/>
          </a:p>
          <a:p>
            <a:pPr marL="0" indent="0">
              <a:buNone/>
            </a:pPr>
            <a:r>
              <a:rPr lang="en-US" sz="900" dirty="0">
                <a:solidFill>
                  <a:srgbClr val="E6EDF3"/>
                </a:solidFill>
                <a:latin typeface="Courier New" pitchFamily="34" charset="0"/>
                <a:ea typeface="Courier New" pitchFamily="34" charset="-122"/>
                <a:cs typeface="Courier New" pitchFamily="34" charset="-120"/>
              </a:rPr>
              <a:t>  repositories/security:/zeek/\</a:t>
            </a:r>
            <a:endParaRPr lang="en-US" sz="900" dirty="0"/>
          </a:p>
          <a:p>
            <a:pPr marL="0" indent="0">
              <a:buNone/>
            </a:pPr>
            <a:r>
              <a:rPr lang="en-US" sz="900" dirty="0">
                <a:solidFill>
                  <a:srgbClr val="E6EDF3"/>
                </a:solidFill>
                <a:latin typeface="Courier New" pitchFamily="34" charset="0"/>
                <a:ea typeface="Courier New" pitchFamily="34" charset="-122"/>
                <a:cs typeface="Courier New" pitchFamily="34" charset="-120"/>
              </a:rPr>
              <a:t>  xUbuntu_22.04/ /" | \</a:t>
            </a:r>
            <a:endParaRPr lang="en-US" sz="900" dirty="0"/>
          </a:p>
          <a:p>
            <a:pPr marL="0" indent="0">
              <a:buNone/>
            </a:pPr>
            <a:r>
              <a:rPr lang="en-US" sz="900" dirty="0">
                <a:solidFill>
                  <a:srgbClr val="E6EDF3"/>
                </a:solidFill>
                <a:latin typeface="Courier New" pitchFamily="34" charset="0"/>
                <a:ea typeface="Courier New" pitchFamily="34" charset="-122"/>
                <a:cs typeface="Courier New" pitchFamily="34" charset="-120"/>
              </a:rPr>
              <a:t>  sudo tee /etc/apt/sources.list.d/zeek.list</a:t>
            </a:r>
            <a:endParaRPr lang="en-US" sz="900" dirty="0"/>
          </a:p>
          <a:p>
            <a:pPr marL="0" indent="0">
              <a:buNone/>
            </a:pPr>
            <a:r>
              <a:rPr lang="en-US" sz="900" dirty="0">
                <a:solidFill>
                  <a:srgbClr val="E6EDF3"/>
                </a:solidFill>
                <a:latin typeface="Courier New" pitchFamily="34" charset="0"/>
                <a:ea typeface="Courier New" pitchFamily="34" charset="-122"/>
                <a:cs typeface="Courier New" pitchFamily="34" charset="-120"/>
              </a:rPr>
              <a:t>sudo apt update</a:t>
            </a:r>
            <a:endParaRPr lang="en-US" sz="900" dirty="0"/>
          </a:p>
          <a:p>
            <a:pPr marL="0" indent="0">
              <a:buNone/>
            </a:pPr>
            <a:r>
              <a:rPr lang="en-US" sz="900" dirty="0">
                <a:solidFill>
                  <a:srgbClr val="E6EDF3"/>
                </a:solidFill>
                <a:latin typeface="Courier New" pitchFamily="34" charset="0"/>
                <a:ea typeface="Courier New" pitchFamily="34" charset="-122"/>
                <a:cs typeface="Courier New" pitchFamily="34" charset="-120"/>
              </a:rPr>
              <a:t>sudo apt install zeek -y</a:t>
            </a:r>
            <a:endParaRPr lang="en-US" sz="900" dirty="0"/>
          </a:p>
          <a:p>
            <a:pPr marL="0" indent="0">
              <a:buNone/>
            </a:pPr>
            <a:endParaRPr lang="en-US" sz="900" dirty="0"/>
          </a:p>
          <a:p>
            <a:pPr marL="0" indent="0">
              <a:buNone/>
            </a:pPr>
            <a:r>
              <a:rPr lang="en-US" sz="900" dirty="0">
                <a:solidFill>
                  <a:srgbClr val="E6EDF3"/>
                </a:solidFill>
                <a:latin typeface="Courier New" pitchFamily="34" charset="0"/>
                <a:ea typeface="Courier New" pitchFamily="34" charset="-122"/>
                <a:cs typeface="Courier New" pitchFamily="34" charset="-120"/>
              </a:rPr>
              <a:t># Add to PATH</a:t>
            </a:r>
            <a:endParaRPr lang="en-US" sz="900" dirty="0"/>
          </a:p>
          <a:p>
            <a:pPr marL="0" indent="0">
              <a:buNone/>
            </a:pPr>
            <a:r>
              <a:rPr lang="en-US" sz="900" dirty="0">
                <a:solidFill>
                  <a:srgbClr val="E6EDF3"/>
                </a:solidFill>
                <a:latin typeface="Courier New" pitchFamily="34" charset="0"/>
                <a:ea typeface="Courier New" pitchFamily="34" charset="-122"/>
                <a:cs typeface="Courier New" pitchFamily="34" charset="-120"/>
              </a:rPr>
              <a:t>export PATH=$PATH:/opt/zeek/bin</a:t>
            </a:r>
            <a:endParaRPr lang="en-US" sz="900" dirty="0"/>
          </a:p>
          <a:p>
            <a:pPr marL="0" indent="0">
              <a:buNone/>
            </a:pPr>
            <a:r>
              <a:rPr lang="en-US" sz="900" dirty="0">
                <a:solidFill>
                  <a:srgbClr val="E6EDF3"/>
                </a:solidFill>
                <a:latin typeface="Courier New" pitchFamily="34" charset="0"/>
                <a:ea typeface="Courier New" pitchFamily="34" charset="-122"/>
                <a:cs typeface="Courier New" pitchFamily="34" charset="-120"/>
              </a:rPr>
              <a:t>echo 'export PATH=$PATH:/opt/zeek/bin' &gt;&gt; ~/.bashrc</a:t>
            </a:r>
            <a:endParaRPr lang="en-US" sz="900" dirty="0"/>
          </a:p>
          <a:p>
            <a:pPr marL="0" indent="0">
              <a:buNone/>
            </a:pPr>
            <a:endParaRPr lang="en-US" sz="900" dirty="0"/>
          </a:p>
          <a:p>
            <a:pPr marL="0" indent="0">
              <a:buNone/>
            </a:pPr>
            <a:r>
              <a:rPr lang="en-US" sz="900" dirty="0">
                <a:solidFill>
                  <a:srgbClr val="E6EDF3"/>
                </a:solidFill>
                <a:latin typeface="Courier New" pitchFamily="34" charset="0"/>
                <a:ea typeface="Courier New" pitchFamily="34" charset="-122"/>
                <a:cs typeface="Courier New" pitchFamily="34" charset="-120"/>
              </a:rPr>
              <a:t># Verify</a:t>
            </a:r>
            <a:endParaRPr lang="en-US" sz="900" dirty="0"/>
          </a:p>
          <a:p>
            <a:pPr marL="0" indent="0">
              <a:buNone/>
            </a:pPr>
            <a:r>
              <a:rPr lang="en-US" sz="900" dirty="0">
                <a:solidFill>
                  <a:srgbClr val="E6EDF3"/>
                </a:solidFill>
                <a:latin typeface="Courier New" pitchFamily="34" charset="0"/>
                <a:ea typeface="Courier New" pitchFamily="34" charset="-122"/>
                <a:cs typeface="Courier New" pitchFamily="34" charset="-120"/>
              </a:rPr>
              <a:t>zeek --version</a:t>
            </a:r>
            <a:endParaRPr lang="en-US" sz="900" dirty="0"/>
          </a:p>
        </p:txBody>
      </p:sp>
      <p:sp>
        <p:nvSpPr>
          <p:cNvPr id="15" name="Shape 12"/>
          <p:cNvSpPr/>
          <p:nvPr/>
        </p:nvSpPr>
        <p:spPr>
          <a:xfrm>
            <a:off x="0" y="5106924"/>
            <a:ext cx="9144000" cy="36576"/>
          </a:xfrm>
          <a:prstGeom prst="rect">
            <a:avLst/>
          </a:prstGeom>
          <a:solidFill>
            <a:srgbClr val="D29922"/>
          </a:solidFill>
          <a:ln/>
        </p:spPr>
        <p:txBody>
          <a:bodyPr/>
          <a:lstStyle/>
          <a:p>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Shape 0"/>
          <p:cNvSpPr/>
          <p:nvPr/>
        </p:nvSpPr>
        <p:spPr>
          <a:xfrm>
            <a:off x="0" y="0"/>
            <a:ext cx="9144000" cy="5143500"/>
          </a:xfrm>
          <a:prstGeom prst="rect">
            <a:avLst/>
          </a:prstGeom>
          <a:solidFill>
            <a:srgbClr val="0D1117"/>
          </a:solidFill>
          <a:ln/>
        </p:spPr>
        <p:txBody>
          <a:bodyPr/>
          <a:lstStyle/>
          <a:p>
            <a:endParaRPr lang="en-US"/>
          </a:p>
        </p:txBody>
      </p:sp>
      <p:sp>
        <p:nvSpPr>
          <p:cNvPr id="4" name="Shape 1"/>
          <p:cNvSpPr/>
          <p:nvPr/>
        </p:nvSpPr>
        <p:spPr>
          <a:xfrm>
            <a:off x="0" y="0"/>
            <a:ext cx="9144000" cy="36576"/>
          </a:xfrm>
          <a:prstGeom prst="rect">
            <a:avLst/>
          </a:prstGeom>
          <a:solidFill>
            <a:srgbClr val="D29922"/>
          </a:solidFill>
          <a:ln/>
        </p:spPr>
        <p:txBody>
          <a:bodyPr/>
          <a:lstStyle/>
          <a:p>
            <a:endParaRPr lang="en-US"/>
          </a:p>
        </p:txBody>
      </p:sp>
      <p:sp>
        <p:nvSpPr>
          <p:cNvPr id="5" name="Text 2"/>
          <p:cNvSpPr txBox="1"/>
          <p:nvPr/>
        </p:nvSpPr>
        <p:spPr>
          <a:xfrm>
            <a:off x="457200" y="201168"/>
            <a:ext cx="8229600" cy="237744"/>
          </a:xfrm>
          <a:prstGeom prst="rect">
            <a:avLst/>
          </a:prstGeom>
          <a:noFill/>
          <a:ln/>
        </p:spPr>
        <p:txBody>
          <a:bodyPr wrap="square" lIns="0" tIns="0" rIns="0" bIns="0" rtlCol="0" anchor="ctr"/>
          <a:lstStyle/>
          <a:p>
            <a:pPr marL="0" indent="0">
              <a:buNone/>
            </a:pPr>
            <a:r>
              <a:rPr lang="en-US" sz="1000" b="1" kern="0" spc="300" dirty="0">
                <a:solidFill>
                  <a:srgbClr val="D29922"/>
                </a:solidFill>
                <a:latin typeface="Calibri" pitchFamily="34" charset="0"/>
                <a:ea typeface="Calibri" pitchFamily="34" charset="-122"/>
                <a:cs typeface="Calibri" pitchFamily="34" charset="-120"/>
              </a:rPr>
              <a:t>INSTALLATION</a:t>
            </a:r>
            <a:endParaRPr lang="en-US" sz="1000" dirty="0"/>
          </a:p>
        </p:txBody>
      </p:sp>
      <p:sp>
        <p:nvSpPr>
          <p:cNvPr id="6" name="Text 3"/>
          <p:cNvSpPr txBox="1"/>
          <p:nvPr/>
        </p:nvSpPr>
        <p:spPr>
          <a:xfrm>
            <a:off x="457200" y="502920"/>
            <a:ext cx="8229600" cy="457200"/>
          </a:xfrm>
          <a:prstGeom prst="rect">
            <a:avLst/>
          </a:prstGeom>
          <a:noFill/>
          <a:ln/>
        </p:spPr>
        <p:txBody>
          <a:bodyPr wrap="square" lIns="0" tIns="0" rIns="0" bIns="0" rtlCol="0" anchor="ctr"/>
          <a:lstStyle/>
          <a:p>
            <a:pPr marL="0" indent="0">
              <a:buNone/>
            </a:pPr>
            <a:r>
              <a:rPr lang="en-US" sz="2400" b="1" dirty="0">
                <a:solidFill>
                  <a:srgbClr val="E6EDF3"/>
                </a:solidFill>
                <a:latin typeface="Calibri" pitchFamily="34" charset="0"/>
                <a:ea typeface="Calibri" pitchFamily="34" charset="-122"/>
                <a:cs typeface="Calibri" pitchFamily="34" charset="-120"/>
              </a:rPr>
              <a:t>Step 2 — Ansible, Python &amp; GeoIP Databases</a:t>
            </a:r>
            <a:endParaRPr lang="en-US" sz="2400" dirty="0"/>
          </a:p>
        </p:txBody>
      </p:sp>
      <p:sp>
        <p:nvSpPr>
          <p:cNvPr id="7" name="Shape 4"/>
          <p:cNvSpPr/>
          <p:nvPr/>
        </p:nvSpPr>
        <p:spPr>
          <a:xfrm>
            <a:off x="320040" y="1097280"/>
            <a:ext cx="2788920" cy="3749040"/>
          </a:xfrm>
          <a:prstGeom prst="roundRect">
            <a:avLst>
              <a:gd name="adj" fmla="val 2623"/>
            </a:avLst>
          </a:prstGeom>
          <a:solidFill>
            <a:srgbClr val="1F2937"/>
          </a:solidFill>
          <a:ln w="19050">
            <a:solidFill>
              <a:srgbClr val="58A6FF"/>
            </a:solidFill>
            <a:prstDash val="solid"/>
          </a:ln>
        </p:spPr>
        <p:txBody>
          <a:bodyPr/>
          <a:lstStyle/>
          <a:p>
            <a:endParaRPr lang="en-US"/>
          </a:p>
        </p:txBody>
      </p:sp>
      <p:sp>
        <p:nvSpPr>
          <p:cNvPr id="8" name="Text 5"/>
          <p:cNvSpPr txBox="1"/>
          <p:nvPr/>
        </p:nvSpPr>
        <p:spPr>
          <a:xfrm>
            <a:off x="457200" y="1207008"/>
            <a:ext cx="2560320" cy="292608"/>
          </a:xfrm>
          <a:prstGeom prst="rect">
            <a:avLst/>
          </a:prstGeom>
          <a:noFill/>
          <a:ln/>
        </p:spPr>
        <p:txBody>
          <a:bodyPr wrap="square" lIns="0" tIns="0" rIns="0" bIns="0" rtlCol="0" anchor="ctr"/>
          <a:lstStyle/>
          <a:p>
            <a:pPr marL="0" indent="0">
              <a:buNone/>
            </a:pPr>
            <a:r>
              <a:rPr lang="en-US" sz="1300" b="1" dirty="0">
                <a:solidFill>
                  <a:srgbClr val="58A6FF"/>
                </a:solidFill>
                <a:latin typeface="Calibri" pitchFamily="34" charset="0"/>
                <a:ea typeface="Calibri" pitchFamily="34" charset="-122"/>
                <a:cs typeface="Calibri" pitchFamily="34" charset="-120"/>
              </a:rPr>
              <a:t>Ansible v2.17+</a:t>
            </a:r>
            <a:endParaRPr lang="en-US" sz="1300" dirty="0"/>
          </a:p>
        </p:txBody>
      </p:sp>
      <p:sp>
        <p:nvSpPr>
          <p:cNvPr id="9" name="Text 6"/>
          <p:cNvSpPr txBox="1"/>
          <p:nvPr/>
        </p:nvSpPr>
        <p:spPr>
          <a:xfrm>
            <a:off x="457200" y="1517904"/>
            <a:ext cx="2560320" cy="237744"/>
          </a:xfrm>
          <a:prstGeom prst="rect">
            <a:avLst/>
          </a:prstGeom>
          <a:noFill/>
          <a:ln/>
        </p:spPr>
        <p:txBody>
          <a:bodyPr wrap="square" lIns="0" tIns="0" rIns="0" bIns="0" rtlCol="0" anchor="ctr"/>
          <a:lstStyle/>
          <a:p>
            <a:pPr marL="0" indent="0">
              <a:buNone/>
            </a:pPr>
            <a:r>
              <a:rPr lang="en-US" sz="1000" dirty="0">
                <a:solidFill>
                  <a:srgbClr val="8B949E"/>
                </a:solidFill>
                <a:latin typeface="Calibri" pitchFamily="34" charset="0"/>
                <a:ea typeface="Calibri" pitchFamily="34" charset="-122"/>
                <a:cs typeface="Calibri" pitchFamily="34" charset="-120"/>
              </a:rPr>
              <a:t>Orchestration engine</a:t>
            </a:r>
            <a:endParaRPr lang="en-US" sz="1000" dirty="0"/>
          </a:p>
        </p:txBody>
      </p:sp>
      <p:sp>
        <p:nvSpPr>
          <p:cNvPr id="10" name="Text 7"/>
          <p:cNvSpPr txBox="1"/>
          <p:nvPr/>
        </p:nvSpPr>
        <p:spPr>
          <a:xfrm>
            <a:off x="429768" y="1828800"/>
            <a:ext cx="2606040" cy="2743200"/>
          </a:xfrm>
          <a:prstGeom prst="rect">
            <a:avLst/>
          </a:prstGeom>
          <a:noFill/>
          <a:ln/>
        </p:spPr>
        <p:txBody>
          <a:bodyPr wrap="square" lIns="0" tIns="0" rIns="0" bIns="0" rtlCol="0" anchor="ctr"/>
          <a:lstStyle/>
          <a:p>
            <a:pPr marL="0" indent="0">
              <a:buNone/>
            </a:pPr>
            <a:r>
              <a:rPr lang="en-US" sz="900" dirty="0">
                <a:solidFill>
                  <a:srgbClr val="E6EDF3"/>
                </a:solidFill>
                <a:latin typeface="Courier New" pitchFamily="34" charset="0"/>
                <a:ea typeface="Courier New" pitchFamily="34" charset="-122"/>
                <a:cs typeface="Courier New" pitchFamily="34" charset="-120"/>
              </a:rPr>
              <a:t># Install</a:t>
            </a:r>
            <a:endParaRPr lang="en-US" sz="900" dirty="0"/>
          </a:p>
          <a:p>
            <a:pPr marL="0" indent="0">
              <a:buNone/>
            </a:pPr>
            <a:r>
              <a:rPr lang="en-US" sz="900" dirty="0">
                <a:solidFill>
                  <a:srgbClr val="E6EDF3"/>
                </a:solidFill>
                <a:latin typeface="Courier New" pitchFamily="34" charset="0"/>
                <a:ea typeface="Courier New" pitchFamily="34" charset="-122"/>
                <a:cs typeface="Courier New" pitchFamily="34" charset="-120"/>
              </a:rPr>
              <a:t>sudo apt update</a:t>
            </a:r>
            <a:endParaRPr lang="en-US" sz="900" dirty="0"/>
          </a:p>
          <a:p>
            <a:pPr marL="0" indent="0">
              <a:buNone/>
            </a:pPr>
            <a:r>
              <a:rPr lang="en-US" sz="900" dirty="0">
                <a:solidFill>
                  <a:srgbClr val="E6EDF3"/>
                </a:solidFill>
                <a:latin typeface="Courier New" pitchFamily="34" charset="0"/>
                <a:ea typeface="Courier New" pitchFamily="34" charset="-122"/>
                <a:cs typeface="Courier New" pitchFamily="34" charset="-120"/>
              </a:rPr>
              <a:t>sudo apt install -y \</a:t>
            </a:r>
            <a:endParaRPr lang="en-US" sz="900" dirty="0"/>
          </a:p>
          <a:p>
            <a:pPr marL="0" indent="0">
              <a:buNone/>
            </a:pPr>
            <a:r>
              <a:rPr lang="en-US" sz="900" dirty="0">
                <a:solidFill>
                  <a:srgbClr val="E6EDF3"/>
                </a:solidFill>
                <a:latin typeface="Courier New" pitchFamily="34" charset="0"/>
                <a:ea typeface="Courier New" pitchFamily="34" charset="-122"/>
                <a:cs typeface="Courier New" pitchFamily="34" charset="-120"/>
              </a:rPr>
              <a:t>  software-properties-common</a:t>
            </a:r>
            <a:endParaRPr lang="en-US" sz="900" dirty="0"/>
          </a:p>
          <a:p>
            <a:pPr marL="0" indent="0">
              <a:buNone/>
            </a:pPr>
            <a:r>
              <a:rPr lang="en-US" sz="900" dirty="0">
                <a:solidFill>
                  <a:srgbClr val="E6EDF3"/>
                </a:solidFill>
                <a:latin typeface="Courier New" pitchFamily="34" charset="0"/>
                <a:ea typeface="Courier New" pitchFamily="34" charset="-122"/>
                <a:cs typeface="Courier New" pitchFamily="34" charset="-120"/>
              </a:rPr>
              <a:t>sudo add-apt-repository \</a:t>
            </a:r>
            <a:endParaRPr lang="en-US" sz="900" dirty="0"/>
          </a:p>
          <a:p>
            <a:pPr marL="0" indent="0">
              <a:buNone/>
            </a:pPr>
            <a:r>
              <a:rPr lang="en-US" sz="900" dirty="0">
                <a:solidFill>
                  <a:srgbClr val="E6EDF3"/>
                </a:solidFill>
                <a:latin typeface="Courier New" pitchFamily="34" charset="0"/>
                <a:ea typeface="Courier New" pitchFamily="34" charset="-122"/>
                <a:cs typeface="Courier New" pitchFamily="34" charset="-120"/>
              </a:rPr>
              <a:t>  ppa:ansible/ansible</a:t>
            </a:r>
            <a:endParaRPr lang="en-US" sz="900" dirty="0"/>
          </a:p>
          <a:p>
            <a:pPr marL="0" indent="0">
              <a:buNone/>
            </a:pPr>
            <a:r>
              <a:rPr lang="en-US" sz="900" dirty="0">
                <a:solidFill>
                  <a:srgbClr val="E6EDF3"/>
                </a:solidFill>
                <a:latin typeface="Courier New" pitchFamily="34" charset="0"/>
                <a:ea typeface="Courier New" pitchFamily="34" charset="-122"/>
                <a:cs typeface="Courier New" pitchFamily="34" charset="-120"/>
              </a:rPr>
              <a:t>sudo apt install ansible -y</a:t>
            </a:r>
            <a:endParaRPr lang="en-US" sz="900" dirty="0"/>
          </a:p>
          <a:p>
            <a:pPr marL="0" indent="0">
              <a:buNone/>
            </a:pPr>
            <a:endParaRPr lang="en-US" sz="900" dirty="0"/>
          </a:p>
          <a:p>
            <a:pPr marL="0" indent="0">
              <a:buNone/>
            </a:pPr>
            <a:r>
              <a:rPr lang="en-US" sz="900" dirty="0">
                <a:solidFill>
                  <a:srgbClr val="E6EDF3"/>
                </a:solidFill>
                <a:latin typeface="Courier New" pitchFamily="34" charset="0"/>
                <a:ea typeface="Courier New" pitchFamily="34" charset="-122"/>
                <a:cs typeface="Courier New" pitchFamily="34" charset="-120"/>
              </a:rPr>
              <a:t># Verify</a:t>
            </a:r>
            <a:endParaRPr lang="en-US" sz="900" dirty="0"/>
          </a:p>
          <a:p>
            <a:pPr marL="0" indent="0">
              <a:buNone/>
            </a:pPr>
            <a:r>
              <a:rPr lang="en-US" sz="900" dirty="0">
                <a:solidFill>
                  <a:srgbClr val="E6EDF3"/>
                </a:solidFill>
                <a:latin typeface="Courier New" pitchFamily="34" charset="0"/>
                <a:ea typeface="Courier New" pitchFamily="34" charset="-122"/>
                <a:cs typeface="Courier New" pitchFamily="34" charset="-120"/>
              </a:rPr>
              <a:t>ansible --version</a:t>
            </a:r>
            <a:endParaRPr lang="en-US" sz="900" dirty="0"/>
          </a:p>
        </p:txBody>
      </p:sp>
      <p:sp>
        <p:nvSpPr>
          <p:cNvPr id="11" name="Shape 8"/>
          <p:cNvSpPr/>
          <p:nvPr/>
        </p:nvSpPr>
        <p:spPr>
          <a:xfrm>
            <a:off x="3246120" y="1097280"/>
            <a:ext cx="2788920" cy="3749040"/>
          </a:xfrm>
          <a:prstGeom prst="roundRect">
            <a:avLst>
              <a:gd name="adj" fmla="val 2623"/>
            </a:avLst>
          </a:prstGeom>
          <a:solidFill>
            <a:srgbClr val="1F2937"/>
          </a:solidFill>
          <a:ln w="19050">
            <a:solidFill>
              <a:srgbClr val="58A6FF"/>
            </a:solidFill>
            <a:prstDash val="solid"/>
          </a:ln>
        </p:spPr>
        <p:txBody>
          <a:bodyPr/>
          <a:lstStyle/>
          <a:p>
            <a:endParaRPr lang="en-US"/>
          </a:p>
        </p:txBody>
      </p:sp>
      <p:sp>
        <p:nvSpPr>
          <p:cNvPr id="12" name="Text 9"/>
          <p:cNvSpPr txBox="1"/>
          <p:nvPr/>
        </p:nvSpPr>
        <p:spPr>
          <a:xfrm>
            <a:off x="3383280" y="1207008"/>
            <a:ext cx="2560320" cy="292608"/>
          </a:xfrm>
          <a:prstGeom prst="rect">
            <a:avLst/>
          </a:prstGeom>
          <a:noFill/>
          <a:ln/>
        </p:spPr>
        <p:txBody>
          <a:bodyPr wrap="square" lIns="0" tIns="0" rIns="0" bIns="0" rtlCol="0" anchor="ctr"/>
          <a:lstStyle/>
          <a:p>
            <a:pPr marL="0" indent="0">
              <a:buNone/>
            </a:pPr>
            <a:r>
              <a:rPr lang="en-US" sz="1300" b="1" dirty="0">
                <a:solidFill>
                  <a:srgbClr val="58A6FF"/>
                </a:solidFill>
                <a:latin typeface="Calibri" pitchFamily="34" charset="0"/>
                <a:ea typeface="Calibri" pitchFamily="34" charset="-122"/>
                <a:cs typeface="Calibri" pitchFamily="34" charset="-120"/>
              </a:rPr>
              <a:t>Python 3.10+ + geoip2</a:t>
            </a:r>
            <a:endParaRPr lang="en-US" sz="1300" dirty="0"/>
          </a:p>
        </p:txBody>
      </p:sp>
      <p:sp>
        <p:nvSpPr>
          <p:cNvPr id="13" name="Text 10"/>
          <p:cNvSpPr txBox="1"/>
          <p:nvPr/>
        </p:nvSpPr>
        <p:spPr>
          <a:xfrm>
            <a:off x="3383280" y="1517904"/>
            <a:ext cx="2560320" cy="237744"/>
          </a:xfrm>
          <a:prstGeom prst="rect">
            <a:avLst/>
          </a:prstGeom>
          <a:noFill/>
          <a:ln/>
        </p:spPr>
        <p:txBody>
          <a:bodyPr wrap="square" lIns="0" tIns="0" rIns="0" bIns="0" rtlCol="0" anchor="ctr"/>
          <a:lstStyle/>
          <a:p>
            <a:pPr marL="0" indent="0">
              <a:buNone/>
            </a:pPr>
            <a:r>
              <a:rPr lang="en-US" sz="1000" dirty="0">
                <a:solidFill>
                  <a:srgbClr val="8B949E"/>
                </a:solidFill>
                <a:latin typeface="Calibri" pitchFamily="34" charset="0"/>
                <a:ea typeface="Calibri" pitchFamily="34" charset="-122"/>
                <a:cs typeface="Calibri" pitchFamily="34" charset="-120"/>
              </a:rPr>
              <a:t>GeoIP enrichment</a:t>
            </a:r>
            <a:endParaRPr lang="en-US" sz="1000" dirty="0"/>
          </a:p>
        </p:txBody>
      </p:sp>
      <p:sp>
        <p:nvSpPr>
          <p:cNvPr id="14" name="Text 11"/>
          <p:cNvSpPr txBox="1"/>
          <p:nvPr/>
        </p:nvSpPr>
        <p:spPr>
          <a:xfrm>
            <a:off x="3355848" y="1828800"/>
            <a:ext cx="2606040" cy="2743200"/>
          </a:xfrm>
          <a:prstGeom prst="rect">
            <a:avLst/>
          </a:prstGeom>
          <a:noFill/>
          <a:ln/>
        </p:spPr>
        <p:txBody>
          <a:bodyPr wrap="square" lIns="0" tIns="0" rIns="0" bIns="0" rtlCol="0" anchor="ctr"/>
          <a:lstStyle/>
          <a:p>
            <a:pPr marL="0" indent="0">
              <a:buNone/>
            </a:pPr>
            <a:r>
              <a:rPr lang="en-US" sz="900" dirty="0">
                <a:solidFill>
                  <a:srgbClr val="E6EDF3"/>
                </a:solidFill>
                <a:latin typeface="Courier New" pitchFamily="34" charset="0"/>
                <a:ea typeface="Courier New" pitchFamily="34" charset="-122"/>
                <a:cs typeface="Courier New" pitchFamily="34" charset="-120"/>
              </a:rPr>
              <a:t># Python (usually pre-installed)</a:t>
            </a:r>
            <a:endParaRPr lang="en-US" sz="900" dirty="0"/>
          </a:p>
          <a:p>
            <a:pPr marL="0" indent="0">
              <a:buNone/>
            </a:pPr>
            <a:r>
              <a:rPr lang="en-US" sz="900" dirty="0">
                <a:solidFill>
                  <a:srgbClr val="E6EDF3"/>
                </a:solidFill>
                <a:latin typeface="Courier New" pitchFamily="34" charset="0"/>
                <a:ea typeface="Courier New" pitchFamily="34" charset="-122"/>
                <a:cs typeface="Courier New" pitchFamily="34" charset="-120"/>
              </a:rPr>
              <a:t>python3 --version</a:t>
            </a:r>
            <a:endParaRPr lang="en-US" sz="900" dirty="0"/>
          </a:p>
          <a:p>
            <a:pPr marL="0" indent="0">
              <a:buNone/>
            </a:pPr>
            <a:endParaRPr lang="en-US" sz="900" dirty="0"/>
          </a:p>
          <a:p>
            <a:pPr marL="0" indent="0">
              <a:buNone/>
            </a:pPr>
            <a:r>
              <a:rPr lang="en-US" sz="900" dirty="0">
                <a:solidFill>
                  <a:srgbClr val="E6EDF3"/>
                </a:solidFill>
                <a:latin typeface="Courier New" pitchFamily="34" charset="0"/>
                <a:ea typeface="Courier New" pitchFamily="34" charset="-122"/>
                <a:cs typeface="Courier New" pitchFamily="34" charset="-120"/>
              </a:rPr>
              <a:t># Install geoip2 package</a:t>
            </a:r>
            <a:endParaRPr lang="en-US" sz="900" dirty="0"/>
          </a:p>
          <a:p>
            <a:pPr marL="0" indent="0">
              <a:buNone/>
            </a:pPr>
            <a:r>
              <a:rPr lang="en-US" sz="900" dirty="0">
                <a:solidFill>
                  <a:srgbClr val="E6EDF3"/>
                </a:solidFill>
                <a:latin typeface="Courier New" pitchFamily="34" charset="0"/>
                <a:ea typeface="Courier New" pitchFamily="34" charset="-122"/>
                <a:cs typeface="Courier New" pitchFamily="34" charset="-120"/>
              </a:rPr>
              <a:t>pip3 install geoip2</a:t>
            </a:r>
            <a:endParaRPr lang="en-US" sz="900" dirty="0"/>
          </a:p>
          <a:p>
            <a:pPr marL="0" indent="0">
              <a:buNone/>
            </a:pPr>
            <a:endParaRPr lang="en-US" sz="900" dirty="0"/>
          </a:p>
          <a:p>
            <a:pPr marL="0" indent="0">
              <a:buNone/>
            </a:pPr>
            <a:r>
              <a:rPr lang="en-US" sz="900" dirty="0">
                <a:solidFill>
                  <a:srgbClr val="E6EDF3"/>
                </a:solidFill>
                <a:latin typeface="Courier New" pitchFamily="34" charset="0"/>
                <a:ea typeface="Courier New" pitchFamily="34" charset="-122"/>
                <a:cs typeface="Courier New" pitchFamily="34" charset="-120"/>
              </a:rPr>
              <a:t># Verify import</a:t>
            </a:r>
            <a:endParaRPr lang="en-US" sz="900" dirty="0"/>
          </a:p>
          <a:p>
            <a:pPr marL="0" indent="0">
              <a:buNone/>
            </a:pPr>
            <a:r>
              <a:rPr lang="en-US" sz="900" dirty="0">
                <a:solidFill>
                  <a:srgbClr val="E6EDF3"/>
                </a:solidFill>
                <a:latin typeface="Courier New" pitchFamily="34" charset="0"/>
                <a:ea typeface="Courier New" pitchFamily="34" charset="-122"/>
                <a:cs typeface="Courier New" pitchFamily="34" charset="-120"/>
              </a:rPr>
              <a:t>python3 -c \</a:t>
            </a:r>
            <a:endParaRPr lang="en-US" sz="900" dirty="0"/>
          </a:p>
          <a:p>
            <a:pPr marL="0" indent="0">
              <a:buNone/>
            </a:pPr>
            <a:r>
              <a:rPr lang="en-US" sz="900" dirty="0">
                <a:solidFill>
                  <a:srgbClr val="E6EDF3"/>
                </a:solidFill>
                <a:latin typeface="Courier New" pitchFamily="34" charset="0"/>
                <a:ea typeface="Courier New" pitchFamily="34" charset="-122"/>
                <a:cs typeface="Courier New" pitchFamily="34" charset="-120"/>
              </a:rPr>
              <a:t>  "import geoip2; print('OK')"</a:t>
            </a:r>
            <a:endParaRPr lang="en-US" sz="900" dirty="0"/>
          </a:p>
        </p:txBody>
      </p:sp>
      <p:sp>
        <p:nvSpPr>
          <p:cNvPr id="15" name="Shape 12"/>
          <p:cNvSpPr/>
          <p:nvPr/>
        </p:nvSpPr>
        <p:spPr>
          <a:xfrm>
            <a:off x="6172200" y="1097280"/>
            <a:ext cx="2788920" cy="3749040"/>
          </a:xfrm>
          <a:prstGeom prst="roundRect">
            <a:avLst>
              <a:gd name="adj" fmla="val 2623"/>
            </a:avLst>
          </a:prstGeom>
          <a:solidFill>
            <a:srgbClr val="1F2937"/>
          </a:solidFill>
          <a:ln w="19050">
            <a:solidFill>
              <a:srgbClr val="D29922"/>
            </a:solidFill>
            <a:prstDash val="solid"/>
          </a:ln>
        </p:spPr>
        <p:txBody>
          <a:bodyPr/>
          <a:lstStyle/>
          <a:p>
            <a:endParaRPr lang="en-US"/>
          </a:p>
        </p:txBody>
      </p:sp>
      <p:sp>
        <p:nvSpPr>
          <p:cNvPr id="16" name="Text 13"/>
          <p:cNvSpPr txBox="1"/>
          <p:nvPr/>
        </p:nvSpPr>
        <p:spPr>
          <a:xfrm>
            <a:off x="6309360" y="1207008"/>
            <a:ext cx="2560320" cy="292608"/>
          </a:xfrm>
          <a:prstGeom prst="rect">
            <a:avLst/>
          </a:prstGeom>
          <a:noFill/>
          <a:ln/>
        </p:spPr>
        <p:txBody>
          <a:bodyPr wrap="square" lIns="0" tIns="0" rIns="0" bIns="0" rtlCol="0" anchor="ctr"/>
          <a:lstStyle/>
          <a:p>
            <a:pPr marL="0" indent="0">
              <a:buNone/>
            </a:pPr>
            <a:r>
              <a:rPr lang="en-US" sz="1300" b="1" dirty="0">
                <a:solidFill>
                  <a:srgbClr val="D29922"/>
                </a:solidFill>
                <a:latin typeface="Calibri" pitchFamily="34" charset="0"/>
                <a:ea typeface="Calibri" pitchFamily="34" charset="-122"/>
                <a:cs typeface="Calibri" pitchFamily="34" charset="-120"/>
              </a:rPr>
              <a:t>GeoLite2 Databases</a:t>
            </a:r>
            <a:endParaRPr lang="en-US" sz="1300" dirty="0"/>
          </a:p>
        </p:txBody>
      </p:sp>
      <p:sp>
        <p:nvSpPr>
          <p:cNvPr id="17" name="Text 14"/>
          <p:cNvSpPr txBox="1"/>
          <p:nvPr/>
        </p:nvSpPr>
        <p:spPr>
          <a:xfrm>
            <a:off x="6309360" y="1517904"/>
            <a:ext cx="2560320" cy="237744"/>
          </a:xfrm>
          <a:prstGeom prst="rect">
            <a:avLst/>
          </a:prstGeom>
          <a:noFill/>
          <a:ln/>
        </p:spPr>
        <p:txBody>
          <a:bodyPr wrap="square" lIns="0" tIns="0" rIns="0" bIns="0" rtlCol="0" anchor="ctr"/>
          <a:lstStyle/>
          <a:p>
            <a:pPr marL="0" indent="0">
              <a:buNone/>
            </a:pPr>
            <a:r>
              <a:rPr lang="en-US" sz="1000" dirty="0">
                <a:solidFill>
                  <a:srgbClr val="8B949E"/>
                </a:solidFill>
                <a:latin typeface="Calibri" pitchFamily="34" charset="0"/>
                <a:ea typeface="Calibri" pitchFamily="34" charset="-122"/>
                <a:cs typeface="Calibri" pitchFamily="34" charset="-120"/>
              </a:rPr>
              <a:t>MaxMind · /opt/geoip/</a:t>
            </a:r>
            <a:endParaRPr lang="en-US" sz="1000" dirty="0"/>
          </a:p>
        </p:txBody>
      </p:sp>
      <p:sp>
        <p:nvSpPr>
          <p:cNvPr id="18" name="Text 15"/>
          <p:cNvSpPr txBox="1"/>
          <p:nvPr/>
        </p:nvSpPr>
        <p:spPr>
          <a:xfrm>
            <a:off x="6281928" y="1828800"/>
            <a:ext cx="2606040" cy="2743200"/>
          </a:xfrm>
          <a:prstGeom prst="rect">
            <a:avLst/>
          </a:prstGeom>
          <a:noFill/>
          <a:ln/>
        </p:spPr>
        <p:txBody>
          <a:bodyPr wrap="square" lIns="0" tIns="0" rIns="0" bIns="0" rtlCol="0" anchor="ctr"/>
          <a:lstStyle/>
          <a:p>
            <a:pPr marL="0" indent="0">
              <a:buNone/>
            </a:pPr>
            <a:r>
              <a:rPr lang="en-US" sz="900" dirty="0">
                <a:solidFill>
                  <a:srgbClr val="E6EDF3"/>
                </a:solidFill>
                <a:latin typeface="Courier New" pitchFamily="34" charset="0"/>
                <a:ea typeface="Courier New" pitchFamily="34" charset="-122"/>
                <a:cs typeface="Courier New" pitchFamily="34" charset="-120"/>
              </a:rPr>
              <a:t># Create directory</a:t>
            </a:r>
            <a:endParaRPr lang="en-US" sz="900" dirty="0"/>
          </a:p>
          <a:p>
            <a:pPr marL="0" indent="0">
              <a:buNone/>
            </a:pPr>
            <a:r>
              <a:rPr lang="en-US" sz="900" dirty="0">
                <a:solidFill>
                  <a:srgbClr val="E6EDF3"/>
                </a:solidFill>
                <a:latin typeface="Courier New" pitchFamily="34" charset="0"/>
                <a:ea typeface="Courier New" pitchFamily="34" charset="-122"/>
                <a:cs typeface="Courier New" pitchFamily="34" charset="-120"/>
              </a:rPr>
              <a:t>sudo mkdir -p /opt/geoip</a:t>
            </a:r>
            <a:endParaRPr lang="en-US" sz="900" dirty="0"/>
          </a:p>
          <a:p>
            <a:pPr marL="0" indent="0">
              <a:buNone/>
            </a:pPr>
            <a:endParaRPr lang="en-US" sz="900" dirty="0"/>
          </a:p>
          <a:p>
            <a:pPr marL="0" indent="0">
              <a:buNone/>
            </a:pPr>
            <a:r>
              <a:rPr lang="en-US" sz="900" dirty="0">
                <a:solidFill>
                  <a:srgbClr val="E6EDF3"/>
                </a:solidFill>
                <a:latin typeface="Courier New" pitchFamily="34" charset="0"/>
                <a:ea typeface="Courier New" pitchFamily="34" charset="-122"/>
                <a:cs typeface="Courier New" pitchFamily="34" charset="-120"/>
              </a:rPr>
              <a:t># Download from MaxMind</a:t>
            </a:r>
            <a:endParaRPr lang="en-US" sz="900" dirty="0"/>
          </a:p>
          <a:p>
            <a:pPr marL="0" indent="0">
              <a:buNone/>
            </a:pPr>
            <a:r>
              <a:rPr lang="en-US" sz="900" dirty="0">
                <a:solidFill>
                  <a:srgbClr val="E6EDF3"/>
                </a:solidFill>
                <a:latin typeface="Courier New" pitchFamily="34" charset="0"/>
                <a:ea typeface="Courier New" pitchFamily="34" charset="-122"/>
                <a:cs typeface="Courier New" pitchFamily="34" charset="-120"/>
              </a:rPr>
              <a:t># (free account required)</a:t>
            </a:r>
            <a:endParaRPr lang="en-US" sz="900" dirty="0"/>
          </a:p>
          <a:p>
            <a:pPr marL="0" indent="0">
              <a:buNone/>
            </a:pPr>
            <a:r>
              <a:rPr lang="en-US" sz="900" dirty="0">
                <a:solidFill>
                  <a:srgbClr val="E6EDF3"/>
                </a:solidFill>
                <a:latin typeface="Courier New" pitchFamily="34" charset="0"/>
                <a:ea typeface="Courier New" pitchFamily="34" charset="-122"/>
                <a:cs typeface="Courier New" pitchFamily="34" charset="-120"/>
              </a:rPr>
              <a:t># maxmind.com/en/geolite2/signup</a:t>
            </a:r>
            <a:endParaRPr lang="en-US" sz="900" dirty="0"/>
          </a:p>
          <a:p>
            <a:pPr marL="0" indent="0">
              <a:buNone/>
            </a:pPr>
            <a:endParaRPr lang="en-US" sz="900" dirty="0"/>
          </a:p>
          <a:p>
            <a:pPr marL="0" indent="0">
              <a:buNone/>
            </a:pPr>
            <a:r>
              <a:rPr lang="en-US" sz="900" dirty="0">
                <a:solidFill>
                  <a:srgbClr val="E6EDF3"/>
                </a:solidFill>
                <a:latin typeface="Courier New" pitchFamily="34" charset="0"/>
                <a:ea typeface="Courier New" pitchFamily="34" charset="-122"/>
                <a:cs typeface="Courier New" pitchFamily="34" charset="-120"/>
              </a:rPr>
              <a:t># Required files:</a:t>
            </a:r>
            <a:endParaRPr lang="en-US" sz="900" dirty="0"/>
          </a:p>
          <a:p>
            <a:pPr marL="0" indent="0">
              <a:buNone/>
            </a:pPr>
            <a:r>
              <a:rPr lang="en-US" sz="900" dirty="0">
                <a:solidFill>
                  <a:srgbClr val="E6EDF3"/>
                </a:solidFill>
                <a:latin typeface="Courier New" pitchFamily="34" charset="0"/>
                <a:ea typeface="Courier New" pitchFamily="34" charset="-122"/>
                <a:cs typeface="Courier New" pitchFamily="34" charset="-120"/>
              </a:rPr>
              <a:t>GeoLite2-ASN.mmdb</a:t>
            </a:r>
            <a:endParaRPr lang="en-US" sz="900" dirty="0"/>
          </a:p>
          <a:p>
            <a:pPr marL="0" indent="0">
              <a:buNone/>
            </a:pPr>
            <a:r>
              <a:rPr lang="en-US" sz="900" dirty="0">
                <a:solidFill>
                  <a:srgbClr val="E6EDF3"/>
                </a:solidFill>
                <a:latin typeface="Courier New" pitchFamily="34" charset="0"/>
                <a:ea typeface="Courier New" pitchFamily="34" charset="-122"/>
                <a:cs typeface="Courier New" pitchFamily="34" charset="-120"/>
              </a:rPr>
              <a:t>GeoLite2-City.mmdb</a:t>
            </a:r>
            <a:endParaRPr lang="en-US" sz="900" dirty="0"/>
          </a:p>
          <a:p>
            <a:pPr marL="0" indent="0">
              <a:buNone/>
            </a:pPr>
            <a:endParaRPr lang="en-US" sz="900" dirty="0"/>
          </a:p>
          <a:p>
            <a:pPr marL="0" indent="0">
              <a:buNone/>
            </a:pPr>
            <a:r>
              <a:rPr lang="en-US" sz="900" dirty="0">
                <a:solidFill>
                  <a:srgbClr val="E6EDF3"/>
                </a:solidFill>
                <a:latin typeface="Courier New" pitchFamily="34" charset="0"/>
                <a:ea typeface="Courier New" pitchFamily="34" charset="-122"/>
                <a:cs typeface="Courier New" pitchFamily="34" charset="-120"/>
              </a:rPr>
              <a:t># Place in /opt/geoip/</a:t>
            </a:r>
            <a:endParaRPr lang="en-US" sz="900" dirty="0"/>
          </a:p>
        </p:txBody>
      </p:sp>
      <p:sp>
        <p:nvSpPr>
          <p:cNvPr id="19" name="Shape 16"/>
          <p:cNvSpPr/>
          <p:nvPr/>
        </p:nvSpPr>
        <p:spPr>
          <a:xfrm>
            <a:off x="0" y="5106924"/>
            <a:ext cx="9144000" cy="36576"/>
          </a:xfrm>
          <a:prstGeom prst="rect">
            <a:avLst/>
          </a:prstGeom>
          <a:solidFill>
            <a:srgbClr val="D29922"/>
          </a:solidFill>
          <a:ln/>
        </p:spPr>
        <p:txBody>
          <a:bodyPr/>
          <a:lstStyle/>
          <a:p>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Shape 0"/>
          <p:cNvSpPr/>
          <p:nvPr/>
        </p:nvSpPr>
        <p:spPr>
          <a:xfrm>
            <a:off x="0" y="0"/>
            <a:ext cx="9144000" cy="5143500"/>
          </a:xfrm>
          <a:prstGeom prst="rect">
            <a:avLst/>
          </a:prstGeom>
          <a:solidFill>
            <a:srgbClr val="161B22"/>
          </a:solidFill>
          <a:ln/>
        </p:spPr>
        <p:txBody>
          <a:bodyPr/>
          <a:lstStyle/>
          <a:p>
            <a:endParaRPr lang="en-US"/>
          </a:p>
        </p:txBody>
      </p:sp>
      <p:sp>
        <p:nvSpPr>
          <p:cNvPr id="4" name="Shape 1"/>
          <p:cNvSpPr/>
          <p:nvPr/>
        </p:nvSpPr>
        <p:spPr>
          <a:xfrm>
            <a:off x="0" y="0"/>
            <a:ext cx="9144000" cy="36576"/>
          </a:xfrm>
          <a:prstGeom prst="rect">
            <a:avLst/>
          </a:prstGeom>
          <a:solidFill>
            <a:srgbClr val="58A6FF"/>
          </a:solidFill>
          <a:ln/>
        </p:spPr>
        <p:txBody>
          <a:bodyPr/>
          <a:lstStyle/>
          <a:p>
            <a:endParaRPr lang="en-US"/>
          </a:p>
        </p:txBody>
      </p:sp>
      <p:sp>
        <p:nvSpPr>
          <p:cNvPr id="5" name="Text 2"/>
          <p:cNvSpPr txBox="1"/>
          <p:nvPr/>
        </p:nvSpPr>
        <p:spPr>
          <a:xfrm>
            <a:off x="548640" y="1645920"/>
            <a:ext cx="8046720" cy="274320"/>
          </a:xfrm>
          <a:prstGeom prst="rect">
            <a:avLst/>
          </a:prstGeom>
          <a:noFill/>
          <a:ln/>
        </p:spPr>
        <p:txBody>
          <a:bodyPr wrap="square" lIns="0" tIns="0" rIns="0" bIns="0" rtlCol="0" anchor="ctr"/>
          <a:lstStyle/>
          <a:p>
            <a:pPr marL="0" indent="0">
              <a:buNone/>
            </a:pPr>
            <a:r>
              <a:rPr lang="en-US" sz="1300" b="1" kern="0" spc="400" dirty="0">
                <a:solidFill>
                  <a:srgbClr val="58A6FF"/>
                </a:solidFill>
                <a:latin typeface="Calibri" pitchFamily="34" charset="0"/>
                <a:ea typeface="Calibri" pitchFamily="34" charset="-122"/>
                <a:cs typeface="Calibri" pitchFamily="34" charset="-120"/>
              </a:rPr>
              <a:t>PART 03</a:t>
            </a:r>
            <a:endParaRPr lang="en-US" sz="1300" dirty="0"/>
          </a:p>
        </p:txBody>
      </p:sp>
      <p:sp>
        <p:nvSpPr>
          <p:cNvPr id="6" name="Text 3"/>
          <p:cNvSpPr txBox="1"/>
          <p:nvPr/>
        </p:nvSpPr>
        <p:spPr>
          <a:xfrm>
            <a:off x="548640" y="2011680"/>
            <a:ext cx="8046720" cy="731520"/>
          </a:xfrm>
          <a:prstGeom prst="rect">
            <a:avLst/>
          </a:prstGeom>
          <a:noFill/>
          <a:ln/>
        </p:spPr>
        <p:txBody>
          <a:bodyPr wrap="square" lIns="0" tIns="0" rIns="0" bIns="0" rtlCol="0" anchor="ctr"/>
          <a:lstStyle/>
          <a:p>
            <a:pPr marL="0" indent="0">
              <a:buNone/>
            </a:pPr>
            <a:r>
              <a:rPr lang="en-US" sz="4000" b="1" dirty="0">
                <a:solidFill>
                  <a:srgbClr val="E6EDF3"/>
                </a:solidFill>
                <a:latin typeface="Calibri" pitchFamily="34" charset="0"/>
                <a:ea typeface="Calibri" pitchFamily="34" charset="-122"/>
                <a:cs typeface="Calibri" pitchFamily="34" charset="-120"/>
              </a:rPr>
              <a:t>Verify &amp; Run</a:t>
            </a:r>
            <a:endParaRPr lang="en-US" sz="4000" dirty="0"/>
          </a:p>
        </p:txBody>
      </p:sp>
      <p:sp>
        <p:nvSpPr>
          <p:cNvPr id="7" name="Text 4"/>
          <p:cNvSpPr txBox="1"/>
          <p:nvPr/>
        </p:nvSpPr>
        <p:spPr>
          <a:xfrm>
            <a:off x="548640" y="2834640"/>
            <a:ext cx="8046720" cy="365760"/>
          </a:xfrm>
          <a:prstGeom prst="rect">
            <a:avLst/>
          </a:prstGeom>
          <a:noFill/>
          <a:ln/>
        </p:spPr>
        <p:txBody>
          <a:bodyPr wrap="square" lIns="0" tIns="0" rIns="0" bIns="0" rtlCol="0" anchor="ctr"/>
          <a:lstStyle/>
          <a:p>
            <a:pPr marL="0" indent="0">
              <a:buNone/>
            </a:pPr>
            <a:r>
              <a:rPr lang="en-US" sz="1500" dirty="0">
                <a:solidFill>
                  <a:srgbClr val="8B949E"/>
                </a:solidFill>
                <a:latin typeface="Calibri" pitchFamily="34" charset="0"/>
                <a:ea typeface="Calibri" pitchFamily="34" charset="-122"/>
                <a:cs typeface="Calibri" pitchFamily="34" charset="-120"/>
              </a:rPr>
              <a:t>Confirm each tool runs, place a PCAP, and trigger the full pipeline</a:t>
            </a:r>
            <a:endParaRPr lang="en-US" sz="1500" dirty="0"/>
          </a:p>
        </p:txBody>
      </p:sp>
      <p:sp>
        <p:nvSpPr>
          <p:cNvPr id="8" name="Shape 5"/>
          <p:cNvSpPr/>
          <p:nvPr/>
        </p:nvSpPr>
        <p:spPr>
          <a:xfrm>
            <a:off x="0" y="5106924"/>
            <a:ext cx="9144000" cy="36576"/>
          </a:xfrm>
          <a:prstGeom prst="rect">
            <a:avLst/>
          </a:prstGeom>
          <a:solidFill>
            <a:srgbClr val="58A6FF"/>
          </a:solidFill>
          <a:ln/>
        </p:spPr>
        <p:txBody>
          <a:bodyPr/>
          <a:lstStyle/>
          <a:p>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Shape 0"/>
          <p:cNvSpPr/>
          <p:nvPr/>
        </p:nvSpPr>
        <p:spPr>
          <a:xfrm>
            <a:off x="0" y="0"/>
            <a:ext cx="9144000" cy="5143500"/>
          </a:xfrm>
          <a:prstGeom prst="rect">
            <a:avLst/>
          </a:prstGeom>
          <a:solidFill>
            <a:srgbClr val="0D1117"/>
          </a:solidFill>
          <a:ln/>
        </p:spPr>
        <p:txBody>
          <a:bodyPr/>
          <a:lstStyle/>
          <a:p>
            <a:endParaRPr lang="en-US"/>
          </a:p>
        </p:txBody>
      </p:sp>
      <p:sp>
        <p:nvSpPr>
          <p:cNvPr id="4" name="Shape 1"/>
          <p:cNvSpPr/>
          <p:nvPr/>
        </p:nvSpPr>
        <p:spPr>
          <a:xfrm>
            <a:off x="0" y="0"/>
            <a:ext cx="9144000" cy="36576"/>
          </a:xfrm>
          <a:prstGeom prst="rect">
            <a:avLst/>
          </a:prstGeom>
          <a:solidFill>
            <a:srgbClr val="58A6FF"/>
          </a:solidFill>
          <a:ln/>
        </p:spPr>
        <p:txBody>
          <a:bodyPr/>
          <a:lstStyle/>
          <a:p>
            <a:endParaRPr lang="en-US"/>
          </a:p>
        </p:txBody>
      </p:sp>
      <p:sp>
        <p:nvSpPr>
          <p:cNvPr id="5" name="Text 2"/>
          <p:cNvSpPr txBox="1"/>
          <p:nvPr/>
        </p:nvSpPr>
        <p:spPr>
          <a:xfrm>
            <a:off x="457200" y="201168"/>
            <a:ext cx="8229600" cy="237744"/>
          </a:xfrm>
          <a:prstGeom prst="rect">
            <a:avLst/>
          </a:prstGeom>
          <a:noFill/>
          <a:ln/>
        </p:spPr>
        <p:txBody>
          <a:bodyPr wrap="square" lIns="0" tIns="0" rIns="0" bIns="0" rtlCol="0" anchor="ctr"/>
          <a:lstStyle/>
          <a:p>
            <a:pPr marL="0" indent="0">
              <a:buNone/>
            </a:pPr>
            <a:r>
              <a:rPr lang="en-US" sz="1000" b="1" kern="0" spc="300" dirty="0">
                <a:solidFill>
                  <a:srgbClr val="58A6FF"/>
                </a:solidFill>
                <a:latin typeface="Calibri" pitchFamily="34" charset="0"/>
                <a:ea typeface="Calibri" pitchFamily="34" charset="-122"/>
                <a:cs typeface="Calibri" pitchFamily="34" charset="-120"/>
              </a:rPr>
              <a:t>VERIFY &amp; RUN</a:t>
            </a:r>
            <a:endParaRPr lang="en-US" sz="1000" dirty="0"/>
          </a:p>
        </p:txBody>
      </p:sp>
      <p:sp>
        <p:nvSpPr>
          <p:cNvPr id="6" name="Text 3"/>
          <p:cNvSpPr txBox="1"/>
          <p:nvPr/>
        </p:nvSpPr>
        <p:spPr>
          <a:xfrm>
            <a:off x="457200" y="502920"/>
            <a:ext cx="8229600" cy="457200"/>
          </a:xfrm>
          <a:prstGeom prst="rect">
            <a:avLst/>
          </a:prstGeom>
          <a:noFill/>
          <a:ln/>
        </p:spPr>
        <p:txBody>
          <a:bodyPr wrap="square" lIns="0" tIns="0" rIns="0" bIns="0" rtlCol="0" anchor="ctr"/>
          <a:lstStyle/>
          <a:p>
            <a:pPr marL="0" indent="0">
              <a:buNone/>
            </a:pPr>
            <a:r>
              <a:rPr lang="en-US" sz="2600" b="1" dirty="0">
                <a:solidFill>
                  <a:srgbClr val="E6EDF3"/>
                </a:solidFill>
                <a:latin typeface="Calibri" pitchFamily="34" charset="0"/>
                <a:ea typeface="Calibri" pitchFamily="34" charset="-122"/>
                <a:cs typeface="Calibri" pitchFamily="34" charset="-120"/>
              </a:rPr>
              <a:t>Pre-flight Checks</a:t>
            </a:r>
            <a:endParaRPr lang="en-US" sz="2600" dirty="0"/>
          </a:p>
        </p:txBody>
      </p:sp>
      <p:sp>
        <p:nvSpPr>
          <p:cNvPr id="7" name="Shape 4"/>
          <p:cNvSpPr/>
          <p:nvPr/>
        </p:nvSpPr>
        <p:spPr>
          <a:xfrm>
            <a:off x="365760" y="1097280"/>
            <a:ext cx="8412480" cy="548640"/>
          </a:xfrm>
          <a:prstGeom prst="roundRect">
            <a:avLst>
              <a:gd name="adj" fmla="val 8333"/>
            </a:avLst>
          </a:prstGeom>
          <a:solidFill>
            <a:srgbClr val="1F2937"/>
          </a:solidFill>
          <a:ln w="12700">
            <a:solidFill>
              <a:srgbClr val="D29922"/>
            </a:solidFill>
            <a:prstDash val="solid"/>
          </a:ln>
        </p:spPr>
        <p:txBody>
          <a:bodyPr/>
          <a:lstStyle/>
          <a:p>
            <a:endParaRPr lang="en-US"/>
          </a:p>
        </p:txBody>
      </p:sp>
      <p:sp>
        <p:nvSpPr>
          <p:cNvPr id="8" name="Shape 5"/>
          <p:cNvSpPr/>
          <p:nvPr/>
        </p:nvSpPr>
        <p:spPr>
          <a:xfrm>
            <a:off x="457200" y="1207008"/>
            <a:ext cx="1234440" cy="274320"/>
          </a:xfrm>
          <a:prstGeom prst="roundRect">
            <a:avLst>
              <a:gd name="adj" fmla="val 13333"/>
            </a:avLst>
          </a:prstGeom>
          <a:solidFill>
            <a:srgbClr val="161B22"/>
          </a:solidFill>
          <a:ln w="9525">
            <a:solidFill>
              <a:srgbClr val="D29922"/>
            </a:solidFill>
            <a:prstDash val="solid"/>
          </a:ln>
        </p:spPr>
        <p:txBody>
          <a:bodyPr/>
          <a:lstStyle/>
          <a:p>
            <a:endParaRPr lang="en-US"/>
          </a:p>
        </p:txBody>
      </p:sp>
      <p:sp>
        <p:nvSpPr>
          <p:cNvPr id="9" name="Text 6"/>
          <p:cNvSpPr txBox="1"/>
          <p:nvPr/>
        </p:nvSpPr>
        <p:spPr>
          <a:xfrm>
            <a:off x="457200" y="1207008"/>
            <a:ext cx="1234440" cy="274320"/>
          </a:xfrm>
          <a:prstGeom prst="rect">
            <a:avLst/>
          </a:prstGeom>
          <a:noFill/>
          <a:ln/>
        </p:spPr>
        <p:txBody>
          <a:bodyPr wrap="square" lIns="0" tIns="0" rIns="0" bIns="0" rtlCol="0" anchor="ctr"/>
          <a:lstStyle/>
          <a:p>
            <a:pPr marL="0" indent="0" algn="ctr">
              <a:buNone/>
            </a:pPr>
            <a:r>
              <a:rPr lang="en-US" sz="1000" b="1" dirty="0">
                <a:solidFill>
                  <a:srgbClr val="D29922"/>
                </a:solidFill>
                <a:latin typeface="Calibri" pitchFamily="34" charset="0"/>
                <a:ea typeface="Calibri" pitchFamily="34" charset="-122"/>
                <a:cs typeface="Calibri" pitchFamily="34" charset="-120"/>
              </a:rPr>
              <a:t>Suricata</a:t>
            </a:r>
            <a:endParaRPr lang="en-US" sz="1000" dirty="0"/>
          </a:p>
        </p:txBody>
      </p:sp>
      <p:sp>
        <p:nvSpPr>
          <p:cNvPr id="10" name="Text 7"/>
          <p:cNvSpPr txBox="1"/>
          <p:nvPr/>
        </p:nvSpPr>
        <p:spPr>
          <a:xfrm>
            <a:off x="1783080" y="1188720"/>
            <a:ext cx="3840480" cy="274320"/>
          </a:xfrm>
          <a:prstGeom prst="rect">
            <a:avLst/>
          </a:prstGeom>
          <a:noFill/>
          <a:ln/>
        </p:spPr>
        <p:txBody>
          <a:bodyPr wrap="square" lIns="0" tIns="0" rIns="0" bIns="0" rtlCol="0" anchor="ctr"/>
          <a:lstStyle/>
          <a:p>
            <a:pPr marL="0" indent="0">
              <a:buNone/>
            </a:pPr>
            <a:r>
              <a:rPr lang="en-US" sz="950" dirty="0">
                <a:solidFill>
                  <a:srgbClr val="E6EDF3"/>
                </a:solidFill>
                <a:latin typeface="Courier New" pitchFamily="34" charset="0"/>
                <a:ea typeface="Courier New" pitchFamily="34" charset="-122"/>
                <a:cs typeface="Courier New" pitchFamily="34" charset="-120"/>
              </a:rPr>
              <a:t>suricata -V</a:t>
            </a:r>
            <a:endParaRPr lang="en-US" sz="950" dirty="0"/>
          </a:p>
        </p:txBody>
      </p:sp>
      <p:sp>
        <p:nvSpPr>
          <p:cNvPr id="11" name="Text 8"/>
          <p:cNvSpPr txBox="1"/>
          <p:nvPr/>
        </p:nvSpPr>
        <p:spPr>
          <a:xfrm>
            <a:off x="5669280" y="1188720"/>
            <a:ext cx="2926080" cy="274320"/>
          </a:xfrm>
          <a:prstGeom prst="rect">
            <a:avLst/>
          </a:prstGeom>
          <a:noFill/>
          <a:ln/>
        </p:spPr>
        <p:txBody>
          <a:bodyPr wrap="square" lIns="0" tIns="0" rIns="0" bIns="0" rtlCol="0" anchor="ctr"/>
          <a:lstStyle/>
          <a:p>
            <a:pPr marL="0" indent="0">
              <a:buNone/>
            </a:pPr>
            <a:r>
              <a:rPr lang="en-US" sz="950" dirty="0">
                <a:solidFill>
                  <a:srgbClr val="3FB950"/>
                </a:solidFill>
                <a:latin typeface="Courier New" pitchFamily="34" charset="0"/>
                <a:ea typeface="Courier New" pitchFamily="34" charset="-122"/>
                <a:cs typeface="Courier New" pitchFamily="34" charset="-120"/>
              </a:rPr>
              <a:t>→ Suricata version 8.x …</a:t>
            </a:r>
            <a:endParaRPr lang="en-US" sz="950" dirty="0"/>
          </a:p>
        </p:txBody>
      </p:sp>
      <p:sp>
        <p:nvSpPr>
          <p:cNvPr id="12" name="Shape 9"/>
          <p:cNvSpPr/>
          <p:nvPr/>
        </p:nvSpPr>
        <p:spPr>
          <a:xfrm>
            <a:off x="365760" y="1728216"/>
            <a:ext cx="8412480" cy="548640"/>
          </a:xfrm>
          <a:prstGeom prst="roundRect">
            <a:avLst>
              <a:gd name="adj" fmla="val 8333"/>
            </a:avLst>
          </a:prstGeom>
          <a:solidFill>
            <a:srgbClr val="1F2937"/>
          </a:solidFill>
          <a:ln w="12700">
            <a:solidFill>
              <a:srgbClr val="3FB950"/>
            </a:solidFill>
            <a:prstDash val="solid"/>
          </a:ln>
        </p:spPr>
        <p:txBody>
          <a:bodyPr/>
          <a:lstStyle/>
          <a:p>
            <a:endParaRPr lang="en-US"/>
          </a:p>
        </p:txBody>
      </p:sp>
      <p:sp>
        <p:nvSpPr>
          <p:cNvPr id="13" name="Shape 10"/>
          <p:cNvSpPr/>
          <p:nvPr/>
        </p:nvSpPr>
        <p:spPr>
          <a:xfrm>
            <a:off x="457200" y="1837944"/>
            <a:ext cx="1234440" cy="274320"/>
          </a:xfrm>
          <a:prstGeom prst="roundRect">
            <a:avLst>
              <a:gd name="adj" fmla="val 13333"/>
            </a:avLst>
          </a:prstGeom>
          <a:solidFill>
            <a:srgbClr val="161B22"/>
          </a:solidFill>
          <a:ln w="9525">
            <a:solidFill>
              <a:srgbClr val="3FB950"/>
            </a:solidFill>
            <a:prstDash val="solid"/>
          </a:ln>
        </p:spPr>
        <p:txBody>
          <a:bodyPr/>
          <a:lstStyle/>
          <a:p>
            <a:endParaRPr lang="en-US"/>
          </a:p>
        </p:txBody>
      </p:sp>
      <p:sp>
        <p:nvSpPr>
          <p:cNvPr id="14" name="Text 11"/>
          <p:cNvSpPr txBox="1"/>
          <p:nvPr/>
        </p:nvSpPr>
        <p:spPr>
          <a:xfrm>
            <a:off x="457200" y="1837944"/>
            <a:ext cx="1234440" cy="274320"/>
          </a:xfrm>
          <a:prstGeom prst="rect">
            <a:avLst/>
          </a:prstGeom>
          <a:noFill/>
          <a:ln/>
        </p:spPr>
        <p:txBody>
          <a:bodyPr wrap="square" lIns="0" tIns="0" rIns="0" bIns="0" rtlCol="0" anchor="ctr"/>
          <a:lstStyle/>
          <a:p>
            <a:pPr marL="0" indent="0" algn="ctr">
              <a:buNone/>
            </a:pPr>
            <a:r>
              <a:rPr lang="en-US" sz="1000" b="1" dirty="0">
                <a:solidFill>
                  <a:srgbClr val="3FB950"/>
                </a:solidFill>
                <a:latin typeface="Calibri" pitchFamily="34" charset="0"/>
                <a:ea typeface="Calibri" pitchFamily="34" charset="-122"/>
                <a:cs typeface="Calibri" pitchFamily="34" charset="-120"/>
              </a:rPr>
              <a:t>Zeek</a:t>
            </a:r>
            <a:endParaRPr lang="en-US" sz="1000" dirty="0"/>
          </a:p>
        </p:txBody>
      </p:sp>
      <p:sp>
        <p:nvSpPr>
          <p:cNvPr id="15" name="Text 12"/>
          <p:cNvSpPr txBox="1"/>
          <p:nvPr/>
        </p:nvSpPr>
        <p:spPr>
          <a:xfrm>
            <a:off x="1783080" y="1819656"/>
            <a:ext cx="3840480" cy="274320"/>
          </a:xfrm>
          <a:prstGeom prst="rect">
            <a:avLst/>
          </a:prstGeom>
          <a:noFill/>
          <a:ln/>
        </p:spPr>
        <p:txBody>
          <a:bodyPr wrap="square" lIns="0" tIns="0" rIns="0" bIns="0" rtlCol="0" anchor="ctr"/>
          <a:lstStyle/>
          <a:p>
            <a:pPr marL="0" indent="0">
              <a:buNone/>
            </a:pPr>
            <a:r>
              <a:rPr lang="en-US" sz="950" dirty="0">
                <a:solidFill>
                  <a:srgbClr val="E6EDF3"/>
                </a:solidFill>
                <a:latin typeface="Courier New" pitchFamily="34" charset="0"/>
                <a:ea typeface="Courier New" pitchFamily="34" charset="-122"/>
                <a:cs typeface="Courier New" pitchFamily="34" charset="-120"/>
              </a:rPr>
              <a:t>zeek --version</a:t>
            </a:r>
            <a:endParaRPr lang="en-US" sz="950" dirty="0"/>
          </a:p>
        </p:txBody>
      </p:sp>
      <p:sp>
        <p:nvSpPr>
          <p:cNvPr id="16" name="Text 13"/>
          <p:cNvSpPr txBox="1"/>
          <p:nvPr/>
        </p:nvSpPr>
        <p:spPr>
          <a:xfrm>
            <a:off x="5669280" y="1819656"/>
            <a:ext cx="2926080" cy="274320"/>
          </a:xfrm>
          <a:prstGeom prst="rect">
            <a:avLst/>
          </a:prstGeom>
          <a:noFill/>
          <a:ln/>
        </p:spPr>
        <p:txBody>
          <a:bodyPr wrap="square" lIns="0" tIns="0" rIns="0" bIns="0" rtlCol="0" anchor="ctr"/>
          <a:lstStyle/>
          <a:p>
            <a:pPr marL="0" indent="0">
              <a:buNone/>
            </a:pPr>
            <a:r>
              <a:rPr lang="en-US" sz="950" dirty="0">
                <a:solidFill>
                  <a:srgbClr val="3FB950"/>
                </a:solidFill>
                <a:latin typeface="Courier New" pitchFamily="34" charset="0"/>
                <a:ea typeface="Courier New" pitchFamily="34" charset="-122"/>
                <a:cs typeface="Courier New" pitchFamily="34" charset="-120"/>
              </a:rPr>
              <a:t>→ Zeek version 9.x …</a:t>
            </a:r>
            <a:endParaRPr lang="en-US" sz="950" dirty="0"/>
          </a:p>
        </p:txBody>
      </p:sp>
      <p:sp>
        <p:nvSpPr>
          <p:cNvPr id="17" name="Shape 14"/>
          <p:cNvSpPr/>
          <p:nvPr/>
        </p:nvSpPr>
        <p:spPr>
          <a:xfrm>
            <a:off x="365760" y="2359152"/>
            <a:ext cx="8412480" cy="548640"/>
          </a:xfrm>
          <a:prstGeom prst="roundRect">
            <a:avLst>
              <a:gd name="adj" fmla="val 8333"/>
            </a:avLst>
          </a:prstGeom>
          <a:solidFill>
            <a:srgbClr val="1F2937"/>
          </a:solidFill>
          <a:ln w="12700">
            <a:solidFill>
              <a:srgbClr val="58A6FF"/>
            </a:solidFill>
            <a:prstDash val="solid"/>
          </a:ln>
        </p:spPr>
        <p:txBody>
          <a:bodyPr/>
          <a:lstStyle/>
          <a:p>
            <a:endParaRPr lang="en-US"/>
          </a:p>
        </p:txBody>
      </p:sp>
      <p:sp>
        <p:nvSpPr>
          <p:cNvPr id="18" name="Shape 15"/>
          <p:cNvSpPr/>
          <p:nvPr/>
        </p:nvSpPr>
        <p:spPr>
          <a:xfrm>
            <a:off x="457200" y="2468880"/>
            <a:ext cx="1234440" cy="274320"/>
          </a:xfrm>
          <a:prstGeom prst="roundRect">
            <a:avLst>
              <a:gd name="adj" fmla="val 13333"/>
            </a:avLst>
          </a:prstGeom>
          <a:solidFill>
            <a:srgbClr val="161B22"/>
          </a:solidFill>
          <a:ln w="9525">
            <a:solidFill>
              <a:srgbClr val="58A6FF"/>
            </a:solidFill>
            <a:prstDash val="solid"/>
          </a:ln>
        </p:spPr>
        <p:txBody>
          <a:bodyPr/>
          <a:lstStyle/>
          <a:p>
            <a:endParaRPr lang="en-US"/>
          </a:p>
        </p:txBody>
      </p:sp>
      <p:sp>
        <p:nvSpPr>
          <p:cNvPr id="19" name="Text 16"/>
          <p:cNvSpPr txBox="1"/>
          <p:nvPr/>
        </p:nvSpPr>
        <p:spPr>
          <a:xfrm>
            <a:off x="457200" y="2468880"/>
            <a:ext cx="1234440" cy="274320"/>
          </a:xfrm>
          <a:prstGeom prst="rect">
            <a:avLst/>
          </a:prstGeom>
          <a:noFill/>
          <a:ln/>
        </p:spPr>
        <p:txBody>
          <a:bodyPr wrap="square" lIns="0" tIns="0" rIns="0" bIns="0" rtlCol="0" anchor="ctr"/>
          <a:lstStyle/>
          <a:p>
            <a:pPr marL="0" indent="0" algn="ctr">
              <a:buNone/>
            </a:pPr>
            <a:r>
              <a:rPr lang="en-US" sz="1000" b="1" dirty="0">
                <a:solidFill>
                  <a:srgbClr val="58A6FF"/>
                </a:solidFill>
                <a:latin typeface="Calibri" pitchFamily="34" charset="0"/>
                <a:ea typeface="Calibri" pitchFamily="34" charset="-122"/>
                <a:cs typeface="Calibri" pitchFamily="34" charset="-120"/>
              </a:rPr>
              <a:t>Ansible</a:t>
            </a:r>
            <a:endParaRPr lang="en-US" sz="1000" dirty="0"/>
          </a:p>
        </p:txBody>
      </p:sp>
      <p:sp>
        <p:nvSpPr>
          <p:cNvPr id="20" name="Text 17"/>
          <p:cNvSpPr txBox="1"/>
          <p:nvPr/>
        </p:nvSpPr>
        <p:spPr>
          <a:xfrm>
            <a:off x="1783080" y="2450592"/>
            <a:ext cx="3840480" cy="274320"/>
          </a:xfrm>
          <a:prstGeom prst="rect">
            <a:avLst/>
          </a:prstGeom>
          <a:noFill/>
          <a:ln/>
        </p:spPr>
        <p:txBody>
          <a:bodyPr wrap="square" lIns="0" tIns="0" rIns="0" bIns="0" rtlCol="0" anchor="ctr"/>
          <a:lstStyle/>
          <a:p>
            <a:pPr marL="0" indent="0">
              <a:buNone/>
            </a:pPr>
            <a:r>
              <a:rPr lang="en-US" sz="950" dirty="0">
                <a:solidFill>
                  <a:srgbClr val="E6EDF3"/>
                </a:solidFill>
                <a:latin typeface="Courier New" pitchFamily="34" charset="0"/>
                <a:ea typeface="Courier New" pitchFamily="34" charset="-122"/>
                <a:cs typeface="Courier New" pitchFamily="34" charset="-120"/>
              </a:rPr>
              <a:t>ansible --version</a:t>
            </a:r>
            <a:endParaRPr lang="en-US" sz="950" dirty="0"/>
          </a:p>
        </p:txBody>
      </p:sp>
      <p:sp>
        <p:nvSpPr>
          <p:cNvPr id="21" name="Text 18"/>
          <p:cNvSpPr txBox="1"/>
          <p:nvPr/>
        </p:nvSpPr>
        <p:spPr>
          <a:xfrm>
            <a:off x="5669280" y="2450592"/>
            <a:ext cx="2926080" cy="274320"/>
          </a:xfrm>
          <a:prstGeom prst="rect">
            <a:avLst/>
          </a:prstGeom>
          <a:noFill/>
          <a:ln/>
        </p:spPr>
        <p:txBody>
          <a:bodyPr wrap="square" lIns="0" tIns="0" rIns="0" bIns="0" rtlCol="0" anchor="ctr"/>
          <a:lstStyle/>
          <a:p>
            <a:pPr marL="0" indent="0">
              <a:buNone/>
            </a:pPr>
            <a:r>
              <a:rPr lang="en-US" sz="950" dirty="0">
                <a:solidFill>
                  <a:srgbClr val="3FB950"/>
                </a:solidFill>
                <a:latin typeface="Courier New" pitchFamily="34" charset="0"/>
                <a:ea typeface="Courier New" pitchFamily="34" charset="-122"/>
                <a:cs typeface="Courier New" pitchFamily="34" charset="-120"/>
              </a:rPr>
              <a:t>→ ansible [core 2.17.x]</a:t>
            </a:r>
            <a:endParaRPr lang="en-US" sz="950" dirty="0"/>
          </a:p>
        </p:txBody>
      </p:sp>
      <p:sp>
        <p:nvSpPr>
          <p:cNvPr id="22" name="Shape 19"/>
          <p:cNvSpPr/>
          <p:nvPr/>
        </p:nvSpPr>
        <p:spPr>
          <a:xfrm>
            <a:off x="365760" y="2990088"/>
            <a:ext cx="8412480" cy="548640"/>
          </a:xfrm>
          <a:prstGeom prst="roundRect">
            <a:avLst>
              <a:gd name="adj" fmla="val 8333"/>
            </a:avLst>
          </a:prstGeom>
          <a:solidFill>
            <a:srgbClr val="1F2937"/>
          </a:solidFill>
          <a:ln w="12700">
            <a:solidFill>
              <a:srgbClr val="58A6FF"/>
            </a:solidFill>
            <a:prstDash val="solid"/>
          </a:ln>
        </p:spPr>
        <p:txBody>
          <a:bodyPr/>
          <a:lstStyle/>
          <a:p>
            <a:endParaRPr lang="en-US"/>
          </a:p>
        </p:txBody>
      </p:sp>
      <p:sp>
        <p:nvSpPr>
          <p:cNvPr id="23" name="Shape 20"/>
          <p:cNvSpPr/>
          <p:nvPr/>
        </p:nvSpPr>
        <p:spPr>
          <a:xfrm>
            <a:off x="457200" y="3099816"/>
            <a:ext cx="1234440" cy="274320"/>
          </a:xfrm>
          <a:prstGeom prst="roundRect">
            <a:avLst>
              <a:gd name="adj" fmla="val 13333"/>
            </a:avLst>
          </a:prstGeom>
          <a:solidFill>
            <a:srgbClr val="161B22"/>
          </a:solidFill>
          <a:ln w="9525">
            <a:solidFill>
              <a:srgbClr val="58A6FF"/>
            </a:solidFill>
            <a:prstDash val="solid"/>
          </a:ln>
        </p:spPr>
        <p:txBody>
          <a:bodyPr/>
          <a:lstStyle/>
          <a:p>
            <a:endParaRPr lang="en-US"/>
          </a:p>
        </p:txBody>
      </p:sp>
      <p:sp>
        <p:nvSpPr>
          <p:cNvPr id="24" name="Text 21"/>
          <p:cNvSpPr txBox="1"/>
          <p:nvPr/>
        </p:nvSpPr>
        <p:spPr>
          <a:xfrm>
            <a:off x="457200" y="3099816"/>
            <a:ext cx="1234440" cy="274320"/>
          </a:xfrm>
          <a:prstGeom prst="rect">
            <a:avLst/>
          </a:prstGeom>
          <a:noFill/>
          <a:ln/>
        </p:spPr>
        <p:txBody>
          <a:bodyPr wrap="square" lIns="0" tIns="0" rIns="0" bIns="0" rtlCol="0" anchor="ctr"/>
          <a:lstStyle/>
          <a:p>
            <a:pPr marL="0" indent="0" algn="ctr">
              <a:buNone/>
            </a:pPr>
            <a:r>
              <a:rPr lang="en-US" sz="1000" b="1" dirty="0">
                <a:solidFill>
                  <a:srgbClr val="58A6FF"/>
                </a:solidFill>
                <a:latin typeface="Calibri" pitchFamily="34" charset="0"/>
                <a:ea typeface="Calibri" pitchFamily="34" charset="-122"/>
                <a:cs typeface="Calibri" pitchFamily="34" charset="-120"/>
              </a:rPr>
              <a:t>Python geoip2</a:t>
            </a:r>
            <a:endParaRPr lang="en-US" sz="1000" dirty="0"/>
          </a:p>
        </p:txBody>
      </p:sp>
      <p:sp>
        <p:nvSpPr>
          <p:cNvPr id="25" name="Text 22"/>
          <p:cNvSpPr txBox="1"/>
          <p:nvPr/>
        </p:nvSpPr>
        <p:spPr>
          <a:xfrm>
            <a:off x="1783080" y="3081528"/>
            <a:ext cx="3840480" cy="274320"/>
          </a:xfrm>
          <a:prstGeom prst="rect">
            <a:avLst/>
          </a:prstGeom>
          <a:noFill/>
          <a:ln/>
        </p:spPr>
        <p:txBody>
          <a:bodyPr wrap="square" lIns="0" tIns="0" rIns="0" bIns="0" rtlCol="0" anchor="ctr"/>
          <a:lstStyle/>
          <a:p>
            <a:pPr marL="0" indent="0">
              <a:buNone/>
            </a:pPr>
            <a:r>
              <a:rPr lang="en-US" sz="950" dirty="0">
                <a:solidFill>
                  <a:srgbClr val="E6EDF3"/>
                </a:solidFill>
                <a:latin typeface="Courier New" pitchFamily="34" charset="0"/>
                <a:ea typeface="Courier New" pitchFamily="34" charset="-122"/>
                <a:cs typeface="Courier New" pitchFamily="34" charset="-120"/>
              </a:rPr>
              <a:t>python3 -c "import geoip2; print(geoip2.__version__)"</a:t>
            </a:r>
            <a:endParaRPr lang="en-US" sz="950" dirty="0"/>
          </a:p>
        </p:txBody>
      </p:sp>
      <p:sp>
        <p:nvSpPr>
          <p:cNvPr id="26" name="Text 23"/>
          <p:cNvSpPr txBox="1"/>
          <p:nvPr/>
        </p:nvSpPr>
        <p:spPr>
          <a:xfrm>
            <a:off x="5669280" y="3081528"/>
            <a:ext cx="2926080" cy="274320"/>
          </a:xfrm>
          <a:prstGeom prst="rect">
            <a:avLst/>
          </a:prstGeom>
          <a:noFill/>
          <a:ln/>
        </p:spPr>
        <p:txBody>
          <a:bodyPr wrap="square" lIns="0" tIns="0" rIns="0" bIns="0" rtlCol="0" anchor="ctr"/>
          <a:lstStyle/>
          <a:p>
            <a:pPr marL="0" indent="0">
              <a:buNone/>
            </a:pPr>
            <a:r>
              <a:rPr lang="en-US" sz="950" dirty="0">
                <a:solidFill>
                  <a:srgbClr val="3FB950"/>
                </a:solidFill>
                <a:latin typeface="Courier New" pitchFamily="34" charset="0"/>
                <a:ea typeface="Courier New" pitchFamily="34" charset="-122"/>
                <a:cs typeface="Courier New" pitchFamily="34" charset="-120"/>
              </a:rPr>
              <a:t>→ 4.x.x (no ImportError)</a:t>
            </a:r>
            <a:endParaRPr lang="en-US" sz="950" dirty="0"/>
          </a:p>
        </p:txBody>
      </p:sp>
      <p:sp>
        <p:nvSpPr>
          <p:cNvPr id="27" name="Shape 24"/>
          <p:cNvSpPr/>
          <p:nvPr/>
        </p:nvSpPr>
        <p:spPr>
          <a:xfrm>
            <a:off x="365760" y="3621024"/>
            <a:ext cx="8412480" cy="548640"/>
          </a:xfrm>
          <a:prstGeom prst="roundRect">
            <a:avLst>
              <a:gd name="adj" fmla="val 8333"/>
            </a:avLst>
          </a:prstGeom>
          <a:solidFill>
            <a:srgbClr val="1F2937"/>
          </a:solidFill>
          <a:ln w="12700">
            <a:solidFill>
              <a:srgbClr val="D29922"/>
            </a:solidFill>
            <a:prstDash val="solid"/>
          </a:ln>
        </p:spPr>
        <p:txBody>
          <a:bodyPr/>
          <a:lstStyle/>
          <a:p>
            <a:endParaRPr lang="en-US"/>
          </a:p>
        </p:txBody>
      </p:sp>
      <p:sp>
        <p:nvSpPr>
          <p:cNvPr id="28" name="Shape 25"/>
          <p:cNvSpPr/>
          <p:nvPr/>
        </p:nvSpPr>
        <p:spPr>
          <a:xfrm>
            <a:off x="457200" y="3730752"/>
            <a:ext cx="1234440" cy="274320"/>
          </a:xfrm>
          <a:prstGeom prst="roundRect">
            <a:avLst>
              <a:gd name="adj" fmla="val 13333"/>
            </a:avLst>
          </a:prstGeom>
          <a:solidFill>
            <a:srgbClr val="161B22"/>
          </a:solidFill>
          <a:ln w="9525">
            <a:solidFill>
              <a:srgbClr val="D29922"/>
            </a:solidFill>
            <a:prstDash val="solid"/>
          </a:ln>
        </p:spPr>
        <p:txBody>
          <a:bodyPr/>
          <a:lstStyle/>
          <a:p>
            <a:endParaRPr lang="en-US"/>
          </a:p>
        </p:txBody>
      </p:sp>
      <p:sp>
        <p:nvSpPr>
          <p:cNvPr id="29" name="Text 26"/>
          <p:cNvSpPr txBox="1"/>
          <p:nvPr/>
        </p:nvSpPr>
        <p:spPr>
          <a:xfrm>
            <a:off x="457200" y="3730752"/>
            <a:ext cx="1234440" cy="274320"/>
          </a:xfrm>
          <a:prstGeom prst="rect">
            <a:avLst/>
          </a:prstGeom>
          <a:noFill/>
          <a:ln/>
        </p:spPr>
        <p:txBody>
          <a:bodyPr wrap="square" lIns="0" tIns="0" rIns="0" bIns="0" rtlCol="0" anchor="ctr"/>
          <a:lstStyle/>
          <a:p>
            <a:pPr marL="0" indent="0" algn="ctr">
              <a:buNone/>
            </a:pPr>
            <a:r>
              <a:rPr lang="en-US" sz="1000" b="1" dirty="0">
                <a:solidFill>
                  <a:srgbClr val="D29922"/>
                </a:solidFill>
                <a:latin typeface="Calibri" pitchFamily="34" charset="0"/>
                <a:ea typeface="Calibri" pitchFamily="34" charset="-122"/>
                <a:cs typeface="Calibri" pitchFamily="34" charset="-120"/>
              </a:rPr>
              <a:t>GeoLite2 ASN</a:t>
            </a:r>
            <a:endParaRPr lang="en-US" sz="1000" dirty="0"/>
          </a:p>
        </p:txBody>
      </p:sp>
      <p:sp>
        <p:nvSpPr>
          <p:cNvPr id="30" name="Text 27"/>
          <p:cNvSpPr txBox="1"/>
          <p:nvPr/>
        </p:nvSpPr>
        <p:spPr>
          <a:xfrm>
            <a:off x="1783080" y="3712464"/>
            <a:ext cx="3840480" cy="274320"/>
          </a:xfrm>
          <a:prstGeom prst="rect">
            <a:avLst/>
          </a:prstGeom>
          <a:noFill/>
          <a:ln/>
        </p:spPr>
        <p:txBody>
          <a:bodyPr wrap="square" lIns="0" tIns="0" rIns="0" bIns="0" rtlCol="0" anchor="ctr"/>
          <a:lstStyle/>
          <a:p>
            <a:pPr marL="0" indent="0">
              <a:buNone/>
            </a:pPr>
            <a:r>
              <a:rPr lang="en-US" sz="950" dirty="0">
                <a:solidFill>
                  <a:srgbClr val="E6EDF3"/>
                </a:solidFill>
                <a:latin typeface="Courier New" pitchFamily="34" charset="0"/>
                <a:ea typeface="Courier New" pitchFamily="34" charset="-122"/>
                <a:cs typeface="Courier New" pitchFamily="34" charset="-120"/>
              </a:rPr>
              <a:t>ls /opt/geoip/GeoLite2-ASN.mmdb</a:t>
            </a:r>
            <a:endParaRPr lang="en-US" sz="950" dirty="0"/>
          </a:p>
        </p:txBody>
      </p:sp>
      <p:sp>
        <p:nvSpPr>
          <p:cNvPr id="31" name="Text 28"/>
          <p:cNvSpPr txBox="1"/>
          <p:nvPr/>
        </p:nvSpPr>
        <p:spPr>
          <a:xfrm>
            <a:off x="5669280" y="3712464"/>
            <a:ext cx="2926080" cy="274320"/>
          </a:xfrm>
          <a:prstGeom prst="rect">
            <a:avLst/>
          </a:prstGeom>
          <a:noFill/>
          <a:ln/>
        </p:spPr>
        <p:txBody>
          <a:bodyPr wrap="square" lIns="0" tIns="0" rIns="0" bIns="0" rtlCol="0" anchor="ctr"/>
          <a:lstStyle/>
          <a:p>
            <a:pPr marL="0" indent="0">
              <a:buNone/>
            </a:pPr>
            <a:r>
              <a:rPr lang="en-US" sz="950" dirty="0">
                <a:solidFill>
                  <a:srgbClr val="3FB950"/>
                </a:solidFill>
                <a:latin typeface="Courier New" pitchFamily="34" charset="0"/>
                <a:ea typeface="Courier New" pitchFamily="34" charset="-122"/>
                <a:cs typeface="Courier New" pitchFamily="34" charset="-120"/>
              </a:rPr>
              <a:t>→ /opt/geoip/GeoLite2-ASN.mmdb</a:t>
            </a:r>
            <a:endParaRPr lang="en-US" sz="950" dirty="0"/>
          </a:p>
        </p:txBody>
      </p:sp>
      <p:sp>
        <p:nvSpPr>
          <p:cNvPr id="32" name="Shape 29"/>
          <p:cNvSpPr/>
          <p:nvPr/>
        </p:nvSpPr>
        <p:spPr>
          <a:xfrm>
            <a:off x="365760" y="4251960"/>
            <a:ext cx="8412480" cy="548640"/>
          </a:xfrm>
          <a:prstGeom prst="roundRect">
            <a:avLst>
              <a:gd name="adj" fmla="val 8333"/>
            </a:avLst>
          </a:prstGeom>
          <a:solidFill>
            <a:srgbClr val="1F2937"/>
          </a:solidFill>
          <a:ln w="12700">
            <a:solidFill>
              <a:srgbClr val="D29922"/>
            </a:solidFill>
            <a:prstDash val="solid"/>
          </a:ln>
        </p:spPr>
        <p:txBody>
          <a:bodyPr/>
          <a:lstStyle/>
          <a:p>
            <a:endParaRPr lang="en-US"/>
          </a:p>
        </p:txBody>
      </p:sp>
      <p:sp>
        <p:nvSpPr>
          <p:cNvPr id="33" name="Shape 30"/>
          <p:cNvSpPr/>
          <p:nvPr/>
        </p:nvSpPr>
        <p:spPr>
          <a:xfrm>
            <a:off x="457200" y="4361688"/>
            <a:ext cx="1234440" cy="274320"/>
          </a:xfrm>
          <a:prstGeom prst="roundRect">
            <a:avLst>
              <a:gd name="adj" fmla="val 13333"/>
            </a:avLst>
          </a:prstGeom>
          <a:solidFill>
            <a:srgbClr val="161B22"/>
          </a:solidFill>
          <a:ln w="9525">
            <a:solidFill>
              <a:srgbClr val="D29922"/>
            </a:solidFill>
            <a:prstDash val="solid"/>
          </a:ln>
        </p:spPr>
        <p:txBody>
          <a:bodyPr/>
          <a:lstStyle/>
          <a:p>
            <a:endParaRPr lang="en-US"/>
          </a:p>
        </p:txBody>
      </p:sp>
      <p:sp>
        <p:nvSpPr>
          <p:cNvPr id="34" name="Text 31"/>
          <p:cNvSpPr txBox="1"/>
          <p:nvPr/>
        </p:nvSpPr>
        <p:spPr>
          <a:xfrm>
            <a:off x="457200" y="4361688"/>
            <a:ext cx="1234440" cy="274320"/>
          </a:xfrm>
          <a:prstGeom prst="rect">
            <a:avLst/>
          </a:prstGeom>
          <a:noFill/>
          <a:ln/>
        </p:spPr>
        <p:txBody>
          <a:bodyPr wrap="square" lIns="0" tIns="0" rIns="0" bIns="0" rtlCol="0" anchor="ctr"/>
          <a:lstStyle/>
          <a:p>
            <a:pPr marL="0" indent="0" algn="ctr">
              <a:buNone/>
            </a:pPr>
            <a:r>
              <a:rPr lang="en-US" sz="1000" b="1" dirty="0">
                <a:solidFill>
                  <a:srgbClr val="D29922"/>
                </a:solidFill>
                <a:latin typeface="Calibri" pitchFamily="34" charset="0"/>
                <a:ea typeface="Calibri" pitchFamily="34" charset="-122"/>
                <a:cs typeface="Calibri" pitchFamily="34" charset="-120"/>
              </a:rPr>
              <a:t>GeoLite2 City</a:t>
            </a:r>
            <a:endParaRPr lang="en-US" sz="1000" dirty="0"/>
          </a:p>
        </p:txBody>
      </p:sp>
      <p:sp>
        <p:nvSpPr>
          <p:cNvPr id="35" name="Text 32"/>
          <p:cNvSpPr txBox="1"/>
          <p:nvPr/>
        </p:nvSpPr>
        <p:spPr>
          <a:xfrm>
            <a:off x="1783080" y="4343400"/>
            <a:ext cx="3840480" cy="274320"/>
          </a:xfrm>
          <a:prstGeom prst="rect">
            <a:avLst/>
          </a:prstGeom>
          <a:noFill/>
          <a:ln/>
        </p:spPr>
        <p:txBody>
          <a:bodyPr wrap="square" lIns="0" tIns="0" rIns="0" bIns="0" rtlCol="0" anchor="ctr"/>
          <a:lstStyle/>
          <a:p>
            <a:pPr marL="0" indent="0">
              <a:buNone/>
            </a:pPr>
            <a:r>
              <a:rPr lang="en-US" sz="950" dirty="0">
                <a:solidFill>
                  <a:srgbClr val="E6EDF3"/>
                </a:solidFill>
                <a:latin typeface="Courier New" pitchFamily="34" charset="0"/>
                <a:ea typeface="Courier New" pitchFamily="34" charset="-122"/>
                <a:cs typeface="Courier New" pitchFamily="34" charset="-120"/>
              </a:rPr>
              <a:t>ls /opt/geoip/GeoLite2-City.mmdb</a:t>
            </a:r>
            <a:endParaRPr lang="en-US" sz="950" dirty="0"/>
          </a:p>
        </p:txBody>
      </p:sp>
      <p:sp>
        <p:nvSpPr>
          <p:cNvPr id="36" name="Text 33"/>
          <p:cNvSpPr txBox="1"/>
          <p:nvPr/>
        </p:nvSpPr>
        <p:spPr>
          <a:xfrm>
            <a:off x="5669280" y="4343400"/>
            <a:ext cx="2926080" cy="274320"/>
          </a:xfrm>
          <a:prstGeom prst="rect">
            <a:avLst/>
          </a:prstGeom>
          <a:noFill/>
          <a:ln/>
        </p:spPr>
        <p:txBody>
          <a:bodyPr wrap="square" lIns="0" tIns="0" rIns="0" bIns="0" rtlCol="0" anchor="ctr"/>
          <a:lstStyle/>
          <a:p>
            <a:pPr marL="0" indent="0">
              <a:buNone/>
            </a:pPr>
            <a:r>
              <a:rPr lang="en-US" sz="950" dirty="0">
                <a:solidFill>
                  <a:srgbClr val="3FB950"/>
                </a:solidFill>
                <a:latin typeface="Courier New" pitchFamily="34" charset="0"/>
                <a:ea typeface="Courier New" pitchFamily="34" charset="-122"/>
                <a:cs typeface="Courier New" pitchFamily="34" charset="-120"/>
              </a:rPr>
              <a:t>→ /opt/geoip/GeoLite2-City.mmdb</a:t>
            </a:r>
            <a:endParaRPr lang="en-US" sz="950" dirty="0"/>
          </a:p>
        </p:txBody>
      </p:sp>
      <p:sp>
        <p:nvSpPr>
          <p:cNvPr id="37" name="Shape 34"/>
          <p:cNvSpPr/>
          <p:nvPr/>
        </p:nvSpPr>
        <p:spPr>
          <a:xfrm>
            <a:off x="0" y="5106924"/>
            <a:ext cx="9144000" cy="36576"/>
          </a:xfrm>
          <a:prstGeom prst="rect">
            <a:avLst/>
          </a:prstGeom>
          <a:solidFill>
            <a:srgbClr val="58A6FF"/>
          </a:solidFill>
          <a:ln/>
        </p:spPr>
        <p:txBody>
          <a:bodyPr/>
          <a:lstStyle/>
          <a:p>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Shape 0"/>
          <p:cNvSpPr/>
          <p:nvPr/>
        </p:nvSpPr>
        <p:spPr>
          <a:xfrm>
            <a:off x="0" y="0"/>
            <a:ext cx="9144000" cy="5143500"/>
          </a:xfrm>
          <a:prstGeom prst="rect">
            <a:avLst/>
          </a:prstGeom>
          <a:solidFill>
            <a:srgbClr val="0D1117"/>
          </a:solidFill>
          <a:ln/>
        </p:spPr>
        <p:txBody>
          <a:bodyPr/>
          <a:lstStyle/>
          <a:p>
            <a:endParaRPr lang="en-US"/>
          </a:p>
        </p:txBody>
      </p:sp>
      <p:sp>
        <p:nvSpPr>
          <p:cNvPr id="4" name="Shape 1"/>
          <p:cNvSpPr/>
          <p:nvPr/>
        </p:nvSpPr>
        <p:spPr>
          <a:xfrm>
            <a:off x="0" y="0"/>
            <a:ext cx="9144000" cy="36576"/>
          </a:xfrm>
          <a:prstGeom prst="rect">
            <a:avLst/>
          </a:prstGeom>
          <a:solidFill>
            <a:srgbClr val="58A6FF"/>
          </a:solidFill>
          <a:ln/>
        </p:spPr>
        <p:txBody>
          <a:bodyPr/>
          <a:lstStyle/>
          <a:p>
            <a:endParaRPr lang="en-US"/>
          </a:p>
        </p:txBody>
      </p:sp>
      <p:sp>
        <p:nvSpPr>
          <p:cNvPr id="5" name="Text 2"/>
          <p:cNvSpPr txBox="1"/>
          <p:nvPr/>
        </p:nvSpPr>
        <p:spPr>
          <a:xfrm>
            <a:off x="457200" y="201168"/>
            <a:ext cx="8229600" cy="237744"/>
          </a:xfrm>
          <a:prstGeom prst="rect">
            <a:avLst/>
          </a:prstGeom>
          <a:noFill/>
          <a:ln/>
        </p:spPr>
        <p:txBody>
          <a:bodyPr wrap="square" lIns="0" tIns="0" rIns="0" bIns="0" rtlCol="0" anchor="ctr"/>
          <a:lstStyle/>
          <a:p>
            <a:pPr marL="0" indent="0">
              <a:buNone/>
            </a:pPr>
            <a:r>
              <a:rPr lang="en-US" sz="1000" b="1" kern="0" spc="300" dirty="0">
                <a:solidFill>
                  <a:srgbClr val="58A6FF"/>
                </a:solidFill>
                <a:latin typeface="Calibri" pitchFamily="34" charset="0"/>
                <a:ea typeface="Calibri" pitchFamily="34" charset="-122"/>
                <a:cs typeface="Calibri" pitchFamily="34" charset="-120"/>
              </a:rPr>
              <a:t>VERIFY &amp; RUN</a:t>
            </a:r>
            <a:endParaRPr lang="en-US" sz="1000" dirty="0"/>
          </a:p>
        </p:txBody>
      </p:sp>
      <p:sp>
        <p:nvSpPr>
          <p:cNvPr id="6" name="Text 3"/>
          <p:cNvSpPr txBox="1"/>
          <p:nvPr/>
        </p:nvSpPr>
        <p:spPr>
          <a:xfrm>
            <a:off x="457200" y="502920"/>
            <a:ext cx="8229600" cy="457200"/>
          </a:xfrm>
          <a:prstGeom prst="rect">
            <a:avLst/>
          </a:prstGeom>
          <a:noFill/>
          <a:ln/>
        </p:spPr>
        <p:txBody>
          <a:bodyPr wrap="square" lIns="0" tIns="0" rIns="0" bIns="0" rtlCol="0" anchor="ctr"/>
          <a:lstStyle/>
          <a:p>
            <a:pPr marL="0" indent="0">
              <a:buNone/>
            </a:pPr>
            <a:r>
              <a:rPr lang="en-US" sz="2600" b="1" dirty="0">
                <a:solidFill>
                  <a:srgbClr val="E6EDF3"/>
                </a:solidFill>
                <a:latin typeface="Calibri" pitchFamily="34" charset="0"/>
                <a:ea typeface="Calibri" pitchFamily="34" charset="-122"/>
                <a:cs typeface="Calibri" pitchFamily="34" charset="-120"/>
              </a:rPr>
              <a:t>Running the Pipeline — 3 Steps</a:t>
            </a:r>
            <a:endParaRPr lang="en-US" sz="2600" dirty="0"/>
          </a:p>
        </p:txBody>
      </p:sp>
      <p:sp>
        <p:nvSpPr>
          <p:cNvPr id="7" name="Shape 4"/>
          <p:cNvSpPr/>
          <p:nvPr/>
        </p:nvSpPr>
        <p:spPr>
          <a:xfrm>
            <a:off x="365760" y="1097280"/>
            <a:ext cx="8412480" cy="1188720"/>
          </a:xfrm>
          <a:prstGeom prst="roundRect">
            <a:avLst>
              <a:gd name="adj" fmla="val 6154"/>
            </a:avLst>
          </a:prstGeom>
          <a:solidFill>
            <a:srgbClr val="1F2937"/>
          </a:solidFill>
          <a:ln w="19050">
            <a:solidFill>
              <a:srgbClr val="D29922"/>
            </a:solidFill>
            <a:prstDash val="solid"/>
          </a:ln>
        </p:spPr>
        <p:txBody>
          <a:bodyPr/>
          <a:lstStyle/>
          <a:p>
            <a:endParaRPr lang="en-US"/>
          </a:p>
        </p:txBody>
      </p:sp>
      <p:sp>
        <p:nvSpPr>
          <p:cNvPr id="8" name="Shape 5"/>
          <p:cNvSpPr/>
          <p:nvPr/>
        </p:nvSpPr>
        <p:spPr>
          <a:xfrm>
            <a:off x="457200" y="1188720"/>
            <a:ext cx="365760" cy="365760"/>
          </a:xfrm>
          <a:prstGeom prst="roundRect">
            <a:avLst>
              <a:gd name="adj" fmla="val 12500"/>
            </a:avLst>
          </a:prstGeom>
          <a:solidFill>
            <a:srgbClr val="D29922"/>
          </a:solidFill>
          <a:ln/>
        </p:spPr>
        <p:txBody>
          <a:bodyPr/>
          <a:lstStyle/>
          <a:p>
            <a:endParaRPr lang="en-US"/>
          </a:p>
        </p:txBody>
      </p:sp>
      <p:sp>
        <p:nvSpPr>
          <p:cNvPr id="9" name="Text 6"/>
          <p:cNvSpPr txBox="1"/>
          <p:nvPr/>
        </p:nvSpPr>
        <p:spPr>
          <a:xfrm>
            <a:off x="457200" y="1188720"/>
            <a:ext cx="365760" cy="365760"/>
          </a:xfrm>
          <a:prstGeom prst="rect">
            <a:avLst/>
          </a:prstGeom>
          <a:noFill/>
          <a:ln/>
        </p:spPr>
        <p:txBody>
          <a:bodyPr wrap="square" lIns="0" tIns="0" rIns="0" bIns="0" rtlCol="0" anchor="ctr"/>
          <a:lstStyle/>
          <a:p>
            <a:pPr marL="0" indent="0" algn="ctr">
              <a:buNone/>
            </a:pPr>
            <a:r>
              <a:rPr lang="en-US" sz="1600" b="1" dirty="0">
                <a:solidFill>
                  <a:srgbClr val="0D1117"/>
                </a:solidFill>
                <a:latin typeface="Calibri" pitchFamily="34" charset="0"/>
                <a:ea typeface="Calibri" pitchFamily="34" charset="-122"/>
                <a:cs typeface="Calibri" pitchFamily="34" charset="-120"/>
              </a:rPr>
              <a:t>1</a:t>
            </a:r>
            <a:endParaRPr lang="en-US" sz="1600" dirty="0"/>
          </a:p>
        </p:txBody>
      </p:sp>
      <p:sp>
        <p:nvSpPr>
          <p:cNvPr id="10" name="Text 7"/>
          <p:cNvSpPr txBox="1"/>
          <p:nvPr/>
        </p:nvSpPr>
        <p:spPr>
          <a:xfrm>
            <a:off x="960120" y="1225296"/>
            <a:ext cx="5029200" cy="274320"/>
          </a:xfrm>
          <a:prstGeom prst="rect">
            <a:avLst/>
          </a:prstGeom>
          <a:noFill/>
          <a:ln/>
        </p:spPr>
        <p:txBody>
          <a:bodyPr wrap="square" lIns="0" tIns="0" rIns="0" bIns="0" rtlCol="0" anchor="ctr"/>
          <a:lstStyle/>
          <a:p>
            <a:pPr marL="0" indent="0">
              <a:buNone/>
            </a:pPr>
            <a:r>
              <a:rPr lang="en-US" sz="1400" b="1" dirty="0">
                <a:solidFill>
                  <a:srgbClr val="E6EDF3"/>
                </a:solidFill>
                <a:latin typeface="Calibri" pitchFamily="34" charset="0"/>
                <a:ea typeface="Calibri" pitchFamily="34" charset="-122"/>
                <a:cs typeface="Calibri" pitchFamily="34" charset="-120"/>
              </a:rPr>
              <a:t>Drop PCAP into the queue</a:t>
            </a:r>
            <a:endParaRPr lang="en-US" sz="1400" dirty="0"/>
          </a:p>
        </p:txBody>
      </p:sp>
      <p:sp>
        <p:nvSpPr>
          <p:cNvPr id="11" name="Shape 8"/>
          <p:cNvSpPr/>
          <p:nvPr/>
        </p:nvSpPr>
        <p:spPr>
          <a:xfrm>
            <a:off x="960120" y="1554480"/>
            <a:ext cx="6858000" cy="384048"/>
          </a:xfrm>
          <a:prstGeom prst="roundRect">
            <a:avLst>
              <a:gd name="adj" fmla="val 9524"/>
            </a:avLst>
          </a:prstGeom>
          <a:solidFill>
            <a:srgbClr val="161B22"/>
          </a:solidFill>
          <a:ln w="6350">
            <a:solidFill>
              <a:srgbClr val="30363D"/>
            </a:solidFill>
            <a:prstDash val="solid"/>
          </a:ln>
        </p:spPr>
        <p:txBody>
          <a:bodyPr/>
          <a:lstStyle/>
          <a:p>
            <a:endParaRPr lang="en-US"/>
          </a:p>
        </p:txBody>
      </p:sp>
      <p:sp>
        <p:nvSpPr>
          <p:cNvPr id="12" name="Text 9"/>
          <p:cNvSpPr txBox="1"/>
          <p:nvPr/>
        </p:nvSpPr>
        <p:spPr>
          <a:xfrm>
            <a:off x="1051560" y="1572768"/>
            <a:ext cx="6675120" cy="347472"/>
          </a:xfrm>
          <a:prstGeom prst="rect">
            <a:avLst/>
          </a:prstGeom>
          <a:noFill/>
          <a:ln/>
        </p:spPr>
        <p:txBody>
          <a:bodyPr wrap="square" lIns="0" tIns="0" rIns="0" bIns="0" rtlCol="0" anchor="ctr"/>
          <a:lstStyle/>
          <a:p>
            <a:pPr marL="0" indent="0">
              <a:buNone/>
            </a:pPr>
            <a:r>
              <a:rPr lang="en-US" sz="1000" dirty="0">
                <a:solidFill>
                  <a:srgbClr val="3FB950"/>
                </a:solidFill>
                <a:latin typeface="Courier New" pitchFamily="34" charset="0"/>
                <a:ea typeface="Courier New" pitchFamily="34" charset="-122"/>
                <a:cs typeface="Courier New" pitchFamily="34" charset="-120"/>
              </a:rPr>
              <a:t>cp your-capture.pcap PCAPS/TODO/</a:t>
            </a:r>
            <a:endParaRPr lang="en-US" sz="1000" dirty="0"/>
          </a:p>
        </p:txBody>
      </p:sp>
      <p:sp>
        <p:nvSpPr>
          <p:cNvPr id="13" name="Text 10"/>
          <p:cNvSpPr txBox="1"/>
          <p:nvPr/>
        </p:nvSpPr>
        <p:spPr>
          <a:xfrm>
            <a:off x="960120" y="1993392"/>
            <a:ext cx="7589520" cy="256032"/>
          </a:xfrm>
          <a:prstGeom prst="rect">
            <a:avLst/>
          </a:prstGeom>
          <a:noFill/>
          <a:ln/>
        </p:spPr>
        <p:txBody>
          <a:bodyPr wrap="square" lIns="0" tIns="0" rIns="0" bIns="0" rtlCol="0" anchor="ctr"/>
          <a:lstStyle/>
          <a:p>
            <a:pPr marL="0" indent="0">
              <a:buNone/>
            </a:pPr>
            <a:r>
              <a:rPr lang="en-US" sz="1100" dirty="0">
                <a:solidFill>
                  <a:srgbClr val="8B949E"/>
                </a:solidFill>
                <a:latin typeface="Calibri" pitchFamily="34" charset="0"/>
                <a:ea typeface="Calibri" pitchFamily="34" charset="-122"/>
                <a:cs typeface="Calibri" pitchFamily="34" charset="-120"/>
              </a:rPr>
              <a:t>The initial role validates that exactly one PCAP exists here before starting.</a:t>
            </a:r>
            <a:endParaRPr lang="en-US" sz="1100" dirty="0"/>
          </a:p>
        </p:txBody>
      </p:sp>
      <p:sp>
        <p:nvSpPr>
          <p:cNvPr id="14" name="Shape 11"/>
          <p:cNvSpPr/>
          <p:nvPr/>
        </p:nvSpPr>
        <p:spPr>
          <a:xfrm>
            <a:off x="365760" y="2395728"/>
            <a:ext cx="8412480" cy="1188720"/>
          </a:xfrm>
          <a:prstGeom prst="roundRect">
            <a:avLst>
              <a:gd name="adj" fmla="val 6154"/>
            </a:avLst>
          </a:prstGeom>
          <a:solidFill>
            <a:srgbClr val="1F2937"/>
          </a:solidFill>
          <a:ln w="19050">
            <a:solidFill>
              <a:srgbClr val="3FB950"/>
            </a:solidFill>
            <a:prstDash val="solid"/>
          </a:ln>
        </p:spPr>
        <p:txBody>
          <a:bodyPr/>
          <a:lstStyle/>
          <a:p>
            <a:endParaRPr lang="en-US"/>
          </a:p>
        </p:txBody>
      </p:sp>
      <p:sp>
        <p:nvSpPr>
          <p:cNvPr id="15" name="Shape 12"/>
          <p:cNvSpPr/>
          <p:nvPr/>
        </p:nvSpPr>
        <p:spPr>
          <a:xfrm>
            <a:off x="457200" y="2487168"/>
            <a:ext cx="365760" cy="365760"/>
          </a:xfrm>
          <a:prstGeom prst="roundRect">
            <a:avLst>
              <a:gd name="adj" fmla="val 12500"/>
            </a:avLst>
          </a:prstGeom>
          <a:solidFill>
            <a:srgbClr val="3FB950"/>
          </a:solidFill>
          <a:ln/>
        </p:spPr>
        <p:txBody>
          <a:bodyPr/>
          <a:lstStyle/>
          <a:p>
            <a:endParaRPr lang="en-US"/>
          </a:p>
        </p:txBody>
      </p:sp>
      <p:sp>
        <p:nvSpPr>
          <p:cNvPr id="16" name="Text 13"/>
          <p:cNvSpPr txBox="1"/>
          <p:nvPr/>
        </p:nvSpPr>
        <p:spPr>
          <a:xfrm>
            <a:off x="457200" y="2487168"/>
            <a:ext cx="365760" cy="365760"/>
          </a:xfrm>
          <a:prstGeom prst="rect">
            <a:avLst/>
          </a:prstGeom>
          <a:noFill/>
          <a:ln/>
        </p:spPr>
        <p:txBody>
          <a:bodyPr wrap="square" lIns="0" tIns="0" rIns="0" bIns="0" rtlCol="0" anchor="ctr"/>
          <a:lstStyle/>
          <a:p>
            <a:pPr marL="0" indent="0" algn="ctr">
              <a:buNone/>
            </a:pPr>
            <a:r>
              <a:rPr lang="en-US" sz="1600" b="1" dirty="0">
                <a:solidFill>
                  <a:srgbClr val="0D1117"/>
                </a:solidFill>
                <a:latin typeface="Calibri" pitchFamily="34" charset="0"/>
                <a:ea typeface="Calibri" pitchFamily="34" charset="-122"/>
                <a:cs typeface="Calibri" pitchFamily="34" charset="-120"/>
              </a:rPr>
              <a:t>2</a:t>
            </a:r>
            <a:endParaRPr lang="en-US" sz="1600" dirty="0"/>
          </a:p>
        </p:txBody>
      </p:sp>
      <p:sp>
        <p:nvSpPr>
          <p:cNvPr id="17" name="Text 14"/>
          <p:cNvSpPr txBox="1"/>
          <p:nvPr/>
        </p:nvSpPr>
        <p:spPr>
          <a:xfrm>
            <a:off x="960120" y="2523744"/>
            <a:ext cx="5029200" cy="274320"/>
          </a:xfrm>
          <a:prstGeom prst="rect">
            <a:avLst/>
          </a:prstGeom>
          <a:noFill/>
          <a:ln/>
        </p:spPr>
        <p:txBody>
          <a:bodyPr wrap="square" lIns="0" tIns="0" rIns="0" bIns="0" rtlCol="0" anchor="ctr"/>
          <a:lstStyle/>
          <a:p>
            <a:pPr marL="0" indent="0">
              <a:buNone/>
            </a:pPr>
            <a:r>
              <a:rPr lang="en-US" sz="1400" b="1" dirty="0">
                <a:solidFill>
                  <a:srgbClr val="E6EDF3"/>
                </a:solidFill>
                <a:latin typeface="Calibri" pitchFamily="34" charset="0"/>
                <a:ea typeface="Calibri" pitchFamily="34" charset="-122"/>
                <a:cs typeface="Calibri" pitchFamily="34" charset="-120"/>
              </a:rPr>
              <a:t>Run the full Ansible pipeline</a:t>
            </a:r>
            <a:endParaRPr lang="en-US" sz="1400" dirty="0"/>
          </a:p>
        </p:txBody>
      </p:sp>
      <p:sp>
        <p:nvSpPr>
          <p:cNvPr id="18" name="Shape 15"/>
          <p:cNvSpPr/>
          <p:nvPr/>
        </p:nvSpPr>
        <p:spPr>
          <a:xfrm>
            <a:off x="960120" y="2852928"/>
            <a:ext cx="6858000" cy="384048"/>
          </a:xfrm>
          <a:prstGeom prst="roundRect">
            <a:avLst>
              <a:gd name="adj" fmla="val 9524"/>
            </a:avLst>
          </a:prstGeom>
          <a:solidFill>
            <a:srgbClr val="161B22"/>
          </a:solidFill>
          <a:ln w="6350">
            <a:solidFill>
              <a:srgbClr val="30363D"/>
            </a:solidFill>
            <a:prstDash val="solid"/>
          </a:ln>
        </p:spPr>
        <p:txBody>
          <a:bodyPr/>
          <a:lstStyle/>
          <a:p>
            <a:endParaRPr lang="en-US"/>
          </a:p>
        </p:txBody>
      </p:sp>
      <p:sp>
        <p:nvSpPr>
          <p:cNvPr id="19" name="Text 16"/>
          <p:cNvSpPr txBox="1"/>
          <p:nvPr/>
        </p:nvSpPr>
        <p:spPr>
          <a:xfrm>
            <a:off x="1051560" y="2871216"/>
            <a:ext cx="6675120" cy="347472"/>
          </a:xfrm>
          <a:prstGeom prst="rect">
            <a:avLst/>
          </a:prstGeom>
          <a:noFill/>
          <a:ln/>
        </p:spPr>
        <p:txBody>
          <a:bodyPr wrap="square" lIns="0" tIns="0" rIns="0" bIns="0" rtlCol="0" anchor="ctr"/>
          <a:lstStyle/>
          <a:p>
            <a:pPr marL="0" indent="0">
              <a:buNone/>
            </a:pPr>
            <a:r>
              <a:rPr lang="en-US" sz="1000" dirty="0">
                <a:solidFill>
                  <a:srgbClr val="3FB950"/>
                </a:solidFill>
                <a:latin typeface="Courier New" pitchFamily="34" charset="0"/>
                <a:ea typeface="Courier New" pitchFamily="34" charset="-122"/>
                <a:cs typeface="Courier New" pitchFamily="34" charset="-120"/>
              </a:rPr>
              <a:t>cd PCAPS/ansible</a:t>
            </a:r>
            <a:endParaRPr lang="en-US" sz="1000" dirty="0"/>
          </a:p>
          <a:p>
            <a:pPr marL="0" indent="0">
              <a:buNone/>
            </a:pPr>
            <a:r>
              <a:rPr lang="en-US" sz="1000" dirty="0">
                <a:solidFill>
                  <a:srgbClr val="3FB950"/>
                </a:solidFill>
                <a:latin typeface="Courier New" pitchFamily="34" charset="0"/>
                <a:ea typeface="Courier New" pitchFamily="34" charset="-122"/>
                <a:cs typeface="Courier New" pitchFamily="34" charset="-120"/>
              </a:rPr>
              <a:t>ansible-playbook playbook.yml</a:t>
            </a:r>
            <a:endParaRPr lang="en-US" sz="1000" dirty="0"/>
          </a:p>
        </p:txBody>
      </p:sp>
      <p:sp>
        <p:nvSpPr>
          <p:cNvPr id="20" name="Text 17"/>
          <p:cNvSpPr txBox="1"/>
          <p:nvPr/>
        </p:nvSpPr>
        <p:spPr>
          <a:xfrm>
            <a:off x="960120" y="3291840"/>
            <a:ext cx="7589520" cy="256032"/>
          </a:xfrm>
          <a:prstGeom prst="rect">
            <a:avLst/>
          </a:prstGeom>
          <a:noFill/>
          <a:ln/>
        </p:spPr>
        <p:txBody>
          <a:bodyPr wrap="square" lIns="0" tIns="0" rIns="0" bIns="0" rtlCol="0" anchor="ctr"/>
          <a:lstStyle/>
          <a:p>
            <a:pPr marL="0" indent="0">
              <a:buNone/>
            </a:pPr>
            <a:r>
              <a:rPr lang="en-US" sz="1100" dirty="0">
                <a:solidFill>
                  <a:srgbClr val="8B949E"/>
                </a:solidFill>
                <a:latin typeface="Calibri" pitchFamily="34" charset="0"/>
                <a:ea typeface="Calibri" pitchFamily="34" charset="-122"/>
                <a:cs typeface="Calibri" pitchFamily="34" charset="-120"/>
              </a:rPr>
              <a:t>All 9 roles run in sequence. Each role verifies its output before handing off to the next.</a:t>
            </a:r>
            <a:endParaRPr lang="en-US" sz="1100" dirty="0"/>
          </a:p>
        </p:txBody>
      </p:sp>
      <p:sp>
        <p:nvSpPr>
          <p:cNvPr id="21" name="Shape 18"/>
          <p:cNvSpPr/>
          <p:nvPr/>
        </p:nvSpPr>
        <p:spPr>
          <a:xfrm>
            <a:off x="365760" y="3694176"/>
            <a:ext cx="8412480" cy="1188720"/>
          </a:xfrm>
          <a:prstGeom prst="roundRect">
            <a:avLst>
              <a:gd name="adj" fmla="val 6154"/>
            </a:avLst>
          </a:prstGeom>
          <a:solidFill>
            <a:srgbClr val="1F2937"/>
          </a:solidFill>
          <a:ln w="19050">
            <a:solidFill>
              <a:srgbClr val="58A6FF"/>
            </a:solidFill>
            <a:prstDash val="solid"/>
          </a:ln>
        </p:spPr>
        <p:txBody>
          <a:bodyPr/>
          <a:lstStyle/>
          <a:p>
            <a:endParaRPr lang="en-US"/>
          </a:p>
        </p:txBody>
      </p:sp>
      <p:sp>
        <p:nvSpPr>
          <p:cNvPr id="22" name="Shape 19"/>
          <p:cNvSpPr/>
          <p:nvPr/>
        </p:nvSpPr>
        <p:spPr>
          <a:xfrm>
            <a:off x="457200" y="3785616"/>
            <a:ext cx="365760" cy="365760"/>
          </a:xfrm>
          <a:prstGeom prst="roundRect">
            <a:avLst>
              <a:gd name="adj" fmla="val 12500"/>
            </a:avLst>
          </a:prstGeom>
          <a:solidFill>
            <a:srgbClr val="58A6FF"/>
          </a:solidFill>
          <a:ln/>
        </p:spPr>
        <p:txBody>
          <a:bodyPr/>
          <a:lstStyle/>
          <a:p>
            <a:endParaRPr lang="en-US"/>
          </a:p>
        </p:txBody>
      </p:sp>
      <p:sp>
        <p:nvSpPr>
          <p:cNvPr id="23" name="Text 20"/>
          <p:cNvSpPr txBox="1"/>
          <p:nvPr/>
        </p:nvSpPr>
        <p:spPr>
          <a:xfrm>
            <a:off x="457200" y="3785616"/>
            <a:ext cx="365760" cy="365760"/>
          </a:xfrm>
          <a:prstGeom prst="rect">
            <a:avLst/>
          </a:prstGeom>
          <a:noFill/>
          <a:ln/>
        </p:spPr>
        <p:txBody>
          <a:bodyPr wrap="square" lIns="0" tIns="0" rIns="0" bIns="0" rtlCol="0" anchor="ctr"/>
          <a:lstStyle/>
          <a:p>
            <a:pPr marL="0" indent="0" algn="ctr">
              <a:buNone/>
            </a:pPr>
            <a:r>
              <a:rPr lang="en-US" sz="1600" b="1" dirty="0">
                <a:solidFill>
                  <a:srgbClr val="0D1117"/>
                </a:solidFill>
                <a:latin typeface="Calibri" pitchFamily="34" charset="0"/>
                <a:ea typeface="Calibri" pitchFamily="34" charset="-122"/>
                <a:cs typeface="Calibri" pitchFamily="34" charset="-120"/>
              </a:rPr>
              <a:t>3</a:t>
            </a:r>
            <a:endParaRPr lang="en-US" sz="1600" dirty="0"/>
          </a:p>
        </p:txBody>
      </p:sp>
      <p:sp>
        <p:nvSpPr>
          <p:cNvPr id="24" name="Text 21"/>
          <p:cNvSpPr txBox="1"/>
          <p:nvPr/>
        </p:nvSpPr>
        <p:spPr>
          <a:xfrm>
            <a:off x="960120" y="3822192"/>
            <a:ext cx="5029200" cy="274320"/>
          </a:xfrm>
          <a:prstGeom prst="rect">
            <a:avLst/>
          </a:prstGeom>
          <a:noFill/>
          <a:ln/>
        </p:spPr>
        <p:txBody>
          <a:bodyPr wrap="square" lIns="0" tIns="0" rIns="0" bIns="0" rtlCol="0" anchor="ctr"/>
          <a:lstStyle/>
          <a:p>
            <a:pPr marL="0" indent="0">
              <a:buNone/>
            </a:pPr>
            <a:r>
              <a:rPr lang="en-US" sz="1400" b="1" dirty="0">
                <a:solidFill>
                  <a:srgbClr val="E6EDF3"/>
                </a:solidFill>
                <a:latin typeface="Calibri" pitchFamily="34" charset="0"/>
                <a:ea typeface="Calibri" pitchFamily="34" charset="-122"/>
                <a:cs typeface="Calibri" pitchFamily="34" charset="-120"/>
              </a:rPr>
              <a:t>Find your report</a:t>
            </a:r>
            <a:endParaRPr lang="en-US" sz="1400" dirty="0"/>
          </a:p>
        </p:txBody>
      </p:sp>
      <p:sp>
        <p:nvSpPr>
          <p:cNvPr id="25" name="Shape 22"/>
          <p:cNvSpPr/>
          <p:nvPr/>
        </p:nvSpPr>
        <p:spPr>
          <a:xfrm>
            <a:off x="960120" y="4151376"/>
            <a:ext cx="6858000" cy="384048"/>
          </a:xfrm>
          <a:prstGeom prst="roundRect">
            <a:avLst>
              <a:gd name="adj" fmla="val 9524"/>
            </a:avLst>
          </a:prstGeom>
          <a:solidFill>
            <a:srgbClr val="161B22"/>
          </a:solidFill>
          <a:ln w="6350">
            <a:solidFill>
              <a:srgbClr val="30363D"/>
            </a:solidFill>
            <a:prstDash val="solid"/>
          </a:ln>
        </p:spPr>
        <p:txBody>
          <a:bodyPr/>
          <a:lstStyle/>
          <a:p>
            <a:endParaRPr lang="en-US"/>
          </a:p>
        </p:txBody>
      </p:sp>
      <p:sp>
        <p:nvSpPr>
          <p:cNvPr id="26" name="Text 23"/>
          <p:cNvSpPr txBox="1"/>
          <p:nvPr/>
        </p:nvSpPr>
        <p:spPr>
          <a:xfrm>
            <a:off x="1051560" y="4169664"/>
            <a:ext cx="6675120" cy="347472"/>
          </a:xfrm>
          <a:prstGeom prst="rect">
            <a:avLst/>
          </a:prstGeom>
          <a:noFill/>
          <a:ln/>
        </p:spPr>
        <p:txBody>
          <a:bodyPr wrap="square" lIns="0" tIns="0" rIns="0" bIns="0" rtlCol="0" anchor="ctr"/>
          <a:lstStyle/>
          <a:p>
            <a:pPr marL="0" indent="0">
              <a:buNone/>
            </a:pPr>
            <a:r>
              <a:rPr lang="en-US" sz="1000" dirty="0">
                <a:solidFill>
                  <a:srgbClr val="3FB950"/>
                </a:solidFill>
                <a:latin typeface="Courier New" pitchFamily="34" charset="0"/>
                <a:ea typeface="Courier New" pitchFamily="34" charset="-122"/>
                <a:cs typeface="Courier New" pitchFamily="34" charset="-120"/>
              </a:rPr>
              <a:t>PCAPS/RESULTS/&lt;pcap-name&gt;/FINAL_REPORT.md</a:t>
            </a:r>
            <a:endParaRPr lang="en-US" sz="1000" dirty="0"/>
          </a:p>
        </p:txBody>
      </p:sp>
      <p:sp>
        <p:nvSpPr>
          <p:cNvPr id="27" name="Text 24"/>
          <p:cNvSpPr txBox="1"/>
          <p:nvPr/>
        </p:nvSpPr>
        <p:spPr>
          <a:xfrm>
            <a:off x="960120" y="4590288"/>
            <a:ext cx="7589520" cy="256032"/>
          </a:xfrm>
          <a:prstGeom prst="rect">
            <a:avLst/>
          </a:prstGeom>
          <a:noFill/>
          <a:ln/>
        </p:spPr>
        <p:txBody>
          <a:bodyPr wrap="square" lIns="0" tIns="0" rIns="0" bIns="0" rtlCol="0" anchor="ctr"/>
          <a:lstStyle/>
          <a:p>
            <a:pPr marL="0" indent="0">
              <a:buNone/>
            </a:pPr>
            <a:r>
              <a:rPr lang="en-US" sz="1100" dirty="0">
                <a:solidFill>
                  <a:srgbClr val="8B949E"/>
                </a:solidFill>
                <a:latin typeface="Calibri" pitchFamily="34" charset="0"/>
                <a:ea typeface="Calibri" pitchFamily="34" charset="-122"/>
                <a:cs typeface="Calibri" pitchFamily="34" charset="-120"/>
              </a:rPr>
              <a:t>Also: correlated.json, alerts_report.md, stats_report.md. PCAP moves to DONE/.</a:t>
            </a:r>
            <a:endParaRPr lang="en-US" sz="1100" dirty="0"/>
          </a:p>
        </p:txBody>
      </p:sp>
      <p:sp>
        <p:nvSpPr>
          <p:cNvPr id="28" name="Shape 25"/>
          <p:cNvSpPr/>
          <p:nvPr/>
        </p:nvSpPr>
        <p:spPr>
          <a:xfrm>
            <a:off x="0" y="5106924"/>
            <a:ext cx="9144000" cy="36576"/>
          </a:xfrm>
          <a:prstGeom prst="rect">
            <a:avLst/>
          </a:prstGeom>
          <a:solidFill>
            <a:srgbClr val="58A6FF"/>
          </a:solidFill>
          <a:ln/>
        </p:spPr>
        <p:txBody>
          <a:bodyPr/>
          <a:lstStyle/>
          <a:p>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Shape 0"/>
          <p:cNvSpPr/>
          <p:nvPr/>
        </p:nvSpPr>
        <p:spPr>
          <a:xfrm>
            <a:off x="0" y="0"/>
            <a:ext cx="9144000" cy="5143500"/>
          </a:xfrm>
          <a:prstGeom prst="rect">
            <a:avLst/>
          </a:prstGeom>
          <a:solidFill>
            <a:srgbClr val="161B22"/>
          </a:solidFill>
          <a:ln/>
        </p:spPr>
        <p:txBody>
          <a:bodyPr/>
          <a:lstStyle/>
          <a:p>
            <a:endParaRPr lang="en-US"/>
          </a:p>
        </p:txBody>
      </p:sp>
      <p:sp>
        <p:nvSpPr>
          <p:cNvPr id="4" name="Shape 1"/>
          <p:cNvSpPr/>
          <p:nvPr/>
        </p:nvSpPr>
        <p:spPr>
          <a:xfrm>
            <a:off x="0" y="0"/>
            <a:ext cx="9144000" cy="36576"/>
          </a:xfrm>
          <a:prstGeom prst="rect">
            <a:avLst/>
          </a:prstGeom>
          <a:solidFill>
            <a:srgbClr val="BC8CFF"/>
          </a:solidFill>
          <a:ln/>
        </p:spPr>
        <p:txBody>
          <a:bodyPr/>
          <a:lstStyle/>
          <a:p>
            <a:endParaRPr lang="en-US"/>
          </a:p>
        </p:txBody>
      </p:sp>
      <p:sp>
        <p:nvSpPr>
          <p:cNvPr id="5" name="Text 2"/>
          <p:cNvSpPr txBox="1"/>
          <p:nvPr/>
        </p:nvSpPr>
        <p:spPr>
          <a:xfrm>
            <a:off x="548640" y="1645920"/>
            <a:ext cx="8046720" cy="274320"/>
          </a:xfrm>
          <a:prstGeom prst="rect">
            <a:avLst/>
          </a:prstGeom>
          <a:noFill/>
          <a:ln/>
        </p:spPr>
        <p:txBody>
          <a:bodyPr wrap="square" lIns="0" tIns="0" rIns="0" bIns="0" rtlCol="0" anchor="ctr"/>
          <a:lstStyle/>
          <a:p>
            <a:pPr marL="0" indent="0">
              <a:buNone/>
            </a:pPr>
            <a:r>
              <a:rPr lang="en-US" sz="1300" b="1" kern="0" spc="400" dirty="0">
                <a:solidFill>
                  <a:srgbClr val="BC8CFF"/>
                </a:solidFill>
                <a:latin typeface="Calibri" pitchFamily="34" charset="0"/>
                <a:ea typeface="Calibri" pitchFamily="34" charset="-122"/>
                <a:cs typeface="Calibri" pitchFamily="34" charset="-120"/>
              </a:rPr>
              <a:t>PART 04</a:t>
            </a:r>
            <a:endParaRPr lang="en-US" sz="1300" dirty="0"/>
          </a:p>
        </p:txBody>
      </p:sp>
      <p:sp>
        <p:nvSpPr>
          <p:cNvPr id="6" name="Text 3"/>
          <p:cNvSpPr txBox="1"/>
          <p:nvPr/>
        </p:nvSpPr>
        <p:spPr>
          <a:xfrm>
            <a:off x="548640" y="2011680"/>
            <a:ext cx="8046720" cy="731520"/>
          </a:xfrm>
          <a:prstGeom prst="rect">
            <a:avLst/>
          </a:prstGeom>
          <a:noFill/>
          <a:ln/>
        </p:spPr>
        <p:txBody>
          <a:bodyPr wrap="square" lIns="0" tIns="0" rIns="0" bIns="0" rtlCol="0" anchor="ctr"/>
          <a:lstStyle/>
          <a:p>
            <a:pPr marL="0" indent="0">
              <a:buNone/>
            </a:pPr>
            <a:r>
              <a:rPr lang="en-US" sz="4000" b="1" dirty="0">
                <a:solidFill>
                  <a:srgbClr val="E6EDF3"/>
                </a:solidFill>
                <a:latin typeface="Calibri" pitchFamily="34" charset="0"/>
                <a:ea typeface="Calibri" pitchFamily="34" charset="-122"/>
                <a:cs typeface="Calibri" pitchFamily="34" charset="-120"/>
              </a:rPr>
              <a:t>What to Integrate Next</a:t>
            </a:r>
            <a:endParaRPr lang="en-US" sz="4000" dirty="0"/>
          </a:p>
        </p:txBody>
      </p:sp>
      <p:sp>
        <p:nvSpPr>
          <p:cNvPr id="7" name="Text 4"/>
          <p:cNvSpPr txBox="1"/>
          <p:nvPr/>
        </p:nvSpPr>
        <p:spPr>
          <a:xfrm>
            <a:off x="548640" y="2834640"/>
            <a:ext cx="8046720" cy="365760"/>
          </a:xfrm>
          <a:prstGeom prst="rect">
            <a:avLst/>
          </a:prstGeom>
          <a:noFill/>
          <a:ln/>
        </p:spPr>
        <p:txBody>
          <a:bodyPr wrap="square" lIns="0" tIns="0" rIns="0" bIns="0" rtlCol="0" anchor="ctr"/>
          <a:lstStyle/>
          <a:p>
            <a:pPr marL="0" indent="0">
              <a:buNone/>
            </a:pPr>
            <a:r>
              <a:rPr lang="en-US" sz="1500" dirty="0">
                <a:solidFill>
                  <a:srgbClr val="8B949E"/>
                </a:solidFill>
                <a:latin typeface="Calibri" pitchFamily="34" charset="0"/>
                <a:ea typeface="Calibri" pitchFamily="34" charset="-122"/>
                <a:cs typeface="Calibri" pitchFamily="34" charset="-120"/>
              </a:rPr>
              <a:t>Extend the pipeline with threat intel, SIEM, case management, and automation</a:t>
            </a:r>
            <a:endParaRPr lang="en-US" sz="1500" dirty="0"/>
          </a:p>
        </p:txBody>
      </p:sp>
      <p:sp>
        <p:nvSpPr>
          <p:cNvPr id="8" name="Shape 5"/>
          <p:cNvSpPr/>
          <p:nvPr/>
        </p:nvSpPr>
        <p:spPr>
          <a:xfrm>
            <a:off x="0" y="5106924"/>
            <a:ext cx="9144000" cy="36576"/>
          </a:xfrm>
          <a:prstGeom prst="rect">
            <a:avLst/>
          </a:prstGeom>
          <a:solidFill>
            <a:srgbClr val="BC8CFF"/>
          </a:solidFill>
          <a:ln/>
        </p:spPr>
        <p:txBody>
          <a:bodyPr/>
          <a:lstStyle/>
          <a:p>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Shape 0"/>
          <p:cNvSpPr/>
          <p:nvPr/>
        </p:nvSpPr>
        <p:spPr>
          <a:xfrm>
            <a:off x="0" y="0"/>
            <a:ext cx="9144000" cy="5143500"/>
          </a:xfrm>
          <a:prstGeom prst="rect">
            <a:avLst/>
          </a:prstGeom>
          <a:solidFill>
            <a:srgbClr val="0D1117"/>
          </a:solidFill>
          <a:ln/>
        </p:spPr>
        <p:txBody>
          <a:bodyPr/>
          <a:lstStyle/>
          <a:p>
            <a:endParaRPr lang="en-US"/>
          </a:p>
        </p:txBody>
      </p:sp>
      <p:sp>
        <p:nvSpPr>
          <p:cNvPr id="4" name="Shape 1"/>
          <p:cNvSpPr/>
          <p:nvPr/>
        </p:nvSpPr>
        <p:spPr>
          <a:xfrm>
            <a:off x="0" y="0"/>
            <a:ext cx="9144000" cy="36576"/>
          </a:xfrm>
          <a:prstGeom prst="rect">
            <a:avLst/>
          </a:prstGeom>
          <a:solidFill>
            <a:srgbClr val="BC8CFF"/>
          </a:solidFill>
          <a:ln/>
        </p:spPr>
        <p:txBody>
          <a:bodyPr/>
          <a:lstStyle/>
          <a:p>
            <a:endParaRPr lang="en-US"/>
          </a:p>
        </p:txBody>
      </p:sp>
      <p:sp>
        <p:nvSpPr>
          <p:cNvPr id="5" name="Text 2"/>
          <p:cNvSpPr txBox="1"/>
          <p:nvPr/>
        </p:nvSpPr>
        <p:spPr>
          <a:xfrm>
            <a:off x="457200" y="201168"/>
            <a:ext cx="8229600" cy="237744"/>
          </a:xfrm>
          <a:prstGeom prst="rect">
            <a:avLst/>
          </a:prstGeom>
          <a:noFill/>
          <a:ln/>
        </p:spPr>
        <p:txBody>
          <a:bodyPr wrap="square" lIns="0" tIns="0" rIns="0" bIns="0" rtlCol="0" anchor="ctr"/>
          <a:lstStyle/>
          <a:p>
            <a:pPr marL="0" indent="0">
              <a:buNone/>
            </a:pPr>
            <a:r>
              <a:rPr lang="en-US" sz="1000" b="1" kern="0" spc="300" dirty="0">
                <a:solidFill>
                  <a:srgbClr val="BC8CFF"/>
                </a:solidFill>
                <a:latin typeface="Calibri" pitchFamily="34" charset="0"/>
                <a:ea typeface="Calibri" pitchFamily="34" charset="-122"/>
                <a:cs typeface="Calibri" pitchFamily="34" charset="-120"/>
              </a:rPr>
              <a:t>NEXT INTEGRATIONS</a:t>
            </a:r>
            <a:endParaRPr lang="en-US" sz="1000" dirty="0"/>
          </a:p>
        </p:txBody>
      </p:sp>
      <p:sp>
        <p:nvSpPr>
          <p:cNvPr id="6" name="Text 3"/>
          <p:cNvSpPr txBox="1"/>
          <p:nvPr/>
        </p:nvSpPr>
        <p:spPr>
          <a:xfrm>
            <a:off x="457200" y="502920"/>
            <a:ext cx="8229600" cy="457200"/>
          </a:xfrm>
          <a:prstGeom prst="rect">
            <a:avLst/>
          </a:prstGeom>
          <a:noFill/>
          <a:ln/>
        </p:spPr>
        <p:txBody>
          <a:bodyPr wrap="square" lIns="0" tIns="0" rIns="0" bIns="0" rtlCol="0" anchor="ctr"/>
          <a:lstStyle/>
          <a:p>
            <a:pPr marL="0" indent="0">
              <a:buNone/>
            </a:pPr>
            <a:r>
              <a:rPr lang="en-US" sz="2600" b="1" dirty="0">
                <a:solidFill>
                  <a:srgbClr val="E6EDF3"/>
                </a:solidFill>
                <a:latin typeface="Calibri" pitchFamily="34" charset="0"/>
                <a:ea typeface="Calibri" pitchFamily="34" charset="-122"/>
                <a:cs typeface="Calibri" pitchFamily="34" charset="-120"/>
              </a:rPr>
              <a:t>Recommended Extensions</a:t>
            </a:r>
            <a:endParaRPr lang="en-US" sz="2600" dirty="0"/>
          </a:p>
        </p:txBody>
      </p:sp>
      <p:sp>
        <p:nvSpPr>
          <p:cNvPr id="7" name="Shape 4"/>
          <p:cNvSpPr/>
          <p:nvPr/>
        </p:nvSpPr>
        <p:spPr>
          <a:xfrm>
            <a:off x="365760" y="1097280"/>
            <a:ext cx="4114800" cy="1115568"/>
          </a:xfrm>
          <a:prstGeom prst="roundRect">
            <a:avLst>
              <a:gd name="adj" fmla="val 5738"/>
            </a:avLst>
          </a:prstGeom>
          <a:solidFill>
            <a:srgbClr val="1F2937"/>
          </a:solidFill>
          <a:ln w="12700">
            <a:solidFill>
              <a:srgbClr val="F85149"/>
            </a:solidFill>
            <a:prstDash val="solid"/>
          </a:ln>
        </p:spPr>
        <p:txBody>
          <a:bodyPr/>
          <a:lstStyle/>
          <a:p>
            <a:endParaRPr lang="en-US"/>
          </a:p>
        </p:txBody>
      </p:sp>
      <p:sp>
        <p:nvSpPr>
          <p:cNvPr id="8" name="Text 5"/>
          <p:cNvSpPr txBox="1"/>
          <p:nvPr/>
        </p:nvSpPr>
        <p:spPr>
          <a:xfrm>
            <a:off x="502920" y="1188720"/>
            <a:ext cx="1828800" cy="274320"/>
          </a:xfrm>
          <a:prstGeom prst="rect">
            <a:avLst/>
          </a:prstGeom>
          <a:noFill/>
          <a:ln/>
        </p:spPr>
        <p:txBody>
          <a:bodyPr wrap="square" lIns="0" tIns="0" rIns="0" bIns="0" rtlCol="0" anchor="ctr"/>
          <a:lstStyle/>
          <a:p>
            <a:pPr marL="0" indent="0">
              <a:buNone/>
            </a:pPr>
            <a:r>
              <a:rPr lang="en-US" sz="1400" b="1" dirty="0">
                <a:solidFill>
                  <a:srgbClr val="F85149"/>
                </a:solidFill>
                <a:latin typeface="Calibri" pitchFamily="34" charset="0"/>
                <a:ea typeface="Calibri" pitchFamily="34" charset="-122"/>
                <a:cs typeface="Calibri" pitchFamily="34" charset="-120"/>
              </a:rPr>
              <a:t>MISP</a:t>
            </a:r>
            <a:endParaRPr lang="en-US" sz="1400" dirty="0"/>
          </a:p>
        </p:txBody>
      </p:sp>
      <p:sp>
        <p:nvSpPr>
          <p:cNvPr id="9" name="Shape 6"/>
          <p:cNvSpPr/>
          <p:nvPr/>
        </p:nvSpPr>
        <p:spPr>
          <a:xfrm>
            <a:off x="2468880" y="1197864"/>
            <a:ext cx="1828800" cy="237744"/>
          </a:xfrm>
          <a:prstGeom prst="roundRect">
            <a:avLst>
              <a:gd name="adj" fmla="val 15385"/>
            </a:avLst>
          </a:prstGeom>
          <a:solidFill>
            <a:srgbClr val="161B22"/>
          </a:solidFill>
          <a:ln w="6350">
            <a:solidFill>
              <a:srgbClr val="F85149"/>
            </a:solidFill>
            <a:prstDash val="solid"/>
          </a:ln>
        </p:spPr>
        <p:txBody>
          <a:bodyPr/>
          <a:lstStyle/>
          <a:p>
            <a:endParaRPr lang="en-US"/>
          </a:p>
        </p:txBody>
      </p:sp>
      <p:sp>
        <p:nvSpPr>
          <p:cNvPr id="10" name="Text 7"/>
          <p:cNvSpPr txBox="1"/>
          <p:nvPr/>
        </p:nvSpPr>
        <p:spPr>
          <a:xfrm>
            <a:off x="2468880" y="1197864"/>
            <a:ext cx="1828800" cy="237744"/>
          </a:xfrm>
          <a:prstGeom prst="rect">
            <a:avLst/>
          </a:prstGeom>
          <a:noFill/>
          <a:ln/>
        </p:spPr>
        <p:txBody>
          <a:bodyPr wrap="square" lIns="0" tIns="0" rIns="0" bIns="0" rtlCol="0" anchor="ctr"/>
          <a:lstStyle/>
          <a:p>
            <a:pPr marL="0" indent="0" algn="ctr">
              <a:buNone/>
            </a:pPr>
            <a:r>
              <a:rPr lang="en-US" sz="900" b="1" dirty="0">
                <a:solidFill>
                  <a:srgbClr val="F85149"/>
                </a:solidFill>
                <a:latin typeface="Calibri" pitchFamily="34" charset="0"/>
                <a:ea typeface="Calibri" pitchFamily="34" charset="-122"/>
                <a:cs typeface="Calibri" pitchFamily="34" charset="-120"/>
              </a:rPr>
              <a:t>Threat Intelligence</a:t>
            </a:r>
            <a:endParaRPr lang="en-US" sz="900" dirty="0"/>
          </a:p>
        </p:txBody>
      </p:sp>
      <p:sp>
        <p:nvSpPr>
          <p:cNvPr id="11" name="Text 8"/>
          <p:cNvSpPr txBox="1"/>
          <p:nvPr/>
        </p:nvSpPr>
        <p:spPr>
          <a:xfrm>
            <a:off x="502920" y="1508760"/>
            <a:ext cx="3840480" cy="402336"/>
          </a:xfrm>
          <a:prstGeom prst="rect">
            <a:avLst/>
          </a:prstGeom>
          <a:noFill/>
          <a:ln/>
        </p:spPr>
        <p:txBody>
          <a:bodyPr wrap="square" lIns="0" tIns="0" rIns="0" bIns="0" rtlCol="0" anchor="ctr"/>
          <a:lstStyle/>
          <a:p>
            <a:pPr marL="0" indent="0">
              <a:buNone/>
            </a:pPr>
            <a:r>
              <a:rPr lang="en-US" sz="950" dirty="0">
                <a:solidFill>
                  <a:srgbClr val="8B949E"/>
                </a:solidFill>
                <a:latin typeface="Calibri" pitchFamily="34" charset="0"/>
                <a:ea typeface="Calibri" pitchFamily="34" charset="-122"/>
                <a:cs typeface="Calibri" pitchFamily="34" charset="-120"/>
              </a:rPr>
              <a:t>Push correlated IOCs (IPs, domains, hashes) from FINAL_REPORT.md to MISP. Cross-reference Suricata alerts against MISP threat feeds for instant context.</a:t>
            </a:r>
            <a:endParaRPr lang="en-US" sz="950" dirty="0"/>
          </a:p>
        </p:txBody>
      </p:sp>
      <p:sp>
        <p:nvSpPr>
          <p:cNvPr id="12" name="Text 9"/>
          <p:cNvSpPr txBox="1"/>
          <p:nvPr/>
        </p:nvSpPr>
        <p:spPr>
          <a:xfrm>
            <a:off x="502920" y="1947672"/>
            <a:ext cx="3840480" cy="201168"/>
          </a:xfrm>
          <a:prstGeom prst="rect">
            <a:avLst/>
          </a:prstGeom>
          <a:noFill/>
          <a:ln/>
        </p:spPr>
        <p:txBody>
          <a:bodyPr wrap="square" lIns="0" tIns="0" rIns="0" bIns="0" rtlCol="0" anchor="ctr"/>
          <a:lstStyle/>
          <a:p>
            <a:pPr marL="0" indent="0">
              <a:buNone/>
            </a:pPr>
            <a:r>
              <a:rPr lang="en-US" sz="950" b="1" dirty="0">
                <a:solidFill>
                  <a:srgbClr val="E6EDF3"/>
                </a:solidFill>
                <a:latin typeface="Calibri" pitchFamily="34" charset="0"/>
                <a:ea typeface="Calibri" pitchFamily="34" charset="-122"/>
                <a:cs typeface="Calibri" pitchFamily="34" charset="-120"/>
              </a:rPr>
              <a:t>→ Add python_misp Ansible role using PyMISP library</a:t>
            </a:r>
            <a:endParaRPr lang="en-US" sz="950" dirty="0"/>
          </a:p>
        </p:txBody>
      </p:sp>
      <p:sp>
        <p:nvSpPr>
          <p:cNvPr id="13" name="Shape 10"/>
          <p:cNvSpPr/>
          <p:nvPr/>
        </p:nvSpPr>
        <p:spPr>
          <a:xfrm>
            <a:off x="365760" y="2359152"/>
            <a:ext cx="4114800" cy="1115568"/>
          </a:xfrm>
          <a:prstGeom prst="roundRect">
            <a:avLst>
              <a:gd name="adj" fmla="val 5738"/>
            </a:avLst>
          </a:prstGeom>
          <a:solidFill>
            <a:srgbClr val="1F2937"/>
          </a:solidFill>
          <a:ln w="12700">
            <a:solidFill>
              <a:srgbClr val="D29922"/>
            </a:solidFill>
            <a:prstDash val="solid"/>
          </a:ln>
        </p:spPr>
        <p:txBody>
          <a:bodyPr/>
          <a:lstStyle/>
          <a:p>
            <a:endParaRPr lang="en-US"/>
          </a:p>
        </p:txBody>
      </p:sp>
      <p:sp>
        <p:nvSpPr>
          <p:cNvPr id="14" name="Text 11"/>
          <p:cNvSpPr txBox="1"/>
          <p:nvPr/>
        </p:nvSpPr>
        <p:spPr>
          <a:xfrm>
            <a:off x="502920" y="2450592"/>
            <a:ext cx="1828800" cy="274320"/>
          </a:xfrm>
          <a:prstGeom prst="rect">
            <a:avLst/>
          </a:prstGeom>
          <a:noFill/>
          <a:ln/>
        </p:spPr>
        <p:txBody>
          <a:bodyPr wrap="square" lIns="0" tIns="0" rIns="0" bIns="0" rtlCol="0" anchor="ctr"/>
          <a:lstStyle/>
          <a:p>
            <a:pPr marL="0" indent="0">
              <a:buNone/>
            </a:pPr>
            <a:r>
              <a:rPr lang="en-US" sz="1400" b="1" dirty="0">
                <a:solidFill>
                  <a:srgbClr val="D29922"/>
                </a:solidFill>
                <a:latin typeface="Calibri" pitchFamily="34" charset="0"/>
                <a:ea typeface="Calibri" pitchFamily="34" charset="-122"/>
                <a:cs typeface="Calibri" pitchFamily="34" charset="-120"/>
              </a:rPr>
              <a:t>TheHive</a:t>
            </a:r>
            <a:endParaRPr lang="en-US" sz="1400" dirty="0"/>
          </a:p>
        </p:txBody>
      </p:sp>
      <p:sp>
        <p:nvSpPr>
          <p:cNvPr id="15" name="Shape 12"/>
          <p:cNvSpPr/>
          <p:nvPr/>
        </p:nvSpPr>
        <p:spPr>
          <a:xfrm>
            <a:off x="2468880" y="2459736"/>
            <a:ext cx="1828800" cy="237744"/>
          </a:xfrm>
          <a:prstGeom prst="roundRect">
            <a:avLst>
              <a:gd name="adj" fmla="val 15385"/>
            </a:avLst>
          </a:prstGeom>
          <a:solidFill>
            <a:srgbClr val="161B22"/>
          </a:solidFill>
          <a:ln w="6350">
            <a:solidFill>
              <a:srgbClr val="D29922"/>
            </a:solidFill>
            <a:prstDash val="solid"/>
          </a:ln>
        </p:spPr>
        <p:txBody>
          <a:bodyPr/>
          <a:lstStyle/>
          <a:p>
            <a:endParaRPr lang="en-US"/>
          </a:p>
        </p:txBody>
      </p:sp>
      <p:sp>
        <p:nvSpPr>
          <p:cNvPr id="16" name="Text 13"/>
          <p:cNvSpPr txBox="1"/>
          <p:nvPr/>
        </p:nvSpPr>
        <p:spPr>
          <a:xfrm>
            <a:off x="2468880" y="2459736"/>
            <a:ext cx="1828800" cy="237744"/>
          </a:xfrm>
          <a:prstGeom prst="rect">
            <a:avLst/>
          </a:prstGeom>
          <a:noFill/>
          <a:ln/>
        </p:spPr>
        <p:txBody>
          <a:bodyPr wrap="square" lIns="0" tIns="0" rIns="0" bIns="0" rtlCol="0" anchor="ctr"/>
          <a:lstStyle/>
          <a:p>
            <a:pPr marL="0" indent="0" algn="ctr">
              <a:buNone/>
            </a:pPr>
            <a:r>
              <a:rPr lang="en-US" sz="900" b="1" dirty="0">
                <a:solidFill>
                  <a:srgbClr val="D29922"/>
                </a:solidFill>
                <a:latin typeface="Calibri" pitchFamily="34" charset="0"/>
                <a:ea typeface="Calibri" pitchFamily="34" charset="-122"/>
                <a:cs typeface="Calibri" pitchFamily="34" charset="-120"/>
              </a:rPr>
              <a:t>Case Management</a:t>
            </a:r>
            <a:endParaRPr lang="en-US" sz="900" dirty="0"/>
          </a:p>
        </p:txBody>
      </p:sp>
      <p:sp>
        <p:nvSpPr>
          <p:cNvPr id="17" name="Text 14"/>
          <p:cNvSpPr txBox="1"/>
          <p:nvPr/>
        </p:nvSpPr>
        <p:spPr>
          <a:xfrm>
            <a:off x="502920" y="2770632"/>
            <a:ext cx="3840480" cy="402336"/>
          </a:xfrm>
          <a:prstGeom prst="rect">
            <a:avLst/>
          </a:prstGeom>
          <a:noFill/>
          <a:ln/>
        </p:spPr>
        <p:txBody>
          <a:bodyPr wrap="square" lIns="0" tIns="0" rIns="0" bIns="0" rtlCol="0" anchor="ctr"/>
          <a:lstStyle/>
          <a:p>
            <a:pPr marL="0" indent="0">
              <a:buNone/>
            </a:pPr>
            <a:r>
              <a:rPr lang="en-US" sz="950" dirty="0">
                <a:solidFill>
                  <a:srgbClr val="8B949E"/>
                </a:solidFill>
                <a:latin typeface="Calibri" pitchFamily="34" charset="0"/>
                <a:ea typeface="Calibri" pitchFamily="34" charset="-122"/>
                <a:cs typeface="Calibri" pitchFamily="34" charset="-120"/>
              </a:rPr>
              <a:t>Auto-create TheHive cases from high-severity correlated alerts. Attach correlated.json and FINAL_REPORT.md as case observables for analyst workflow.</a:t>
            </a:r>
            <a:endParaRPr lang="en-US" sz="950" dirty="0"/>
          </a:p>
        </p:txBody>
      </p:sp>
      <p:sp>
        <p:nvSpPr>
          <p:cNvPr id="18" name="Text 15"/>
          <p:cNvSpPr txBox="1"/>
          <p:nvPr/>
        </p:nvSpPr>
        <p:spPr>
          <a:xfrm>
            <a:off x="502920" y="3209544"/>
            <a:ext cx="3840480" cy="201168"/>
          </a:xfrm>
          <a:prstGeom prst="rect">
            <a:avLst/>
          </a:prstGeom>
          <a:noFill/>
          <a:ln/>
        </p:spPr>
        <p:txBody>
          <a:bodyPr wrap="square" lIns="0" tIns="0" rIns="0" bIns="0" rtlCol="0" anchor="ctr"/>
          <a:lstStyle/>
          <a:p>
            <a:pPr marL="0" indent="0">
              <a:buNone/>
            </a:pPr>
            <a:r>
              <a:rPr lang="en-US" sz="950" b="1" dirty="0">
                <a:solidFill>
                  <a:srgbClr val="E6EDF3"/>
                </a:solidFill>
                <a:latin typeface="Calibri" pitchFamily="34" charset="0"/>
                <a:ea typeface="Calibri" pitchFamily="34" charset="-122"/>
                <a:cs typeface="Calibri" pitchFamily="34" charset="-120"/>
              </a:rPr>
              <a:t>→ Add python_thehive role with thehive4py</a:t>
            </a:r>
            <a:endParaRPr lang="en-US" sz="950" dirty="0"/>
          </a:p>
        </p:txBody>
      </p:sp>
      <p:sp>
        <p:nvSpPr>
          <p:cNvPr id="19" name="Shape 16"/>
          <p:cNvSpPr/>
          <p:nvPr/>
        </p:nvSpPr>
        <p:spPr>
          <a:xfrm>
            <a:off x="365760" y="3621024"/>
            <a:ext cx="4114800" cy="1115568"/>
          </a:xfrm>
          <a:prstGeom prst="roundRect">
            <a:avLst>
              <a:gd name="adj" fmla="val 5738"/>
            </a:avLst>
          </a:prstGeom>
          <a:solidFill>
            <a:srgbClr val="1F2937"/>
          </a:solidFill>
          <a:ln w="12700">
            <a:solidFill>
              <a:srgbClr val="58A6FF"/>
            </a:solidFill>
            <a:prstDash val="solid"/>
          </a:ln>
        </p:spPr>
        <p:txBody>
          <a:bodyPr/>
          <a:lstStyle/>
          <a:p>
            <a:endParaRPr lang="en-US"/>
          </a:p>
        </p:txBody>
      </p:sp>
      <p:sp>
        <p:nvSpPr>
          <p:cNvPr id="20" name="Text 17"/>
          <p:cNvSpPr txBox="1"/>
          <p:nvPr/>
        </p:nvSpPr>
        <p:spPr>
          <a:xfrm>
            <a:off x="502920" y="3712464"/>
            <a:ext cx="1828800" cy="274320"/>
          </a:xfrm>
          <a:prstGeom prst="rect">
            <a:avLst/>
          </a:prstGeom>
          <a:noFill/>
          <a:ln/>
        </p:spPr>
        <p:txBody>
          <a:bodyPr wrap="square" lIns="0" tIns="0" rIns="0" bIns="0" rtlCol="0" anchor="ctr"/>
          <a:lstStyle/>
          <a:p>
            <a:pPr marL="0" indent="0">
              <a:buNone/>
            </a:pPr>
            <a:r>
              <a:rPr lang="en-US" sz="1400" b="1" dirty="0">
                <a:solidFill>
                  <a:srgbClr val="58A6FF"/>
                </a:solidFill>
                <a:latin typeface="Calibri" pitchFamily="34" charset="0"/>
                <a:ea typeface="Calibri" pitchFamily="34" charset="-122"/>
                <a:cs typeface="Calibri" pitchFamily="34" charset="-120"/>
              </a:rPr>
              <a:t>Elasticsearch</a:t>
            </a:r>
            <a:endParaRPr lang="en-US" sz="1400" dirty="0"/>
          </a:p>
        </p:txBody>
      </p:sp>
      <p:sp>
        <p:nvSpPr>
          <p:cNvPr id="21" name="Shape 18"/>
          <p:cNvSpPr/>
          <p:nvPr/>
        </p:nvSpPr>
        <p:spPr>
          <a:xfrm>
            <a:off x="2468880" y="3721608"/>
            <a:ext cx="1828800" cy="237744"/>
          </a:xfrm>
          <a:prstGeom prst="roundRect">
            <a:avLst>
              <a:gd name="adj" fmla="val 15385"/>
            </a:avLst>
          </a:prstGeom>
          <a:solidFill>
            <a:srgbClr val="161B22"/>
          </a:solidFill>
          <a:ln w="6350">
            <a:solidFill>
              <a:srgbClr val="58A6FF"/>
            </a:solidFill>
            <a:prstDash val="solid"/>
          </a:ln>
        </p:spPr>
        <p:txBody>
          <a:bodyPr/>
          <a:lstStyle/>
          <a:p>
            <a:endParaRPr lang="en-US"/>
          </a:p>
        </p:txBody>
      </p:sp>
      <p:sp>
        <p:nvSpPr>
          <p:cNvPr id="22" name="Text 19"/>
          <p:cNvSpPr txBox="1"/>
          <p:nvPr/>
        </p:nvSpPr>
        <p:spPr>
          <a:xfrm>
            <a:off x="2468880" y="3721608"/>
            <a:ext cx="1828800" cy="237744"/>
          </a:xfrm>
          <a:prstGeom prst="rect">
            <a:avLst/>
          </a:prstGeom>
          <a:noFill/>
          <a:ln/>
        </p:spPr>
        <p:txBody>
          <a:bodyPr wrap="square" lIns="0" tIns="0" rIns="0" bIns="0" rtlCol="0" anchor="ctr"/>
          <a:lstStyle/>
          <a:p>
            <a:pPr marL="0" indent="0" algn="ctr">
              <a:buNone/>
            </a:pPr>
            <a:r>
              <a:rPr lang="en-US" sz="900" b="1" dirty="0">
                <a:solidFill>
                  <a:srgbClr val="58A6FF"/>
                </a:solidFill>
                <a:latin typeface="Calibri" pitchFamily="34" charset="0"/>
                <a:ea typeface="Calibri" pitchFamily="34" charset="-122"/>
                <a:cs typeface="Calibri" pitchFamily="34" charset="-120"/>
              </a:rPr>
              <a:t>SIEM / Search</a:t>
            </a:r>
            <a:endParaRPr lang="en-US" sz="900" dirty="0"/>
          </a:p>
        </p:txBody>
      </p:sp>
      <p:sp>
        <p:nvSpPr>
          <p:cNvPr id="23" name="Text 20"/>
          <p:cNvSpPr txBox="1"/>
          <p:nvPr/>
        </p:nvSpPr>
        <p:spPr>
          <a:xfrm>
            <a:off x="502920" y="4032504"/>
            <a:ext cx="3840480" cy="402336"/>
          </a:xfrm>
          <a:prstGeom prst="rect">
            <a:avLst/>
          </a:prstGeom>
          <a:noFill/>
          <a:ln/>
        </p:spPr>
        <p:txBody>
          <a:bodyPr wrap="square" lIns="0" tIns="0" rIns="0" bIns="0" rtlCol="0" anchor="ctr"/>
          <a:lstStyle/>
          <a:p>
            <a:pPr marL="0" indent="0">
              <a:buNone/>
            </a:pPr>
            <a:r>
              <a:rPr lang="en-US" sz="950" dirty="0">
                <a:solidFill>
                  <a:srgbClr val="8B949E"/>
                </a:solidFill>
                <a:latin typeface="Calibri" pitchFamily="34" charset="0"/>
                <a:ea typeface="Calibri" pitchFamily="34" charset="-122"/>
                <a:cs typeface="Calibri" pitchFamily="34" charset="-120"/>
              </a:rPr>
              <a:t>Index correlated.json events and Zeek logs into Elasticsearch. Build Kibana dashboards over the enriched data for pattern analysis across multiple PCAPs.</a:t>
            </a:r>
            <a:endParaRPr lang="en-US" sz="950" dirty="0"/>
          </a:p>
        </p:txBody>
      </p:sp>
      <p:sp>
        <p:nvSpPr>
          <p:cNvPr id="24" name="Text 21"/>
          <p:cNvSpPr txBox="1"/>
          <p:nvPr/>
        </p:nvSpPr>
        <p:spPr>
          <a:xfrm>
            <a:off x="502920" y="4471416"/>
            <a:ext cx="3840480" cy="201168"/>
          </a:xfrm>
          <a:prstGeom prst="rect">
            <a:avLst/>
          </a:prstGeom>
          <a:noFill/>
          <a:ln/>
        </p:spPr>
        <p:txBody>
          <a:bodyPr wrap="square" lIns="0" tIns="0" rIns="0" bIns="0" rtlCol="0" anchor="ctr"/>
          <a:lstStyle/>
          <a:p>
            <a:pPr marL="0" indent="0">
              <a:buNone/>
            </a:pPr>
            <a:r>
              <a:rPr lang="en-US" sz="950" b="1" dirty="0">
                <a:solidFill>
                  <a:srgbClr val="E6EDF3"/>
                </a:solidFill>
                <a:latin typeface="Calibri" pitchFamily="34" charset="0"/>
                <a:ea typeface="Calibri" pitchFamily="34" charset="-122"/>
                <a:cs typeface="Calibri" pitchFamily="34" charset="-120"/>
              </a:rPr>
              <a:t>→ Add elastic_ingest role using elasticsearch-py</a:t>
            </a:r>
            <a:endParaRPr lang="en-US" sz="950" dirty="0"/>
          </a:p>
        </p:txBody>
      </p:sp>
      <p:sp>
        <p:nvSpPr>
          <p:cNvPr id="25" name="Shape 22"/>
          <p:cNvSpPr/>
          <p:nvPr/>
        </p:nvSpPr>
        <p:spPr>
          <a:xfrm>
            <a:off x="4800600" y="1097280"/>
            <a:ext cx="4114800" cy="1115568"/>
          </a:xfrm>
          <a:prstGeom prst="roundRect">
            <a:avLst>
              <a:gd name="adj" fmla="val 5738"/>
            </a:avLst>
          </a:prstGeom>
          <a:solidFill>
            <a:srgbClr val="1F2937"/>
          </a:solidFill>
          <a:ln w="12700">
            <a:solidFill>
              <a:srgbClr val="3FB950"/>
            </a:solidFill>
            <a:prstDash val="solid"/>
          </a:ln>
        </p:spPr>
        <p:txBody>
          <a:bodyPr/>
          <a:lstStyle/>
          <a:p>
            <a:endParaRPr lang="en-US"/>
          </a:p>
        </p:txBody>
      </p:sp>
      <p:sp>
        <p:nvSpPr>
          <p:cNvPr id="26" name="Text 23"/>
          <p:cNvSpPr txBox="1"/>
          <p:nvPr/>
        </p:nvSpPr>
        <p:spPr>
          <a:xfrm>
            <a:off x="4937760" y="1188720"/>
            <a:ext cx="1828800" cy="274320"/>
          </a:xfrm>
          <a:prstGeom prst="rect">
            <a:avLst/>
          </a:prstGeom>
          <a:noFill/>
          <a:ln/>
        </p:spPr>
        <p:txBody>
          <a:bodyPr wrap="square" lIns="0" tIns="0" rIns="0" bIns="0" rtlCol="0" anchor="ctr"/>
          <a:lstStyle/>
          <a:p>
            <a:pPr marL="0" indent="0">
              <a:buNone/>
            </a:pPr>
            <a:r>
              <a:rPr lang="en-US" sz="1400" b="1" dirty="0">
                <a:solidFill>
                  <a:srgbClr val="3FB950"/>
                </a:solidFill>
                <a:latin typeface="Calibri" pitchFamily="34" charset="0"/>
                <a:ea typeface="Calibri" pitchFamily="34" charset="-122"/>
                <a:cs typeface="Calibri" pitchFamily="34" charset="-120"/>
              </a:rPr>
              <a:t>VirusTotal / AbuseIPDB</a:t>
            </a:r>
            <a:endParaRPr lang="en-US" sz="1400" dirty="0"/>
          </a:p>
        </p:txBody>
      </p:sp>
      <p:sp>
        <p:nvSpPr>
          <p:cNvPr id="27" name="Shape 24"/>
          <p:cNvSpPr/>
          <p:nvPr/>
        </p:nvSpPr>
        <p:spPr>
          <a:xfrm>
            <a:off x="6903720" y="1197864"/>
            <a:ext cx="1828800" cy="237744"/>
          </a:xfrm>
          <a:prstGeom prst="roundRect">
            <a:avLst>
              <a:gd name="adj" fmla="val 15385"/>
            </a:avLst>
          </a:prstGeom>
          <a:solidFill>
            <a:srgbClr val="161B22"/>
          </a:solidFill>
          <a:ln w="6350">
            <a:solidFill>
              <a:srgbClr val="3FB950"/>
            </a:solidFill>
            <a:prstDash val="solid"/>
          </a:ln>
        </p:spPr>
        <p:txBody>
          <a:bodyPr/>
          <a:lstStyle/>
          <a:p>
            <a:endParaRPr lang="en-US"/>
          </a:p>
        </p:txBody>
      </p:sp>
      <p:sp>
        <p:nvSpPr>
          <p:cNvPr id="28" name="Text 25"/>
          <p:cNvSpPr txBox="1"/>
          <p:nvPr/>
        </p:nvSpPr>
        <p:spPr>
          <a:xfrm>
            <a:off x="6903720" y="1197864"/>
            <a:ext cx="1828800" cy="237744"/>
          </a:xfrm>
          <a:prstGeom prst="rect">
            <a:avLst/>
          </a:prstGeom>
          <a:noFill/>
          <a:ln/>
        </p:spPr>
        <p:txBody>
          <a:bodyPr wrap="square" lIns="0" tIns="0" rIns="0" bIns="0" rtlCol="0" anchor="ctr"/>
          <a:lstStyle/>
          <a:p>
            <a:pPr marL="0" indent="0" algn="ctr">
              <a:buNone/>
            </a:pPr>
            <a:r>
              <a:rPr lang="en-US" sz="900" b="1" dirty="0">
                <a:solidFill>
                  <a:srgbClr val="3FB950"/>
                </a:solidFill>
                <a:latin typeface="Calibri" pitchFamily="34" charset="0"/>
                <a:ea typeface="Calibri" pitchFamily="34" charset="-122"/>
                <a:cs typeface="Calibri" pitchFamily="34" charset="-120"/>
              </a:rPr>
              <a:t>Reputation Enrichment</a:t>
            </a:r>
            <a:endParaRPr lang="en-US" sz="900" dirty="0"/>
          </a:p>
        </p:txBody>
      </p:sp>
      <p:sp>
        <p:nvSpPr>
          <p:cNvPr id="29" name="Text 26"/>
          <p:cNvSpPr txBox="1"/>
          <p:nvPr/>
        </p:nvSpPr>
        <p:spPr>
          <a:xfrm>
            <a:off x="4937760" y="1508760"/>
            <a:ext cx="3840480" cy="402336"/>
          </a:xfrm>
          <a:prstGeom prst="rect">
            <a:avLst/>
          </a:prstGeom>
          <a:noFill/>
          <a:ln/>
        </p:spPr>
        <p:txBody>
          <a:bodyPr wrap="square" lIns="0" tIns="0" rIns="0" bIns="0" rtlCol="0" anchor="ctr"/>
          <a:lstStyle/>
          <a:p>
            <a:pPr marL="0" indent="0">
              <a:buNone/>
            </a:pPr>
            <a:r>
              <a:rPr lang="en-US" sz="950" dirty="0">
                <a:solidFill>
                  <a:srgbClr val="8B949E"/>
                </a:solidFill>
                <a:latin typeface="Calibri" pitchFamily="34" charset="0"/>
                <a:ea typeface="Calibri" pitchFamily="34" charset="-122"/>
                <a:cs typeface="Calibri" pitchFamily="34" charset="-120"/>
              </a:rPr>
              <a:t>Enrich geo-asn.py output with VT file hash reputation for extracted files and AbuseIPDB scores for flagged IPs, adding a confidence layer to the report.</a:t>
            </a:r>
            <a:endParaRPr lang="en-US" sz="950" dirty="0"/>
          </a:p>
        </p:txBody>
      </p:sp>
      <p:sp>
        <p:nvSpPr>
          <p:cNvPr id="30" name="Text 27"/>
          <p:cNvSpPr txBox="1"/>
          <p:nvPr/>
        </p:nvSpPr>
        <p:spPr>
          <a:xfrm>
            <a:off x="4937760" y="1947672"/>
            <a:ext cx="3840480" cy="201168"/>
          </a:xfrm>
          <a:prstGeom prst="rect">
            <a:avLst/>
          </a:prstGeom>
          <a:noFill/>
          <a:ln/>
        </p:spPr>
        <p:txBody>
          <a:bodyPr wrap="square" lIns="0" tIns="0" rIns="0" bIns="0" rtlCol="0" anchor="ctr"/>
          <a:lstStyle/>
          <a:p>
            <a:pPr marL="0" indent="0">
              <a:buNone/>
            </a:pPr>
            <a:r>
              <a:rPr lang="en-US" sz="950" b="1" dirty="0">
                <a:solidFill>
                  <a:srgbClr val="E6EDF3"/>
                </a:solidFill>
                <a:latin typeface="Calibri" pitchFamily="34" charset="0"/>
                <a:ea typeface="Calibri" pitchFamily="34" charset="-122"/>
                <a:cs typeface="Calibri" pitchFamily="34" charset="-120"/>
              </a:rPr>
              <a:t>→ Extend python_asngeo with vt-py and abuseipdb API</a:t>
            </a:r>
            <a:endParaRPr lang="en-US" sz="950" dirty="0"/>
          </a:p>
        </p:txBody>
      </p:sp>
      <p:sp>
        <p:nvSpPr>
          <p:cNvPr id="31" name="Shape 28"/>
          <p:cNvSpPr/>
          <p:nvPr/>
        </p:nvSpPr>
        <p:spPr>
          <a:xfrm>
            <a:off x="4800600" y="2359152"/>
            <a:ext cx="4114800" cy="1115568"/>
          </a:xfrm>
          <a:prstGeom prst="roundRect">
            <a:avLst>
              <a:gd name="adj" fmla="val 5738"/>
            </a:avLst>
          </a:prstGeom>
          <a:solidFill>
            <a:srgbClr val="1F2937"/>
          </a:solidFill>
          <a:ln w="12700">
            <a:solidFill>
              <a:srgbClr val="BC8CFF"/>
            </a:solidFill>
            <a:prstDash val="solid"/>
          </a:ln>
        </p:spPr>
        <p:txBody>
          <a:bodyPr/>
          <a:lstStyle/>
          <a:p>
            <a:endParaRPr lang="en-US"/>
          </a:p>
        </p:txBody>
      </p:sp>
      <p:sp>
        <p:nvSpPr>
          <p:cNvPr id="32" name="Text 29"/>
          <p:cNvSpPr txBox="1"/>
          <p:nvPr/>
        </p:nvSpPr>
        <p:spPr>
          <a:xfrm>
            <a:off x="4937760" y="2450592"/>
            <a:ext cx="1828800" cy="274320"/>
          </a:xfrm>
          <a:prstGeom prst="rect">
            <a:avLst/>
          </a:prstGeom>
          <a:noFill/>
          <a:ln/>
        </p:spPr>
        <p:txBody>
          <a:bodyPr wrap="square" lIns="0" tIns="0" rIns="0" bIns="0" rtlCol="0" anchor="ctr"/>
          <a:lstStyle/>
          <a:p>
            <a:pPr marL="0" indent="0">
              <a:buNone/>
            </a:pPr>
            <a:r>
              <a:rPr lang="en-US" sz="1400" b="1" dirty="0">
                <a:solidFill>
                  <a:srgbClr val="BC8CFF"/>
                </a:solidFill>
                <a:latin typeface="Calibri" pitchFamily="34" charset="0"/>
                <a:ea typeface="Calibri" pitchFamily="34" charset="-122"/>
                <a:cs typeface="Calibri" pitchFamily="34" charset="-120"/>
              </a:rPr>
              <a:t>Slack / Email Alerts</a:t>
            </a:r>
            <a:endParaRPr lang="en-US" sz="1400" dirty="0"/>
          </a:p>
        </p:txBody>
      </p:sp>
      <p:sp>
        <p:nvSpPr>
          <p:cNvPr id="33" name="Shape 30"/>
          <p:cNvSpPr/>
          <p:nvPr/>
        </p:nvSpPr>
        <p:spPr>
          <a:xfrm>
            <a:off x="6903720" y="2459736"/>
            <a:ext cx="1828800" cy="237744"/>
          </a:xfrm>
          <a:prstGeom prst="roundRect">
            <a:avLst>
              <a:gd name="adj" fmla="val 15385"/>
            </a:avLst>
          </a:prstGeom>
          <a:solidFill>
            <a:srgbClr val="161B22"/>
          </a:solidFill>
          <a:ln w="6350">
            <a:solidFill>
              <a:srgbClr val="BC8CFF"/>
            </a:solidFill>
            <a:prstDash val="solid"/>
          </a:ln>
        </p:spPr>
        <p:txBody>
          <a:bodyPr/>
          <a:lstStyle/>
          <a:p>
            <a:endParaRPr lang="en-US"/>
          </a:p>
        </p:txBody>
      </p:sp>
      <p:sp>
        <p:nvSpPr>
          <p:cNvPr id="34" name="Text 31"/>
          <p:cNvSpPr txBox="1"/>
          <p:nvPr/>
        </p:nvSpPr>
        <p:spPr>
          <a:xfrm>
            <a:off x="6903720" y="2459736"/>
            <a:ext cx="1828800" cy="237744"/>
          </a:xfrm>
          <a:prstGeom prst="rect">
            <a:avLst/>
          </a:prstGeom>
          <a:noFill/>
          <a:ln/>
        </p:spPr>
        <p:txBody>
          <a:bodyPr wrap="square" lIns="0" tIns="0" rIns="0" bIns="0" rtlCol="0" anchor="ctr"/>
          <a:lstStyle/>
          <a:p>
            <a:pPr marL="0" indent="0" algn="ctr">
              <a:buNone/>
            </a:pPr>
            <a:r>
              <a:rPr lang="en-US" sz="900" b="1" dirty="0">
                <a:solidFill>
                  <a:srgbClr val="BC8CFF"/>
                </a:solidFill>
                <a:latin typeface="Calibri" pitchFamily="34" charset="0"/>
                <a:ea typeface="Calibri" pitchFamily="34" charset="-122"/>
                <a:cs typeface="Calibri" pitchFamily="34" charset="-120"/>
              </a:rPr>
              <a:t>Notification</a:t>
            </a:r>
            <a:endParaRPr lang="en-US" sz="900" dirty="0"/>
          </a:p>
        </p:txBody>
      </p:sp>
      <p:sp>
        <p:nvSpPr>
          <p:cNvPr id="35" name="Text 32"/>
          <p:cNvSpPr txBox="1"/>
          <p:nvPr/>
        </p:nvSpPr>
        <p:spPr>
          <a:xfrm>
            <a:off x="4937760" y="2770632"/>
            <a:ext cx="3840480" cy="402336"/>
          </a:xfrm>
          <a:prstGeom prst="rect">
            <a:avLst/>
          </a:prstGeom>
          <a:noFill/>
          <a:ln/>
        </p:spPr>
        <p:txBody>
          <a:bodyPr wrap="square" lIns="0" tIns="0" rIns="0" bIns="0" rtlCol="0" anchor="ctr"/>
          <a:lstStyle/>
          <a:p>
            <a:pPr marL="0" indent="0">
              <a:buNone/>
            </a:pPr>
            <a:r>
              <a:rPr lang="en-US" sz="950" dirty="0">
                <a:solidFill>
                  <a:srgbClr val="8B949E"/>
                </a:solidFill>
                <a:latin typeface="Calibri" pitchFamily="34" charset="0"/>
                <a:ea typeface="Calibri" pitchFamily="34" charset="-122"/>
                <a:cs typeface="Calibri" pitchFamily="34" charset="-120"/>
              </a:rPr>
              <a:t>Post a summary to Slack or send an email when high-severity alerts are found, including the top stat from stats_report.md and a link to FINAL_REPORT.md.</a:t>
            </a:r>
            <a:endParaRPr lang="en-US" sz="950" dirty="0"/>
          </a:p>
        </p:txBody>
      </p:sp>
      <p:sp>
        <p:nvSpPr>
          <p:cNvPr id="36" name="Text 33"/>
          <p:cNvSpPr txBox="1"/>
          <p:nvPr/>
        </p:nvSpPr>
        <p:spPr>
          <a:xfrm>
            <a:off x="4937760" y="3209544"/>
            <a:ext cx="3840480" cy="201168"/>
          </a:xfrm>
          <a:prstGeom prst="rect">
            <a:avLst/>
          </a:prstGeom>
          <a:noFill/>
          <a:ln/>
        </p:spPr>
        <p:txBody>
          <a:bodyPr wrap="square" lIns="0" tIns="0" rIns="0" bIns="0" rtlCol="0" anchor="ctr"/>
          <a:lstStyle/>
          <a:p>
            <a:pPr marL="0" indent="0">
              <a:buNone/>
            </a:pPr>
            <a:r>
              <a:rPr lang="en-US" sz="950" b="1" dirty="0">
                <a:solidFill>
                  <a:srgbClr val="E6EDF3"/>
                </a:solidFill>
                <a:latin typeface="Calibri" pitchFamily="34" charset="0"/>
                <a:ea typeface="Calibri" pitchFamily="34" charset="-122"/>
                <a:cs typeface="Calibri" pitchFamily="34" charset="-120"/>
              </a:rPr>
              <a:t>→ Add notify role at end of playbook</a:t>
            </a:r>
            <a:endParaRPr lang="en-US" sz="950" dirty="0"/>
          </a:p>
        </p:txBody>
      </p:sp>
      <p:sp>
        <p:nvSpPr>
          <p:cNvPr id="37" name="Shape 34"/>
          <p:cNvSpPr/>
          <p:nvPr/>
        </p:nvSpPr>
        <p:spPr>
          <a:xfrm>
            <a:off x="0" y="5106924"/>
            <a:ext cx="9144000" cy="36576"/>
          </a:xfrm>
          <a:prstGeom prst="rect">
            <a:avLst/>
          </a:prstGeom>
          <a:solidFill>
            <a:srgbClr val="BC8CFF"/>
          </a:solidFill>
          <a:ln/>
        </p:spPr>
        <p:txBody>
          <a:bodyPr/>
          <a:lstStyle/>
          <a:p>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Shape 0"/>
          <p:cNvSpPr/>
          <p:nvPr/>
        </p:nvSpPr>
        <p:spPr>
          <a:xfrm>
            <a:off x="0" y="0"/>
            <a:ext cx="9144000" cy="5143500"/>
          </a:xfrm>
          <a:prstGeom prst="rect">
            <a:avLst/>
          </a:prstGeom>
          <a:solidFill>
            <a:srgbClr val="0D1117"/>
          </a:solidFill>
          <a:ln/>
        </p:spPr>
        <p:txBody>
          <a:bodyPr/>
          <a:lstStyle/>
          <a:p>
            <a:endParaRPr lang="en-US"/>
          </a:p>
        </p:txBody>
      </p:sp>
      <p:sp>
        <p:nvSpPr>
          <p:cNvPr id="4" name="Shape 1"/>
          <p:cNvSpPr/>
          <p:nvPr/>
        </p:nvSpPr>
        <p:spPr>
          <a:xfrm>
            <a:off x="0" y="0"/>
            <a:ext cx="9144000" cy="36576"/>
          </a:xfrm>
          <a:prstGeom prst="rect">
            <a:avLst/>
          </a:prstGeom>
          <a:solidFill>
            <a:srgbClr val="BC8CFF"/>
          </a:solidFill>
          <a:ln/>
        </p:spPr>
        <p:txBody>
          <a:bodyPr/>
          <a:lstStyle/>
          <a:p>
            <a:endParaRPr lang="en-US"/>
          </a:p>
        </p:txBody>
      </p:sp>
      <p:sp>
        <p:nvSpPr>
          <p:cNvPr id="5" name="Text 2"/>
          <p:cNvSpPr txBox="1"/>
          <p:nvPr/>
        </p:nvSpPr>
        <p:spPr>
          <a:xfrm>
            <a:off x="457200" y="201168"/>
            <a:ext cx="8229600" cy="237744"/>
          </a:xfrm>
          <a:prstGeom prst="rect">
            <a:avLst/>
          </a:prstGeom>
          <a:noFill/>
          <a:ln/>
        </p:spPr>
        <p:txBody>
          <a:bodyPr wrap="square" lIns="0" tIns="0" rIns="0" bIns="0" rtlCol="0" anchor="ctr"/>
          <a:lstStyle/>
          <a:p>
            <a:pPr marL="0" indent="0">
              <a:buNone/>
            </a:pPr>
            <a:r>
              <a:rPr lang="en-US" sz="1000" b="1" kern="0" spc="300" dirty="0">
                <a:solidFill>
                  <a:srgbClr val="BC8CFF"/>
                </a:solidFill>
                <a:latin typeface="Calibri" pitchFamily="34" charset="0"/>
                <a:ea typeface="Calibri" pitchFamily="34" charset="-122"/>
                <a:cs typeface="Calibri" pitchFamily="34" charset="-120"/>
              </a:rPr>
              <a:t>NEXT INTEGRATIONS</a:t>
            </a:r>
            <a:endParaRPr lang="en-US" sz="1000" dirty="0"/>
          </a:p>
        </p:txBody>
      </p:sp>
      <p:sp>
        <p:nvSpPr>
          <p:cNvPr id="6" name="Text 3"/>
          <p:cNvSpPr txBox="1"/>
          <p:nvPr/>
        </p:nvSpPr>
        <p:spPr>
          <a:xfrm>
            <a:off x="457200" y="502920"/>
            <a:ext cx="8229600" cy="457200"/>
          </a:xfrm>
          <a:prstGeom prst="rect">
            <a:avLst/>
          </a:prstGeom>
          <a:noFill/>
          <a:ln/>
        </p:spPr>
        <p:txBody>
          <a:bodyPr wrap="square" lIns="0" tIns="0" rIns="0" bIns="0" rtlCol="0" anchor="ctr"/>
          <a:lstStyle/>
          <a:p>
            <a:pPr marL="0" indent="0">
              <a:buNone/>
            </a:pPr>
            <a:r>
              <a:rPr lang="en-US" sz="2600" b="1" dirty="0">
                <a:solidFill>
                  <a:srgbClr val="E6EDF3"/>
                </a:solidFill>
                <a:latin typeface="Calibri" pitchFamily="34" charset="0"/>
                <a:ea typeface="Calibri" pitchFamily="34" charset="-122"/>
                <a:cs typeface="Calibri" pitchFamily="34" charset="-120"/>
              </a:rPr>
              <a:t>Suggested Integration Order</a:t>
            </a:r>
            <a:endParaRPr lang="en-US" sz="2600" dirty="0"/>
          </a:p>
        </p:txBody>
      </p:sp>
      <p:sp>
        <p:nvSpPr>
          <p:cNvPr id="7" name="Shape 4"/>
          <p:cNvSpPr/>
          <p:nvPr/>
        </p:nvSpPr>
        <p:spPr>
          <a:xfrm>
            <a:off x="365760" y="1170432"/>
            <a:ext cx="1280160" cy="502920"/>
          </a:xfrm>
          <a:prstGeom prst="roundRect">
            <a:avLst>
              <a:gd name="adj" fmla="val 10909"/>
            </a:avLst>
          </a:prstGeom>
          <a:solidFill>
            <a:srgbClr val="3FB950"/>
          </a:solidFill>
          <a:ln/>
        </p:spPr>
        <p:txBody>
          <a:bodyPr/>
          <a:lstStyle/>
          <a:p>
            <a:endParaRPr lang="en-US"/>
          </a:p>
        </p:txBody>
      </p:sp>
      <p:sp>
        <p:nvSpPr>
          <p:cNvPr id="8" name="Text 5"/>
          <p:cNvSpPr txBox="1"/>
          <p:nvPr/>
        </p:nvSpPr>
        <p:spPr>
          <a:xfrm>
            <a:off x="365760" y="1170432"/>
            <a:ext cx="1280160" cy="502920"/>
          </a:xfrm>
          <a:prstGeom prst="rect">
            <a:avLst/>
          </a:prstGeom>
          <a:noFill/>
          <a:ln/>
        </p:spPr>
        <p:txBody>
          <a:bodyPr wrap="square" lIns="0" tIns="0" rIns="0" bIns="0" rtlCol="0" anchor="ctr"/>
          <a:lstStyle/>
          <a:p>
            <a:pPr marL="0" indent="0" algn="ctr">
              <a:buNone/>
            </a:pPr>
            <a:r>
              <a:rPr lang="en-US" sz="1100" b="1" dirty="0">
                <a:solidFill>
                  <a:srgbClr val="0D1117"/>
                </a:solidFill>
                <a:latin typeface="Calibri" pitchFamily="34" charset="0"/>
                <a:ea typeface="Calibri" pitchFamily="34" charset="-122"/>
                <a:cs typeface="Calibri" pitchFamily="34" charset="-120"/>
              </a:rPr>
              <a:t>Quick Win</a:t>
            </a:r>
            <a:endParaRPr lang="en-US" sz="1100" dirty="0"/>
          </a:p>
        </p:txBody>
      </p:sp>
      <p:sp>
        <p:nvSpPr>
          <p:cNvPr id="9" name="Text 6"/>
          <p:cNvSpPr txBox="1"/>
          <p:nvPr/>
        </p:nvSpPr>
        <p:spPr>
          <a:xfrm>
            <a:off x="1874520" y="1188720"/>
            <a:ext cx="2743200" cy="274320"/>
          </a:xfrm>
          <a:prstGeom prst="rect">
            <a:avLst/>
          </a:prstGeom>
          <a:noFill/>
          <a:ln/>
        </p:spPr>
        <p:txBody>
          <a:bodyPr wrap="square" lIns="0" tIns="0" rIns="0" bIns="0" rtlCol="0" anchor="ctr"/>
          <a:lstStyle/>
          <a:p>
            <a:pPr marL="0" indent="0">
              <a:buNone/>
            </a:pPr>
            <a:r>
              <a:rPr lang="en-US" sz="1400" b="1" dirty="0">
                <a:solidFill>
                  <a:srgbClr val="E6EDF3"/>
                </a:solidFill>
                <a:latin typeface="Calibri" pitchFamily="34" charset="0"/>
                <a:ea typeface="Calibri" pitchFamily="34" charset="-122"/>
                <a:cs typeface="Calibri" pitchFamily="34" charset="-120"/>
              </a:rPr>
              <a:t>VirusTotal / AbuseIPDB</a:t>
            </a:r>
            <a:endParaRPr lang="en-US" sz="1400" dirty="0"/>
          </a:p>
        </p:txBody>
      </p:sp>
      <p:sp>
        <p:nvSpPr>
          <p:cNvPr id="10" name="Shape 7"/>
          <p:cNvSpPr/>
          <p:nvPr/>
        </p:nvSpPr>
        <p:spPr>
          <a:xfrm>
            <a:off x="4709160" y="1207008"/>
            <a:ext cx="1645920" cy="256032"/>
          </a:xfrm>
          <a:prstGeom prst="roundRect">
            <a:avLst>
              <a:gd name="adj" fmla="val 14286"/>
            </a:avLst>
          </a:prstGeom>
          <a:solidFill>
            <a:srgbClr val="1F2937"/>
          </a:solidFill>
          <a:ln w="9525">
            <a:solidFill>
              <a:srgbClr val="30363D"/>
            </a:solidFill>
            <a:prstDash val="solid"/>
          </a:ln>
        </p:spPr>
        <p:txBody>
          <a:bodyPr/>
          <a:lstStyle/>
          <a:p>
            <a:endParaRPr lang="en-US"/>
          </a:p>
        </p:txBody>
      </p:sp>
      <p:sp>
        <p:nvSpPr>
          <p:cNvPr id="11" name="Text 8"/>
          <p:cNvSpPr txBox="1"/>
          <p:nvPr/>
        </p:nvSpPr>
        <p:spPr>
          <a:xfrm>
            <a:off x="4709160" y="1207008"/>
            <a:ext cx="1645920" cy="256032"/>
          </a:xfrm>
          <a:prstGeom prst="rect">
            <a:avLst/>
          </a:prstGeom>
          <a:noFill/>
          <a:ln/>
        </p:spPr>
        <p:txBody>
          <a:bodyPr wrap="square" lIns="0" tIns="0" rIns="0" bIns="0" rtlCol="0" anchor="ctr"/>
          <a:lstStyle/>
          <a:p>
            <a:pPr marL="0" indent="0" algn="ctr">
              <a:buNone/>
            </a:pPr>
            <a:r>
              <a:rPr lang="en-US" sz="950" dirty="0">
                <a:solidFill>
                  <a:srgbClr val="8B949E"/>
                </a:solidFill>
                <a:latin typeface="Calibri" pitchFamily="34" charset="0"/>
                <a:ea typeface="Calibri" pitchFamily="34" charset="-122"/>
                <a:cs typeface="Calibri" pitchFamily="34" charset="-120"/>
              </a:rPr>
              <a:t>Low effort</a:t>
            </a:r>
            <a:endParaRPr lang="en-US" sz="950" dirty="0"/>
          </a:p>
        </p:txBody>
      </p:sp>
      <p:sp>
        <p:nvSpPr>
          <p:cNvPr id="12" name="Text 9"/>
          <p:cNvSpPr txBox="1"/>
          <p:nvPr/>
        </p:nvSpPr>
        <p:spPr>
          <a:xfrm>
            <a:off x="6492240" y="1188720"/>
            <a:ext cx="2286000" cy="274320"/>
          </a:xfrm>
          <a:prstGeom prst="rect">
            <a:avLst/>
          </a:prstGeom>
          <a:noFill/>
          <a:ln/>
        </p:spPr>
        <p:txBody>
          <a:bodyPr wrap="square" lIns="0" tIns="0" rIns="0" bIns="0" rtlCol="0" anchor="ctr"/>
          <a:lstStyle/>
          <a:p>
            <a:pPr marL="0" indent="0">
              <a:buNone/>
            </a:pPr>
            <a:r>
              <a:rPr lang="en-US" sz="1100" dirty="0">
                <a:solidFill>
                  <a:srgbClr val="8B949E"/>
                </a:solidFill>
                <a:latin typeface="Calibri" pitchFamily="34" charset="0"/>
                <a:ea typeface="Calibri" pitchFamily="34" charset="-122"/>
                <a:cs typeface="Calibri" pitchFamily="34" charset="-120"/>
              </a:rPr>
              <a:t>Instant IP &amp; hash reputation in reports</a:t>
            </a:r>
            <a:endParaRPr lang="en-US" sz="1100" dirty="0"/>
          </a:p>
        </p:txBody>
      </p:sp>
      <p:sp>
        <p:nvSpPr>
          <p:cNvPr id="13" name="Shape 10"/>
          <p:cNvSpPr/>
          <p:nvPr/>
        </p:nvSpPr>
        <p:spPr>
          <a:xfrm>
            <a:off x="960120" y="1673352"/>
            <a:ext cx="18288" cy="155448"/>
          </a:xfrm>
          <a:prstGeom prst="rect">
            <a:avLst/>
          </a:prstGeom>
          <a:solidFill>
            <a:srgbClr val="30363D"/>
          </a:solidFill>
          <a:ln/>
        </p:spPr>
        <p:txBody>
          <a:bodyPr/>
          <a:lstStyle/>
          <a:p>
            <a:endParaRPr lang="en-US"/>
          </a:p>
        </p:txBody>
      </p:sp>
      <p:sp>
        <p:nvSpPr>
          <p:cNvPr id="14" name="Shape 11"/>
          <p:cNvSpPr/>
          <p:nvPr/>
        </p:nvSpPr>
        <p:spPr>
          <a:xfrm>
            <a:off x="365760" y="1901952"/>
            <a:ext cx="1280160" cy="502920"/>
          </a:xfrm>
          <a:prstGeom prst="roundRect">
            <a:avLst>
              <a:gd name="adj" fmla="val 10909"/>
            </a:avLst>
          </a:prstGeom>
          <a:solidFill>
            <a:srgbClr val="58A6FF"/>
          </a:solidFill>
          <a:ln/>
        </p:spPr>
        <p:txBody>
          <a:bodyPr/>
          <a:lstStyle/>
          <a:p>
            <a:endParaRPr lang="en-US"/>
          </a:p>
        </p:txBody>
      </p:sp>
      <p:sp>
        <p:nvSpPr>
          <p:cNvPr id="15" name="Text 12"/>
          <p:cNvSpPr txBox="1"/>
          <p:nvPr/>
        </p:nvSpPr>
        <p:spPr>
          <a:xfrm>
            <a:off x="365760" y="1901952"/>
            <a:ext cx="1280160" cy="502920"/>
          </a:xfrm>
          <a:prstGeom prst="rect">
            <a:avLst/>
          </a:prstGeom>
          <a:noFill/>
          <a:ln/>
        </p:spPr>
        <p:txBody>
          <a:bodyPr wrap="square" lIns="0" tIns="0" rIns="0" bIns="0" rtlCol="0" anchor="ctr"/>
          <a:lstStyle/>
          <a:p>
            <a:pPr marL="0" indent="0" algn="ctr">
              <a:buNone/>
            </a:pPr>
            <a:r>
              <a:rPr lang="en-US" sz="1100" b="1" dirty="0">
                <a:solidFill>
                  <a:srgbClr val="0D1117"/>
                </a:solidFill>
                <a:latin typeface="Calibri" pitchFamily="34" charset="0"/>
                <a:ea typeface="Calibri" pitchFamily="34" charset="-122"/>
                <a:cs typeface="Calibri" pitchFamily="34" charset="-120"/>
              </a:rPr>
              <a:t>Phase 2</a:t>
            </a:r>
            <a:endParaRPr lang="en-US" sz="1100" dirty="0"/>
          </a:p>
        </p:txBody>
      </p:sp>
      <p:sp>
        <p:nvSpPr>
          <p:cNvPr id="16" name="Text 13"/>
          <p:cNvSpPr txBox="1"/>
          <p:nvPr/>
        </p:nvSpPr>
        <p:spPr>
          <a:xfrm>
            <a:off x="1874520" y="1920240"/>
            <a:ext cx="2743200" cy="274320"/>
          </a:xfrm>
          <a:prstGeom prst="rect">
            <a:avLst/>
          </a:prstGeom>
          <a:noFill/>
          <a:ln/>
        </p:spPr>
        <p:txBody>
          <a:bodyPr wrap="square" lIns="0" tIns="0" rIns="0" bIns="0" rtlCol="0" anchor="ctr"/>
          <a:lstStyle/>
          <a:p>
            <a:pPr marL="0" indent="0">
              <a:buNone/>
            </a:pPr>
            <a:r>
              <a:rPr lang="en-US" sz="1400" b="1" dirty="0">
                <a:solidFill>
                  <a:srgbClr val="E6EDF3"/>
                </a:solidFill>
                <a:latin typeface="Calibri" pitchFamily="34" charset="0"/>
                <a:ea typeface="Calibri" pitchFamily="34" charset="-122"/>
                <a:cs typeface="Calibri" pitchFamily="34" charset="-120"/>
              </a:rPr>
              <a:t>MISP</a:t>
            </a:r>
            <a:endParaRPr lang="en-US" sz="1400" dirty="0"/>
          </a:p>
        </p:txBody>
      </p:sp>
      <p:sp>
        <p:nvSpPr>
          <p:cNvPr id="17" name="Shape 14"/>
          <p:cNvSpPr/>
          <p:nvPr/>
        </p:nvSpPr>
        <p:spPr>
          <a:xfrm>
            <a:off x="4709160" y="1938528"/>
            <a:ext cx="1645920" cy="256032"/>
          </a:xfrm>
          <a:prstGeom prst="roundRect">
            <a:avLst>
              <a:gd name="adj" fmla="val 14286"/>
            </a:avLst>
          </a:prstGeom>
          <a:solidFill>
            <a:srgbClr val="1F2937"/>
          </a:solidFill>
          <a:ln w="9525">
            <a:solidFill>
              <a:srgbClr val="30363D"/>
            </a:solidFill>
            <a:prstDash val="solid"/>
          </a:ln>
        </p:spPr>
        <p:txBody>
          <a:bodyPr/>
          <a:lstStyle/>
          <a:p>
            <a:endParaRPr lang="en-US"/>
          </a:p>
        </p:txBody>
      </p:sp>
      <p:sp>
        <p:nvSpPr>
          <p:cNvPr id="18" name="Text 15"/>
          <p:cNvSpPr txBox="1"/>
          <p:nvPr/>
        </p:nvSpPr>
        <p:spPr>
          <a:xfrm>
            <a:off x="4709160" y="1938528"/>
            <a:ext cx="1645920" cy="256032"/>
          </a:xfrm>
          <a:prstGeom prst="rect">
            <a:avLst/>
          </a:prstGeom>
          <a:noFill/>
          <a:ln/>
        </p:spPr>
        <p:txBody>
          <a:bodyPr wrap="square" lIns="0" tIns="0" rIns="0" bIns="0" rtlCol="0" anchor="ctr"/>
          <a:lstStyle/>
          <a:p>
            <a:pPr marL="0" indent="0" algn="ctr">
              <a:buNone/>
            </a:pPr>
            <a:r>
              <a:rPr lang="en-US" sz="950" dirty="0">
                <a:solidFill>
                  <a:srgbClr val="8B949E"/>
                </a:solidFill>
                <a:latin typeface="Calibri" pitchFamily="34" charset="0"/>
                <a:ea typeface="Calibri" pitchFamily="34" charset="-122"/>
                <a:cs typeface="Calibri" pitchFamily="34" charset="-120"/>
              </a:rPr>
              <a:t>Medium</a:t>
            </a:r>
            <a:endParaRPr lang="en-US" sz="950" dirty="0"/>
          </a:p>
        </p:txBody>
      </p:sp>
      <p:sp>
        <p:nvSpPr>
          <p:cNvPr id="19" name="Text 16"/>
          <p:cNvSpPr txBox="1"/>
          <p:nvPr/>
        </p:nvSpPr>
        <p:spPr>
          <a:xfrm>
            <a:off x="6492240" y="1920240"/>
            <a:ext cx="2286000" cy="274320"/>
          </a:xfrm>
          <a:prstGeom prst="rect">
            <a:avLst/>
          </a:prstGeom>
          <a:noFill/>
          <a:ln/>
        </p:spPr>
        <p:txBody>
          <a:bodyPr wrap="square" lIns="0" tIns="0" rIns="0" bIns="0" rtlCol="0" anchor="ctr"/>
          <a:lstStyle/>
          <a:p>
            <a:pPr marL="0" indent="0">
              <a:buNone/>
            </a:pPr>
            <a:r>
              <a:rPr lang="en-US" sz="1100" dirty="0">
                <a:solidFill>
                  <a:srgbClr val="8B949E"/>
                </a:solidFill>
                <a:latin typeface="Calibri" pitchFamily="34" charset="0"/>
                <a:ea typeface="Calibri" pitchFamily="34" charset="-122"/>
                <a:cs typeface="Calibri" pitchFamily="34" charset="-120"/>
              </a:rPr>
              <a:t>IOC sharing + threat feed cross-reference</a:t>
            </a:r>
            <a:endParaRPr lang="en-US" sz="1100" dirty="0"/>
          </a:p>
        </p:txBody>
      </p:sp>
      <p:sp>
        <p:nvSpPr>
          <p:cNvPr id="20" name="Shape 17"/>
          <p:cNvSpPr/>
          <p:nvPr/>
        </p:nvSpPr>
        <p:spPr>
          <a:xfrm>
            <a:off x="960120" y="2404872"/>
            <a:ext cx="18288" cy="155448"/>
          </a:xfrm>
          <a:prstGeom prst="rect">
            <a:avLst/>
          </a:prstGeom>
          <a:solidFill>
            <a:srgbClr val="30363D"/>
          </a:solidFill>
          <a:ln/>
        </p:spPr>
        <p:txBody>
          <a:bodyPr/>
          <a:lstStyle/>
          <a:p>
            <a:endParaRPr lang="en-US"/>
          </a:p>
        </p:txBody>
      </p:sp>
      <p:sp>
        <p:nvSpPr>
          <p:cNvPr id="21" name="Shape 18"/>
          <p:cNvSpPr/>
          <p:nvPr/>
        </p:nvSpPr>
        <p:spPr>
          <a:xfrm>
            <a:off x="365760" y="2633472"/>
            <a:ext cx="1280160" cy="502920"/>
          </a:xfrm>
          <a:prstGeom prst="roundRect">
            <a:avLst>
              <a:gd name="adj" fmla="val 10909"/>
            </a:avLst>
          </a:prstGeom>
          <a:solidFill>
            <a:srgbClr val="D29922"/>
          </a:solidFill>
          <a:ln/>
        </p:spPr>
        <p:txBody>
          <a:bodyPr/>
          <a:lstStyle/>
          <a:p>
            <a:endParaRPr lang="en-US"/>
          </a:p>
        </p:txBody>
      </p:sp>
      <p:sp>
        <p:nvSpPr>
          <p:cNvPr id="22" name="Text 19"/>
          <p:cNvSpPr txBox="1"/>
          <p:nvPr/>
        </p:nvSpPr>
        <p:spPr>
          <a:xfrm>
            <a:off x="365760" y="2633472"/>
            <a:ext cx="1280160" cy="502920"/>
          </a:xfrm>
          <a:prstGeom prst="rect">
            <a:avLst/>
          </a:prstGeom>
          <a:noFill/>
          <a:ln/>
        </p:spPr>
        <p:txBody>
          <a:bodyPr wrap="square" lIns="0" tIns="0" rIns="0" bIns="0" rtlCol="0" anchor="ctr"/>
          <a:lstStyle/>
          <a:p>
            <a:pPr marL="0" indent="0" algn="ctr">
              <a:buNone/>
            </a:pPr>
            <a:r>
              <a:rPr lang="en-US" sz="1100" b="1" dirty="0">
                <a:solidFill>
                  <a:srgbClr val="0D1117"/>
                </a:solidFill>
                <a:latin typeface="Calibri" pitchFamily="34" charset="0"/>
                <a:ea typeface="Calibri" pitchFamily="34" charset="-122"/>
                <a:cs typeface="Calibri" pitchFamily="34" charset="-120"/>
              </a:rPr>
              <a:t>Phase 3</a:t>
            </a:r>
            <a:endParaRPr lang="en-US" sz="1100" dirty="0"/>
          </a:p>
        </p:txBody>
      </p:sp>
      <p:sp>
        <p:nvSpPr>
          <p:cNvPr id="23" name="Text 20"/>
          <p:cNvSpPr txBox="1"/>
          <p:nvPr/>
        </p:nvSpPr>
        <p:spPr>
          <a:xfrm>
            <a:off x="1874520" y="2651760"/>
            <a:ext cx="2743200" cy="274320"/>
          </a:xfrm>
          <a:prstGeom prst="rect">
            <a:avLst/>
          </a:prstGeom>
          <a:noFill/>
          <a:ln/>
        </p:spPr>
        <p:txBody>
          <a:bodyPr wrap="square" lIns="0" tIns="0" rIns="0" bIns="0" rtlCol="0" anchor="ctr"/>
          <a:lstStyle/>
          <a:p>
            <a:pPr marL="0" indent="0">
              <a:buNone/>
            </a:pPr>
            <a:r>
              <a:rPr lang="en-US" sz="1400" b="1" dirty="0">
                <a:solidFill>
                  <a:srgbClr val="E6EDF3"/>
                </a:solidFill>
                <a:latin typeface="Calibri" pitchFamily="34" charset="0"/>
                <a:ea typeface="Calibri" pitchFamily="34" charset="-122"/>
                <a:cs typeface="Calibri" pitchFamily="34" charset="-120"/>
              </a:rPr>
              <a:t>TheHive</a:t>
            </a:r>
            <a:endParaRPr lang="en-US" sz="1400" dirty="0"/>
          </a:p>
        </p:txBody>
      </p:sp>
      <p:sp>
        <p:nvSpPr>
          <p:cNvPr id="24" name="Shape 21"/>
          <p:cNvSpPr/>
          <p:nvPr/>
        </p:nvSpPr>
        <p:spPr>
          <a:xfrm>
            <a:off x="4709160" y="2670048"/>
            <a:ext cx="1645920" cy="256032"/>
          </a:xfrm>
          <a:prstGeom prst="roundRect">
            <a:avLst>
              <a:gd name="adj" fmla="val 14286"/>
            </a:avLst>
          </a:prstGeom>
          <a:solidFill>
            <a:srgbClr val="1F2937"/>
          </a:solidFill>
          <a:ln w="9525">
            <a:solidFill>
              <a:srgbClr val="30363D"/>
            </a:solidFill>
            <a:prstDash val="solid"/>
          </a:ln>
        </p:spPr>
        <p:txBody>
          <a:bodyPr/>
          <a:lstStyle/>
          <a:p>
            <a:endParaRPr lang="en-US"/>
          </a:p>
        </p:txBody>
      </p:sp>
      <p:sp>
        <p:nvSpPr>
          <p:cNvPr id="25" name="Text 22"/>
          <p:cNvSpPr txBox="1"/>
          <p:nvPr/>
        </p:nvSpPr>
        <p:spPr>
          <a:xfrm>
            <a:off x="4709160" y="2670048"/>
            <a:ext cx="1645920" cy="256032"/>
          </a:xfrm>
          <a:prstGeom prst="rect">
            <a:avLst/>
          </a:prstGeom>
          <a:noFill/>
          <a:ln/>
        </p:spPr>
        <p:txBody>
          <a:bodyPr wrap="square" lIns="0" tIns="0" rIns="0" bIns="0" rtlCol="0" anchor="ctr"/>
          <a:lstStyle/>
          <a:p>
            <a:pPr marL="0" indent="0" algn="ctr">
              <a:buNone/>
            </a:pPr>
            <a:r>
              <a:rPr lang="en-US" sz="950" dirty="0">
                <a:solidFill>
                  <a:srgbClr val="8B949E"/>
                </a:solidFill>
                <a:latin typeface="Calibri" pitchFamily="34" charset="0"/>
                <a:ea typeface="Calibri" pitchFamily="34" charset="-122"/>
                <a:cs typeface="Calibri" pitchFamily="34" charset="-120"/>
              </a:rPr>
              <a:t>Medium</a:t>
            </a:r>
            <a:endParaRPr lang="en-US" sz="950" dirty="0"/>
          </a:p>
        </p:txBody>
      </p:sp>
      <p:sp>
        <p:nvSpPr>
          <p:cNvPr id="26" name="Text 23"/>
          <p:cNvSpPr txBox="1"/>
          <p:nvPr/>
        </p:nvSpPr>
        <p:spPr>
          <a:xfrm>
            <a:off x="6492240" y="2651760"/>
            <a:ext cx="2286000" cy="274320"/>
          </a:xfrm>
          <a:prstGeom prst="rect">
            <a:avLst/>
          </a:prstGeom>
          <a:noFill/>
          <a:ln/>
        </p:spPr>
        <p:txBody>
          <a:bodyPr wrap="square" lIns="0" tIns="0" rIns="0" bIns="0" rtlCol="0" anchor="ctr"/>
          <a:lstStyle/>
          <a:p>
            <a:pPr marL="0" indent="0">
              <a:buNone/>
            </a:pPr>
            <a:r>
              <a:rPr lang="en-US" sz="1100" dirty="0">
                <a:solidFill>
                  <a:srgbClr val="8B949E"/>
                </a:solidFill>
                <a:latin typeface="Calibri" pitchFamily="34" charset="0"/>
                <a:ea typeface="Calibri" pitchFamily="34" charset="-122"/>
                <a:cs typeface="Calibri" pitchFamily="34" charset="-120"/>
              </a:rPr>
              <a:t>Structured analyst workflow &amp; case tracking</a:t>
            </a:r>
            <a:endParaRPr lang="en-US" sz="1100" dirty="0"/>
          </a:p>
        </p:txBody>
      </p:sp>
      <p:sp>
        <p:nvSpPr>
          <p:cNvPr id="27" name="Shape 24"/>
          <p:cNvSpPr/>
          <p:nvPr/>
        </p:nvSpPr>
        <p:spPr>
          <a:xfrm>
            <a:off x="960120" y="3136392"/>
            <a:ext cx="18288" cy="155448"/>
          </a:xfrm>
          <a:prstGeom prst="rect">
            <a:avLst/>
          </a:prstGeom>
          <a:solidFill>
            <a:srgbClr val="30363D"/>
          </a:solidFill>
          <a:ln/>
        </p:spPr>
        <p:txBody>
          <a:bodyPr/>
          <a:lstStyle/>
          <a:p>
            <a:endParaRPr lang="en-US"/>
          </a:p>
        </p:txBody>
      </p:sp>
      <p:sp>
        <p:nvSpPr>
          <p:cNvPr id="28" name="Shape 25"/>
          <p:cNvSpPr/>
          <p:nvPr/>
        </p:nvSpPr>
        <p:spPr>
          <a:xfrm>
            <a:off x="365760" y="3364992"/>
            <a:ext cx="1280160" cy="502920"/>
          </a:xfrm>
          <a:prstGeom prst="roundRect">
            <a:avLst>
              <a:gd name="adj" fmla="val 10909"/>
            </a:avLst>
          </a:prstGeom>
          <a:solidFill>
            <a:srgbClr val="BC8CFF"/>
          </a:solidFill>
          <a:ln/>
        </p:spPr>
        <p:txBody>
          <a:bodyPr/>
          <a:lstStyle/>
          <a:p>
            <a:endParaRPr lang="en-US"/>
          </a:p>
        </p:txBody>
      </p:sp>
      <p:sp>
        <p:nvSpPr>
          <p:cNvPr id="29" name="Text 26"/>
          <p:cNvSpPr txBox="1"/>
          <p:nvPr/>
        </p:nvSpPr>
        <p:spPr>
          <a:xfrm>
            <a:off x="365760" y="3364992"/>
            <a:ext cx="1280160" cy="502920"/>
          </a:xfrm>
          <a:prstGeom prst="rect">
            <a:avLst/>
          </a:prstGeom>
          <a:noFill/>
          <a:ln/>
        </p:spPr>
        <p:txBody>
          <a:bodyPr wrap="square" lIns="0" tIns="0" rIns="0" bIns="0" rtlCol="0" anchor="ctr"/>
          <a:lstStyle/>
          <a:p>
            <a:pPr marL="0" indent="0" algn="ctr">
              <a:buNone/>
            </a:pPr>
            <a:r>
              <a:rPr lang="en-US" sz="1100" b="1" dirty="0">
                <a:solidFill>
                  <a:srgbClr val="0D1117"/>
                </a:solidFill>
                <a:latin typeface="Calibri" pitchFamily="34" charset="0"/>
                <a:ea typeface="Calibri" pitchFamily="34" charset="-122"/>
                <a:cs typeface="Calibri" pitchFamily="34" charset="-120"/>
              </a:rPr>
              <a:t>Phase 4</a:t>
            </a:r>
            <a:endParaRPr lang="en-US" sz="1100" dirty="0"/>
          </a:p>
        </p:txBody>
      </p:sp>
      <p:sp>
        <p:nvSpPr>
          <p:cNvPr id="30" name="Text 27"/>
          <p:cNvSpPr txBox="1"/>
          <p:nvPr/>
        </p:nvSpPr>
        <p:spPr>
          <a:xfrm>
            <a:off x="1874520" y="3383280"/>
            <a:ext cx="2743200" cy="274320"/>
          </a:xfrm>
          <a:prstGeom prst="rect">
            <a:avLst/>
          </a:prstGeom>
          <a:noFill/>
          <a:ln/>
        </p:spPr>
        <p:txBody>
          <a:bodyPr wrap="square" lIns="0" tIns="0" rIns="0" bIns="0" rtlCol="0" anchor="ctr"/>
          <a:lstStyle/>
          <a:p>
            <a:pPr marL="0" indent="0">
              <a:buNone/>
            </a:pPr>
            <a:r>
              <a:rPr lang="en-US" sz="1400" b="1" dirty="0">
                <a:solidFill>
                  <a:srgbClr val="E6EDF3"/>
                </a:solidFill>
                <a:latin typeface="Calibri" pitchFamily="34" charset="0"/>
                <a:ea typeface="Calibri" pitchFamily="34" charset="-122"/>
                <a:cs typeface="Calibri" pitchFamily="34" charset="-120"/>
              </a:rPr>
              <a:t>Slack / Email Alerts</a:t>
            </a:r>
            <a:endParaRPr lang="en-US" sz="1400" dirty="0"/>
          </a:p>
        </p:txBody>
      </p:sp>
      <p:sp>
        <p:nvSpPr>
          <p:cNvPr id="31" name="Shape 28"/>
          <p:cNvSpPr/>
          <p:nvPr/>
        </p:nvSpPr>
        <p:spPr>
          <a:xfrm>
            <a:off x="4709160" y="3401568"/>
            <a:ext cx="1645920" cy="256032"/>
          </a:xfrm>
          <a:prstGeom prst="roundRect">
            <a:avLst>
              <a:gd name="adj" fmla="val 14286"/>
            </a:avLst>
          </a:prstGeom>
          <a:solidFill>
            <a:srgbClr val="1F2937"/>
          </a:solidFill>
          <a:ln w="9525">
            <a:solidFill>
              <a:srgbClr val="30363D"/>
            </a:solidFill>
            <a:prstDash val="solid"/>
          </a:ln>
        </p:spPr>
        <p:txBody>
          <a:bodyPr/>
          <a:lstStyle/>
          <a:p>
            <a:endParaRPr lang="en-US"/>
          </a:p>
        </p:txBody>
      </p:sp>
      <p:sp>
        <p:nvSpPr>
          <p:cNvPr id="32" name="Text 29"/>
          <p:cNvSpPr txBox="1"/>
          <p:nvPr/>
        </p:nvSpPr>
        <p:spPr>
          <a:xfrm>
            <a:off x="4709160" y="3401568"/>
            <a:ext cx="1645920" cy="256032"/>
          </a:xfrm>
          <a:prstGeom prst="rect">
            <a:avLst/>
          </a:prstGeom>
          <a:noFill/>
          <a:ln/>
        </p:spPr>
        <p:txBody>
          <a:bodyPr wrap="square" lIns="0" tIns="0" rIns="0" bIns="0" rtlCol="0" anchor="ctr"/>
          <a:lstStyle/>
          <a:p>
            <a:pPr marL="0" indent="0" algn="ctr">
              <a:buNone/>
            </a:pPr>
            <a:r>
              <a:rPr lang="en-US" sz="950" dirty="0">
                <a:solidFill>
                  <a:srgbClr val="8B949E"/>
                </a:solidFill>
                <a:latin typeface="Calibri" pitchFamily="34" charset="0"/>
                <a:ea typeface="Calibri" pitchFamily="34" charset="-122"/>
                <a:cs typeface="Calibri" pitchFamily="34" charset="-120"/>
              </a:rPr>
              <a:t>Low effort</a:t>
            </a:r>
            <a:endParaRPr lang="en-US" sz="950" dirty="0"/>
          </a:p>
        </p:txBody>
      </p:sp>
      <p:sp>
        <p:nvSpPr>
          <p:cNvPr id="33" name="Text 30"/>
          <p:cNvSpPr txBox="1"/>
          <p:nvPr/>
        </p:nvSpPr>
        <p:spPr>
          <a:xfrm>
            <a:off x="6492240" y="3383280"/>
            <a:ext cx="2286000" cy="274320"/>
          </a:xfrm>
          <a:prstGeom prst="rect">
            <a:avLst/>
          </a:prstGeom>
          <a:noFill/>
          <a:ln/>
        </p:spPr>
        <p:txBody>
          <a:bodyPr wrap="square" lIns="0" tIns="0" rIns="0" bIns="0" rtlCol="0" anchor="ctr"/>
          <a:lstStyle/>
          <a:p>
            <a:pPr marL="0" indent="0">
              <a:buNone/>
            </a:pPr>
            <a:r>
              <a:rPr lang="en-US" sz="1100" dirty="0">
                <a:solidFill>
                  <a:srgbClr val="8B949E"/>
                </a:solidFill>
                <a:latin typeface="Calibri" pitchFamily="34" charset="0"/>
                <a:ea typeface="Calibri" pitchFamily="34" charset="-122"/>
                <a:cs typeface="Calibri" pitchFamily="34" charset="-120"/>
              </a:rPr>
              <a:t>Real-time notification on high-severity findings</a:t>
            </a:r>
            <a:endParaRPr lang="en-US" sz="1100" dirty="0"/>
          </a:p>
        </p:txBody>
      </p:sp>
      <p:sp>
        <p:nvSpPr>
          <p:cNvPr id="34" name="Shape 31"/>
          <p:cNvSpPr/>
          <p:nvPr/>
        </p:nvSpPr>
        <p:spPr>
          <a:xfrm>
            <a:off x="960120" y="3867912"/>
            <a:ext cx="18288" cy="155448"/>
          </a:xfrm>
          <a:prstGeom prst="rect">
            <a:avLst/>
          </a:prstGeom>
          <a:solidFill>
            <a:srgbClr val="30363D"/>
          </a:solidFill>
          <a:ln/>
        </p:spPr>
        <p:txBody>
          <a:bodyPr/>
          <a:lstStyle/>
          <a:p>
            <a:endParaRPr lang="en-US"/>
          </a:p>
        </p:txBody>
      </p:sp>
      <p:sp>
        <p:nvSpPr>
          <p:cNvPr id="35" name="Shape 32"/>
          <p:cNvSpPr/>
          <p:nvPr/>
        </p:nvSpPr>
        <p:spPr>
          <a:xfrm>
            <a:off x="365760" y="4096512"/>
            <a:ext cx="1280160" cy="502920"/>
          </a:xfrm>
          <a:prstGeom prst="roundRect">
            <a:avLst>
              <a:gd name="adj" fmla="val 10909"/>
            </a:avLst>
          </a:prstGeom>
          <a:solidFill>
            <a:srgbClr val="F85149"/>
          </a:solidFill>
          <a:ln/>
        </p:spPr>
        <p:txBody>
          <a:bodyPr/>
          <a:lstStyle/>
          <a:p>
            <a:endParaRPr lang="en-US"/>
          </a:p>
        </p:txBody>
      </p:sp>
      <p:sp>
        <p:nvSpPr>
          <p:cNvPr id="36" name="Text 33"/>
          <p:cNvSpPr txBox="1"/>
          <p:nvPr/>
        </p:nvSpPr>
        <p:spPr>
          <a:xfrm>
            <a:off x="365760" y="4096512"/>
            <a:ext cx="1280160" cy="502920"/>
          </a:xfrm>
          <a:prstGeom prst="rect">
            <a:avLst/>
          </a:prstGeom>
          <a:noFill/>
          <a:ln/>
        </p:spPr>
        <p:txBody>
          <a:bodyPr wrap="square" lIns="0" tIns="0" rIns="0" bIns="0" rtlCol="0" anchor="ctr"/>
          <a:lstStyle/>
          <a:p>
            <a:pPr marL="0" indent="0" algn="ctr">
              <a:buNone/>
            </a:pPr>
            <a:r>
              <a:rPr lang="en-US" sz="1100" b="1" dirty="0">
                <a:solidFill>
                  <a:srgbClr val="0D1117"/>
                </a:solidFill>
                <a:latin typeface="Calibri" pitchFamily="34" charset="0"/>
                <a:ea typeface="Calibri" pitchFamily="34" charset="-122"/>
                <a:cs typeface="Calibri" pitchFamily="34" charset="-120"/>
              </a:rPr>
              <a:t>Phase 5</a:t>
            </a:r>
            <a:endParaRPr lang="en-US" sz="1100" dirty="0"/>
          </a:p>
        </p:txBody>
      </p:sp>
      <p:sp>
        <p:nvSpPr>
          <p:cNvPr id="37" name="Text 34"/>
          <p:cNvSpPr txBox="1"/>
          <p:nvPr/>
        </p:nvSpPr>
        <p:spPr>
          <a:xfrm>
            <a:off x="1874520" y="4114800"/>
            <a:ext cx="2743200" cy="274320"/>
          </a:xfrm>
          <a:prstGeom prst="rect">
            <a:avLst/>
          </a:prstGeom>
          <a:noFill/>
          <a:ln/>
        </p:spPr>
        <p:txBody>
          <a:bodyPr wrap="square" lIns="0" tIns="0" rIns="0" bIns="0" rtlCol="0" anchor="ctr"/>
          <a:lstStyle/>
          <a:p>
            <a:pPr marL="0" indent="0">
              <a:buNone/>
            </a:pPr>
            <a:r>
              <a:rPr lang="en-US" sz="1400" b="1" dirty="0">
                <a:solidFill>
                  <a:srgbClr val="E6EDF3"/>
                </a:solidFill>
                <a:latin typeface="Calibri" pitchFamily="34" charset="0"/>
                <a:ea typeface="Calibri" pitchFamily="34" charset="-122"/>
                <a:cs typeface="Calibri" pitchFamily="34" charset="-120"/>
              </a:rPr>
              <a:t>Elasticsearch + Kibana</a:t>
            </a:r>
            <a:endParaRPr lang="en-US" sz="1400" dirty="0"/>
          </a:p>
        </p:txBody>
      </p:sp>
      <p:sp>
        <p:nvSpPr>
          <p:cNvPr id="38" name="Shape 35"/>
          <p:cNvSpPr/>
          <p:nvPr/>
        </p:nvSpPr>
        <p:spPr>
          <a:xfrm>
            <a:off x="4709160" y="4133088"/>
            <a:ext cx="1645920" cy="256032"/>
          </a:xfrm>
          <a:prstGeom prst="roundRect">
            <a:avLst>
              <a:gd name="adj" fmla="val 14286"/>
            </a:avLst>
          </a:prstGeom>
          <a:solidFill>
            <a:srgbClr val="1F2937"/>
          </a:solidFill>
          <a:ln w="9525">
            <a:solidFill>
              <a:srgbClr val="30363D"/>
            </a:solidFill>
            <a:prstDash val="solid"/>
          </a:ln>
        </p:spPr>
        <p:txBody>
          <a:bodyPr/>
          <a:lstStyle/>
          <a:p>
            <a:endParaRPr lang="en-US"/>
          </a:p>
        </p:txBody>
      </p:sp>
      <p:sp>
        <p:nvSpPr>
          <p:cNvPr id="39" name="Text 36"/>
          <p:cNvSpPr txBox="1"/>
          <p:nvPr/>
        </p:nvSpPr>
        <p:spPr>
          <a:xfrm>
            <a:off x="4709160" y="4133088"/>
            <a:ext cx="1645920" cy="256032"/>
          </a:xfrm>
          <a:prstGeom prst="rect">
            <a:avLst/>
          </a:prstGeom>
          <a:noFill/>
          <a:ln/>
        </p:spPr>
        <p:txBody>
          <a:bodyPr wrap="square" lIns="0" tIns="0" rIns="0" bIns="0" rtlCol="0" anchor="ctr"/>
          <a:lstStyle/>
          <a:p>
            <a:pPr marL="0" indent="0" algn="ctr">
              <a:buNone/>
            </a:pPr>
            <a:r>
              <a:rPr lang="en-US" sz="950" dirty="0">
                <a:solidFill>
                  <a:srgbClr val="8B949E"/>
                </a:solidFill>
                <a:latin typeface="Calibri" pitchFamily="34" charset="0"/>
                <a:ea typeface="Calibri" pitchFamily="34" charset="-122"/>
                <a:cs typeface="Calibri" pitchFamily="34" charset="-120"/>
              </a:rPr>
              <a:t>High — needs infra</a:t>
            </a:r>
            <a:endParaRPr lang="en-US" sz="950" dirty="0"/>
          </a:p>
        </p:txBody>
      </p:sp>
      <p:sp>
        <p:nvSpPr>
          <p:cNvPr id="40" name="Text 37"/>
          <p:cNvSpPr txBox="1"/>
          <p:nvPr/>
        </p:nvSpPr>
        <p:spPr>
          <a:xfrm>
            <a:off x="6492240" y="4114800"/>
            <a:ext cx="2286000" cy="274320"/>
          </a:xfrm>
          <a:prstGeom prst="rect">
            <a:avLst/>
          </a:prstGeom>
          <a:noFill/>
          <a:ln/>
        </p:spPr>
        <p:txBody>
          <a:bodyPr wrap="square" lIns="0" tIns="0" rIns="0" bIns="0" rtlCol="0" anchor="ctr"/>
          <a:lstStyle/>
          <a:p>
            <a:pPr marL="0" indent="0">
              <a:buNone/>
            </a:pPr>
            <a:r>
              <a:rPr lang="en-US" sz="1100" dirty="0">
                <a:solidFill>
                  <a:srgbClr val="8B949E"/>
                </a:solidFill>
                <a:latin typeface="Calibri" pitchFamily="34" charset="0"/>
                <a:ea typeface="Calibri" pitchFamily="34" charset="-122"/>
                <a:cs typeface="Calibri" pitchFamily="34" charset="-120"/>
              </a:rPr>
              <a:t>Full SIEM: search across all PCAPs, trend dashboards</a:t>
            </a:r>
            <a:endParaRPr lang="en-US" sz="1100" dirty="0"/>
          </a:p>
        </p:txBody>
      </p:sp>
      <p:sp>
        <p:nvSpPr>
          <p:cNvPr id="41" name="Shape 38"/>
          <p:cNvSpPr/>
          <p:nvPr/>
        </p:nvSpPr>
        <p:spPr>
          <a:xfrm>
            <a:off x="0" y="5106924"/>
            <a:ext cx="9144000" cy="36576"/>
          </a:xfrm>
          <a:prstGeom prst="rect">
            <a:avLst/>
          </a:prstGeom>
          <a:solidFill>
            <a:srgbClr val="BC8CFF"/>
          </a:solidFill>
          <a:ln/>
        </p:spPr>
        <p:txBody>
          <a:bodyPr/>
          <a:lstStyle/>
          <a:p>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Shape 0"/>
          <p:cNvSpPr/>
          <p:nvPr/>
        </p:nvSpPr>
        <p:spPr>
          <a:xfrm>
            <a:off x="0" y="0"/>
            <a:ext cx="9144000" cy="5143500"/>
          </a:xfrm>
          <a:prstGeom prst="rect">
            <a:avLst/>
          </a:prstGeom>
          <a:solidFill>
            <a:srgbClr val="0D1117"/>
          </a:solidFill>
          <a:ln/>
        </p:spPr>
        <p:txBody>
          <a:bodyPr/>
          <a:lstStyle/>
          <a:p>
            <a:endParaRPr lang="en-US"/>
          </a:p>
        </p:txBody>
      </p:sp>
      <p:sp>
        <p:nvSpPr>
          <p:cNvPr id="4" name="Shape 1"/>
          <p:cNvSpPr/>
          <p:nvPr/>
        </p:nvSpPr>
        <p:spPr>
          <a:xfrm>
            <a:off x="0" y="0"/>
            <a:ext cx="9144000" cy="36576"/>
          </a:xfrm>
          <a:prstGeom prst="rect">
            <a:avLst/>
          </a:prstGeom>
          <a:solidFill>
            <a:srgbClr val="58A6FF"/>
          </a:solidFill>
          <a:ln/>
        </p:spPr>
        <p:txBody>
          <a:bodyPr/>
          <a:lstStyle/>
          <a:p>
            <a:endParaRPr lang="en-US"/>
          </a:p>
        </p:txBody>
      </p:sp>
      <p:sp>
        <p:nvSpPr>
          <p:cNvPr id="5" name="Text 2"/>
          <p:cNvSpPr txBox="1"/>
          <p:nvPr/>
        </p:nvSpPr>
        <p:spPr>
          <a:xfrm>
            <a:off x="548640" y="731520"/>
            <a:ext cx="8046720" cy="256032"/>
          </a:xfrm>
          <a:prstGeom prst="rect">
            <a:avLst/>
          </a:prstGeom>
          <a:noFill/>
          <a:ln/>
        </p:spPr>
        <p:txBody>
          <a:bodyPr wrap="square" lIns="0" tIns="0" rIns="0" bIns="0" rtlCol="0" anchor="ctr"/>
          <a:lstStyle/>
          <a:p>
            <a:pPr marL="0" indent="0">
              <a:buNone/>
            </a:pPr>
            <a:r>
              <a:rPr lang="en-US" sz="1000" b="1" kern="0" spc="300" dirty="0">
                <a:solidFill>
                  <a:srgbClr val="58A6FF"/>
                </a:solidFill>
                <a:latin typeface="Calibri" pitchFamily="34" charset="0"/>
                <a:ea typeface="Calibri" pitchFamily="34" charset="-122"/>
                <a:cs typeface="Calibri" pitchFamily="34" charset="-120"/>
              </a:rPr>
              <a:t>SUMMARY</a:t>
            </a:r>
            <a:endParaRPr lang="en-US" sz="1000" dirty="0"/>
          </a:p>
        </p:txBody>
      </p:sp>
      <p:sp>
        <p:nvSpPr>
          <p:cNvPr id="6" name="Text 3"/>
          <p:cNvSpPr txBox="1"/>
          <p:nvPr/>
        </p:nvSpPr>
        <p:spPr>
          <a:xfrm>
            <a:off x="548640" y="1051560"/>
            <a:ext cx="8046720" cy="548640"/>
          </a:xfrm>
          <a:prstGeom prst="rect">
            <a:avLst/>
          </a:prstGeom>
          <a:noFill/>
          <a:ln/>
        </p:spPr>
        <p:txBody>
          <a:bodyPr wrap="square" lIns="0" tIns="0" rIns="0" bIns="0" rtlCol="0" anchor="ctr"/>
          <a:lstStyle/>
          <a:p>
            <a:pPr marL="0" indent="0">
              <a:buNone/>
            </a:pPr>
            <a:r>
              <a:rPr lang="en-US" sz="3400" b="1" dirty="0">
                <a:solidFill>
                  <a:srgbClr val="E6EDF3"/>
                </a:solidFill>
                <a:latin typeface="Calibri" pitchFamily="34" charset="0"/>
                <a:ea typeface="Calibri" pitchFamily="34" charset="-122"/>
                <a:cs typeface="Calibri" pitchFamily="34" charset="-120"/>
              </a:rPr>
              <a:t>Pipeline at a Glance</a:t>
            </a:r>
            <a:endParaRPr lang="en-US" sz="3400" dirty="0"/>
          </a:p>
        </p:txBody>
      </p:sp>
      <p:sp>
        <p:nvSpPr>
          <p:cNvPr id="7" name="Text 4"/>
          <p:cNvSpPr txBox="1"/>
          <p:nvPr/>
        </p:nvSpPr>
        <p:spPr>
          <a:xfrm>
            <a:off x="457200" y="1737360"/>
            <a:ext cx="320040" cy="329184"/>
          </a:xfrm>
          <a:prstGeom prst="rect">
            <a:avLst/>
          </a:prstGeom>
          <a:noFill/>
          <a:ln/>
        </p:spPr>
        <p:txBody>
          <a:bodyPr wrap="square" lIns="0" tIns="0" rIns="0" bIns="0" rtlCol="0" anchor="ctr"/>
          <a:lstStyle/>
          <a:p>
            <a:pPr marL="0" indent="0">
              <a:buNone/>
            </a:pPr>
            <a:r>
              <a:rPr lang="en-US" sz="1600" b="1" dirty="0">
                <a:solidFill>
                  <a:srgbClr val="58A6FF"/>
                </a:solidFill>
                <a:latin typeface="Calibri" pitchFamily="34" charset="0"/>
                <a:ea typeface="Calibri" pitchFamily="34" charset="-122"/>
                <a:cs typeface="Calibri" pitchFamily="34" charset="-120"/>
              </a:rPr>
              <a:t>→</a:t>
            </a:r>
            <a:endParaRPr lang="en-US" sz="1600" dirty="0"/>
          </a:p>
        </p:txBody>
      </p:sp>
      <p:sp>
        <p:nvSpPr>
          <p:cNvPr id="8" name="Text 5"/>
          <p:cNvSpPr txBox="1"/>
          <p:nvPr/>
        </p:nvSpPr>
        <p:spPr>
          <a:xfrm>
            <a:off x="841248" y="1755648"/>
            <a:ext cx="7863840" cy="329184"/>
          </a:xfrm>
          <a:prstGeom prst="rect">
            <a:avLst/>
          </a:prstGeom>
          <a:noFill/>
          <a:ln/>
        </p:spPr>
        <p:txBody>
          <a:bodyPr wrap="square" lIns="0" tIns="0" rIns="0" bIns="0" rtlCol="0" anchor="ctr"/>
          <a:lstStyle/>
          <a:p>
            <a:pPr marL="0" indent="0">
              <a:buNone/>
            </a:pPr>
            <a:r>
              <a:rPr lang="en-US" sz="1300" dirty="0">
                <a:solidFill>
                  <a:srgbClr val="E6EDF3"/>
                </a:solidFill>
                <a:latin typeface="Calibri" pitchFamily="34" charset="0"/>
                <a:ea typeface="Calibri" pitchFamily="34" charset="-122"/>
                <a:cs typeface="Calibri" pitchFamily="34" charset="-120"/>
              </a:rPr>
              <a:t>9 Ansible roles run sequentially — each validates inputs and outputs before passing to the next</a:t>
            </a:r>
            <a:endParaRPr lang="en-US" sz="1300" dirty="0"/>
          </a:p>
        </p:txBody>
      </p:sp>
      <p:sp>
        <p:nvSpPr>
          <p:cNvPr id="9" name="Text 6"/>
          <p:cNvSpPr txBox="1"/>
          <p:nvPr/>
        </p:nvSpPr>
        <p:spPr>
          <a:xfrm>
            <a:off x="457200" y="2304288"/>
            <a:ext cx="320040" cy="329184"/>
          </a:xfrm>
          <a:prstGeom prst="rect">
            <a:avLst/>
          </a:prstGeom>
          <a:noFill/>
          <a:ln/>
        </p:spPr>
        <p:txBody>
          <a:bodyPr wrap="square" lIns="0" tIns="0" rIns="0" bIns="0" rtlCol="0" anchor="ctr"/>
          <a:lstStyle/>
          <a:p>
            <a:pPr marL="0" indent="0">
              <a:buNone/>
            </a:pPr>
            <a:r>
              <a:rPr lang="en-US" sz="1600" b="1" dirty="0">
                <a:solidFill>
                  <a:srgbClr val="3FB950"/>
                </a:solidFill>
                <a:latin typeface="Calibri" pitchFamily="34" charset="0"/>
                <a:ea typeface="Calibri" pitchFamily="34" charset="-122"/>
                <a:cs typeface="Calibri" pitchFamily="34" charset="-120"/>
              </a:rPr>
              <a:t>→</a:t>
            </a:r>
            <a:endParaRPr lang="en-US" sz="1600" dirty="0"/>
          </a:p>
        </p:txBody>
      </p:sp>
      <p:sp>
        <p:nvSpPr>
          <p:cNvPr id="10" name="Text 7"/>
          <p:cNvSpPr txBox="1"/>
          <p:nvPr/>
        </p:nvSpPr>
        <p:spPr>
          <a:xfrm>
            <a:off x="841248" y="2322576"/>
            <a:ext cx="7863840" cy="329184"/>
          </a:xfrm>
          <a:prstGeom prst="rect">
            <a:avLst/>
          </a:prstGeom>
          <a:noFill/>
          <a:ln/>
        </p:spPr>
        <p:txBody>
          <a:bodyPr wrap="square" lIns="0" tIns="0" rIns="0" bIns="0" rtlCol="0" anchor="ctr"/>
          <a:lstStyle/>
          <a:p>
            <a:pPr marL="0" indent="0">
              <a:buNone/>
            </a:pPr>
            <a:r>
              <a:rPr lang="en-US" sz="1300" dirty="0">
                <a:solidFill>
                  <a:srgbClr val="E6EDF3"/>
                </a:solidFill>
                <a:latin typeface="Calibri" pitchFamily="34" charset="0"/>
                <a:ea typeface="Calibri" pitchFamily="34" charset="-122"/>
                <a:cs typeface="Calibri" pitchFamily="34" charset="-120"/>
              </a:rPr>
              <a:t>Suricata generates alerts + Zeek captures full protocol context → correlated via Community ID</a:t>
            </a:r>
            <a:endParaRPr lang="en-US" sz="1300" dirty="0"/>
          </a:p>
        </p:txBody>
      </p:sp>
      <p:sp>
        <p:nvSpPr>
          <p:cNvPr id="11" name="Text 8"/>
          <p:cNvSpPr txBox="1"/>
          <p:nvPr/>
        </p:nvSpPr>
        <p:spPr>
          <a:xfrm>
            <a:off x="457200" y="2871216"/>
            <a:ext cx="320040" cy="329184"/>
          </a:xfrm>
          <a:prstGeom prst="rect">
            <a:avLst/>
          </a:prstGeom>
          <a:noFill/>
          <a:ln/>
        </p:spPr>
        <p:txBody>
          <a:bodyPr wrap="square" lIns="0" tIns="0" rIns="0" bIns="0" rtlCol="0" anchor="ctr"/>
          <a:lstStyle/>
          <a:p>
            <a:pPr marL="0" indent="0">
              <a:buNone/>
            </a:pPr>
            <a:r>
              <a:rPr lang="en-US" sz="1600" b="1" dirty="0">
                <a:solidFill>
                  <a:srgbClr val="D29922"/>
                </a:solidFill>
                <a:latin typeface="Calibri" pitchFamily="34" charset="0"/>
                <a:ea typeface="Calibri" pitchFamily="34" charset="-122"/>
                <a:cs typeface="Calibri" pitchFamily="34" charset="-120"/>
              </a:rPr>
              <a:t>→</a:t>
            </a:r>
            <a:endParaRPr lang="en-US" sz="1600" dirty="0"/>
          </a:p>
        </p:txBody>
      </p:sp>
      <p:sp>
        <p:nvSpPr>
          <p:cNvPr id="12" name="Text 9"/>
          <p:cNvSpPr txBox="1"/>
          <p:nvPr/>
        </p:nvSpPr>
        <p:spPr>
          <a:xfrm>
            <a:off x="841248" y="2889504"/>
            <a:ext cx="7863840" cy="329184"/>
          </a:xfrm>
          <a:prstGeom prst="rect">
            <a:avLst/>
          </a:prstGeom>
          <a:noFill/>
          <a:ln/>
        </p:spPr>
        <p:txBody>
          <a:bodyPr wrap="square" lIns="0" tIns="0" rIns="0" bIns="0" rtlCol="0" anchor="ctr"/>
          <a:lstStyle/>
          <a:p>
            <a:pPr marL="0" indent="0">
              <a:buNone/>
            </a:pPr>
            <a:r>
              <a:rPr lang="en-US" sz="1300" dirty="0">
                <a:solidFill>
                  <a:srgbClr val="E6EDF3"/>
                </a:solidFill>
                <a:latin typeface="Calibri" pitchFamily="34" charset="0"/>
                <a:ea typeface="Calibri" pitchFamily="34" charset="-122"/>
                <a:cs typeface="Calibri" pitchFamily="34" charset="-120"/>
              </a:rPr>
              <a:t>Every alert is GeoIP/ASN-enriched and merged with Zeek DNS, HTTP, SSL, and file events</a:t>
            </a:r>
            <a:endParaRPr lang="en-US" sz="1300" dirty="0"/>
          </a:p>
        </p:txBody>
      </p:sp>
      <p:sp>
        <p:nvSpPr>
          <p:cNvPr id="13" name="Text 10"/>
          <p:cNvSpPr txBox="1"/>
          <p:nvPr/>
        </p:nvSpPr>
        <p:spPr>
          <a:xfrm>
            <a:off x="457200" y="3438144"/>
            <a:ext cx="320040" cy="329184"/>
          </a:xfrm>
          <a:prstGeom prst="rect">
            <a:avLst/>
          </a:prstGeom>
          <a:noFill/>
          <a:ln/>
        </p:spPr>
        <p:txBody>
          <a:bodyPr wrap="square" lIns="0" tIns="0" rIns="0" bIns="0" rtlCol="0" anchor="ctr"/>
          <a:lstStyle/>
          <a:p>
            <a:pPr marL="0" indent="0">
              <a:buNone/>
            </a:pPr>
            <a:r>
              <a:rPr lang="en-US" sz="1600" b="1" dirty="0">
                <a:solidFill>
                  <a:srgbClr val="3FB950"/>
                </a:solidFill>
                <a:latin typeface="Calibri" pitchFamily="34" charset="0"/>
                <a:ea typeface="Calibri" pitchFamily="34" charset="-122"/>
                <a:cs typeface="Calibri" pitchFamily="34" charset="-120"/>
              </a:rPr>
              <a:t>→</a:t>
            </a:r>
            <a:endParaRPr lang="en-US" sz="1600" dirty="0"/>
          </a:p>
        </p:txBody>
      </p:sp>
      <p:sp>
        <p:nvSpPr>
          <p:cNvPr id="14" name="Text 11"/>
          <p:cNvSpPr txBox="1"/>
          <p:nvPr/>
        </p:nvSpPr>
        <p:spPr>
          <a:xfrm>
            <a:off x="841248" y="3456432"/>
            <a:ext cx="7863840" cy="329184"/>
          </a:xfrm>
          <a:prstGeom prst="rect">
            <a:avLst/>
          </a:prstGeom>
          <a:noFill/>
          <a:ln/>
        </p:spPr>
        <p:txBody>
          <a:bodyPr wrap="square" lIns="0" tIns="0" rIns="0" bIns="0" rtlCol="0" anchor="ctr"/>
          <a:lstStyle/>
          <a:p>
            <a:pPr marL="0" indent="0">
              <a:buNone/>
            </a:pPr>
            <a:r>
              <a:rPr lang="en-US" sz="1300" dirty="0">
                <a:solidFill>
                  <a:srgbClr val="E6EDF3"/>
                </a:solidFill>
                <a:latin typeface="Calibri" pitchFamily="34" charset="0"/>
                <a:ea typeface="Calibri" pitchFamily="34" charset="-122"/>
                <a:cs typeface="Calibri" pitchFamily="34" charset="-120"/>
              </a:rPr>
              <a:t>Output is analyst-ready Markdown: per-alert report + statistics + final combined document</a:t>
            </a:r>
            <a:endParaRPr lang="en-US" sz="1300" dirty="0"/>
          </a:p>
        </p:txBody>
      </p:sp>
      <p:sp>
        <p:nvSpPr>
          <p:cNvPr id="15" name="Text 12"/>
          <p:cNvSpPr txBox="1"/>
          <p:nvPr/>
        </p:nvSpPr>
        <p:spPr>
          <a:xfrm>
            <a:off x="457200" y="4005072"/>
            <a:ext cx="320040" cy="329184"/>
          </a:xfrm>
          <a:prstGeom prst="rect">
            <a:avLst/>
          </a:prstGeom>
          <a:noFill/>
          <a:ln/>
        </p:spPr>
        <p:txBody>
          <a:bodyPr wrap="square" lIns="0" tIns="0" rIns="0" bIns="0" rtlCol="0" anchor="ctr"/>
          <a:lstStyle/>
          <a:p>
            <a:pPr marL="0" indent="0">
              <a:buNone/>
            </a:pPr>
            <a:r>
              <a:rPr lang="en-US" sz="1600" b="1" dirty="0">
                <a:solidFill>
                  <a:srgbClr val="BC8CFF"/>
                </a:solidFill>
                <a:latin typeface="Calibri" pitchFamily="34" charset="0"/>
                <a:ea typeface="Calibri" pitchFamily="34" charset="-122"/>
                <a:cs typeface="Calibri" pitchFamily="34" charset="-120"/>
              </a:rPr>
              <a:t>→</a:t>
            </a:r>
            <a:endParaRPr lang="en-US" sz="1600" dirty="0"/>
          </a:p>
        </p:txBody>
      </p:sp>
      <p:sp>
        <p:nvSpPr>
          <p:cNvPr id="16" name="Text 13"/>
          <p:cNvSpPr txBox="1"/>
          <p:nvPr/>
        </p:nvSpPr>
        <p:spPr>
          <a:xfrm>
            <a:off x="841248" y="4023360"/>
            <a:ext cx="7863840" cy="329184"/>
          </a:xfrm>
          <a:prstGeom prst="rect">
            <a:avLst/>
          </a:prstGeom>
          <a:noFill/>
          <a:ln/>
        </p:spPr>
        <p:txBody>
          <a:bodyPr wrap="square" lIns="0" tIns="0" rIns="0" bIns="0" rtlCol="0" anchor="ctr"/>
          <a:lstStyle/>
          <a:p>
            <a:pPr marL="0" indent="0">
              <a:buNone/>
            </a:pPr>
            <a:r>
              <a:rPr lang="en-US" sz="1300" dirty="0">
                <a:solidFill>
                  <a:srgbClr val="E6EDF3"/>
                </a:solidFill>
                <a:latin typeface="Calibri" pitchFamily="34" charset="0"/>
                <a:ea typeface="Calibri" pitchFamily="34" charset="-122"/>
                <a:cs typeface="Calibri" pitchFamily="34" charset="-120"/>
              </a:rPr>
              <a:t>Next: add VirusTotal, MISP, TheHive, or Elasticsearch to extend threat context and workflow</a:t>
            </a:r>
            <a:endParaRPr lang="en-US" sz="1300" dirty="0"/>
          </a:p>
        </p:txBody>
      </p:sp>
      <p:sp>
        <p:nvSpPr>
          <p:cNvPr id="17" name="Text 14"/>
          <p:cNvSpPr txBox="1"/>
          <p:nvPr/>
        </p:nvSpPr>
        <p:spPr>
          <a:xfrm>
            <a:off x="548640" y="4754880"/>
            <a:ext cx="8046720" cy="256032"/>
          </a:xfrm>
          <a:prstGeom prst="rect">
            <a:avLst/>
          </a:prstGeom>
          <a:noFill/>
          <a:ln/>
        </p:spPr>
        <p:txBody>
          <a:bodyPr wrap="square" lIns="0" tIns="0" rIns="0" bIns="0" rtlCol="0" anchor="ctr"/>
          <a:lstStyle/>
          <a:p>
            <a:pPr marL="0" indent="0">
              <a:buNone/>
            </a:pPr>
            <a:r>
              <a:rPr lang="en-US" sz="1100" dirty="0">
                <a:solidFill>
                  <a:srgbClr val="8B949E"/>
                </a:solidFill>
                <a:latin typeface="Calibri" pitchFamily="34" charset="0"/>
                <a:ea typeface="Calibri" pitchFamily="34" charset="-122"/>
                <a:cs typeface="Calibri" pitchFamily="34" charset="-120"/>
              </a:rPr>
              <a:t>jovitakhu.net  ·  github.com/JujuJuhu</a:t>
            </a:r>
            <a:endParaRPr lang="en-US" sz="1100" dirty="0"/>
          </a:p>
        </p:txBody>
      </p:sp>
      <p:sp>
        <p:nvSpPr>
          <p:cNvPr id="18" name="Shape 15"/>
          <p:cNvSpPr/>
          <p:nvPr/>
        </p:nvSpPr>
        <p:spPr>
          <a:xfrm>
            <a:off x="0" y="5106924"/>
            <a:ext cx="9144000" cy="36576"/>
          </a:xfrm>
          <a:prstGeom prst="rect">
            <a:avLst/>
          </a:prstGeom>
          <a:solidFill>
            <a:srgbClr val="58A6FF"/>
          </a:solidFill>
          <a:ln/>
        </p:spPr>
        <p:txBody>
          <a:bodyPr/>
          <a:lstStyle/>
          <a:p>
            <a:endParaRPr lang="en-US"/>
          </a:p>
        </p:txBody>
      </p:sp>
    </p:spTree>
  </p:cSld>
  <p:clrMapOvr>
    <a:masterClrMapping/>
  </p:clrMapOvr>
</p:sld>
</file>

<file path=ppt/theme/theme1.xml><?xml version="1.0" encoding="utf-8"?>
<a:theme xmlns:a="http://schemas.openxmlformats.org/drawingml/2006/main" name="PCAP Hunt">
  <a:themeElements>
    <a:clrScheme name="PCAP Hunt">
      <a:dk1>
        <a:srgbClr val="0D1117"/>
      </a:dk1>
      <a:lt1>
        <a:srgbClr val="F0F4F8"/>
      </a:lt1>
      <a:dk2>
        <a:srgbClr val="161B22"/>
      </a:dk2>
      <a:lt2>
        <a:srgbClr val="E8EDF2"/>
      </a:lt2>
      <a:accent1>
        <a:srgbClr val="58A6FF"/>
      </a:accent1>
      <a:accent2>
        <a:srgbClr val="3FB950"/>
      </a:accent2>
      <a:accent3>
        <a:srgbClr val="D29922"/>
      </a:accent3>
      <a:accent4>
        <a:srgbClr val="F85149"/>
      </a:accent4>
      <a:accent5>
        <a:srgbClr val="BC8CFF"/>
      </a:accent5>
      <a:accent6>
        <a:srgbClr val="39D3DD"/>
      </a:accent6>
      <a:hlink>
        <a:srgbClr val="58A6FF"/>
      </a:hlink>
      <a:folHlink>
        <a:srgbClr val="8B949E"/>
      </a:folHlink>
    </a:clrScheme>
    <a:fontScheme name="PCAP Hunt">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38</TotalTime>
  <Words>2842</Words>
  <Application>Microsoft Office PowerPoint</Application>
  <PresentationFormat>On-screen Show (16:9)</PresentationFormat>
  <Paragraphs>399</Paragraphs>
  <Slides>20</Slides>
  <Notes>20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Courier New</vt:lpstr>
      <vt:lpstr>PCAP Hunt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Jovita Kusuma</cp:lastModifiedBy>
  <cp:revision>3</cp:revision>
  <dcterms:created xsi:type="dcterms:W3CDTF">2026-10-28T05:04:11Z</dcterms:created>
  <dcterms:modified xsi:type="dcterms:W3CDTF">2026-10-28T05:47:18Z</dcterms:modified>
</cp:coreProperties>
</file>